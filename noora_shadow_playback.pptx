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301" r:id="rId5"/>
    <p:sldId id="303" r:id="rId6"/>
    <p:sldId id="263" r:id="rId7"/>
    <p:sldId id="264" r:id="rId8"/>
    <p:sldId id="262" r:id="rId9"/>
    <p:sldId id="261" r:id="rId10"/>
    <p:sldId id="260" r:id="rId11"/>
    <p:sldId id="266" r:id="rId12"/>
    <p:sldId id="272" r:id="rId13"/>
    <p:sldId id="265" r:id="rId14"/>
    <p:sldId id="269" r:id="rId15"/>
    <p:sldId id="271" r:id="rId16"/>
    <p:sldId id="267" r:id="rId17"/>
    <p:sldId id="268" r:id="rId18"/>
    <p:sldId id="270" r:id="rId19"/>
    <p:sldId id="285" r:id="rId20"/>
    <p:sldId id="284" r:id="rId21"/>
    <p:sldId id="276" r:id="rId22"/>
    <p:sldId id="278" r:id="rId23"/>
    <p:sldId id="2147483647" r:id="rId24"/>
    <p:sldId id="256" r:id="rId25"/>
    <p:sldId id="257" r:id="rId26"/>
    <p:sldId id="258" r:id="rId27"/>
    <p:sldId id="279" r:id="rId28"/>
    <p:sldId id="259" r:id="rId29"/>
    <p:sldId id="283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3"/>
    <a:srgbClr val="E7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3B20F5-8C6D-7811-6E70-503E7FE10AC6}" v="1798" dt="2026-08-14T05:52:50.323"/>
    <p1510:client id="{5C3D618B-1A6F-4E5C-8093-0C35285B30D8}" v="27" dt="2026-08-13T07:40:11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02" autoAdjust="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437A2-05AB-409F-927E-57F1CCF050A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C45C3-5565-4FE5-A3C3-ACD5D59637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7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 Critical System Components</a:t>
            </a:r>
          </a:p>
          <a:p>
            <a:endParaRPr lang="en-US" dirty="0"/>
          </a:p>
          <a:p>
            <a:r>
              <a:rPr lang="en-US" dirty="0"/>
              <a:t> #### 1. Device Manager</a:t>
            </a:r>
          </a:p>
          <a:p>
            <a:endParaRPr lang="en-US" dirty="0"/>
          </a:p>
          <a:p>
            <a:r>
              <a:rPr lang="en-US" dirty="0"/>
              <a:t> - Configures and monitors network devices (routers, switches, load balancers, firewalls).</a:t>
            </a:r>
          </a:p>
          <a:p>
            <a:r>
              <a:rPr lang="en-US" dirty="0"/>
              <a:t> - Checks for new devices and link relationships.</a:t>
            </a:r>
          </a:p>
          <a:p>
            <a:r>
              <a:rPr lang="en-US" dirty="0"/>
              <a:t> - Manages device status, including deleted or added devices.</a:t>
            </a:r>
          </a:p>
          <a:p>
            <a:endParaRPr lang="en-US" dirty="0"/>
          </a:p>
          <a:p>
            <a:r>
              <a:rPr lang="en-US" dirty="0"/>
              <a:t> #### 2. Object Manager</a:t>
            </a:r>
          </a:p>
          <a:p>
            <a:endParaRPr lang="en-US" dirty="0"/>
          </a:p>
          <a:p>
            <a:r>
              <a:rPr lang="en-US" dirty="0"/>
              <a:t> - Manages network objects, such as interfaces and links.</a:t>
            </a:r>
          </a:p>
          <a:p>
            <a:r>
              <a:rPr lang="en-US" dirty="0"/>
              <a:t> - Searches for specific devices and links to verify configurations.</a:t>
            </a:r>
          </a:p>
          <a:p>
            <a:r>
              <a:rPr lang="en-US" dirty="0"/>
              <a:t> - Identifies and resolves link issues, including deleted or duplicate links.</a:t>
            </a:r>
          </a:p>
          <a:p>
            <a:r>
              <a:rPr lang="en-US" dirty="0"/>
              <a:t> - Uses Calculation Editor to verify link expressions and preserve link history.</a:t>
            </a:r>
          </a:p>
          <a:p>
            <a:endParaRPr lang="en-US" dirty="0"/>
          </a:p>
          <a:p>
            <a:r>
              <a:rPr lang="en-US" dirty="0"/>
              <a:t> #### 3. Cluster Management</a:t>
            </a:r>
          </a:p>
          <a:p>
            <a:endParaRPr lang="en-US" dirty="0"/>
          </a:p>
          <a:p>
            <a:r>
              <a:rPr lang="en-US" dirty="0"/>
              <a:t> - Ensures high availability and redundancy of Noora components.</a:t>
            </a:r>
          </a:p>
          <a:p>
            <a:r>
              <a:rPr lang="en-US" dirty="0"/>
              <a:t> - Monitors cluster status and resource usage (CPU, memory, disk).</a:t>
            </a:r>
          </a:p>
          <a:p>
            <a:r>
              <a:rPr lang="en-US" dirty="0"/>
              <a:t> - Manages clustering for fault tolerance and load balancing.</a:t>
            </a:r>
          </a:p>
          <a:p>
            <a:endParaRPr lang="en-US" dirty="0"/>
          </a:p>
          <a:p>
            <a:r>
              <a:rPr lang="en-US" dirty="0"/>
              <a:t> #### 4. Report Manager</a:t>
            </a:r>
          </a:p>
          <a:p>
            <a:endParaRPr lang="en-US" dirty="0"/>
          </a:p>
          <a:p>
            <a:r>
              <a:rPr lang="en-US" dirty="0"/>
              <a:t> - Generates and distributes reports on network performance and health.</a:t>
            </a:r>
          </a:p>
          <a:p>
            <a:r>
              <a:rPr lang="en-US" dirty="0"/>
              <a:t> - Provides favorite reports and verifies graph functionality.</a:t>
            </a:r>
          </a:p>
          <a:p>
            <a:r>
              <a:rPr lang="en-US" dirty="0"/>
              <a:t> - Manages reporting structures for operational and business units.</a:t>
            </a:r>
          </a:p>
          <a:p>
            <a:endParaRPr lang="en-US" dirty="0"/>
          </a:p>
          <a:p>
            <a:r>
              <a:rPr lang="en-US" dirty="0"/>
              <a:t> #### 5. Instant Graphs</a:t>
            </a:r>
          </a:p>
          <a:p>
            <a:endParaRPr lang="en-US" dirty="0"/>
          </a:p>
          <a:p>
            <a:r>
              <a:rPr lang="en-US" dirty="0"/>
              <a:t> - Provides real-time visualization of network performance metrics.</a:t>
            </a:r>
          </a:p>
          <a:p>
            <a:r>
              <a:rPr lang="en-US" dirty="0"/>
              <a:t> - Used for troubleshooting and real-time data analysis.</a:t>
            </a:r>
          </a:p>
          <a:p>
            <a:r>
              <a:rPr lang="en-US" dirty="0"/>
              <a:t> - Displays performance trends and anomalies.</a:t>
            </a:r>
          </a:p>
          <a:p>
            <a:endParaRPr lang="en-US" dirty="0"/>
          </a:p>
          <a:p>
            <a:r>
              <a:rPr lang="en-US" dirty="0"/>
              <a:t> #### 6. </a:t>
            </a:r>
            <a:r>
              <a:rPr lang="en-US" dirty="0" err="1"/>
              <a:t>TopN</a:t>
            </a:r>
            <a:r>
              <a:rPr lang="en-US" dirty="0"/>
              <a:t> Reports</a:t>
            </a:r>
          </a:p>
          <a:p>
            <a:endParaRPr lang="en-US" dirty="0"/>
          </a:p>
          <a:p>
            <a:r>
              <a:rPr lang="en-US" dirty="0"/>
              <a:t> - Generates reports on top performers or issues in the network.</a:t>
            </a:r>
          </a:p>
          <a:p>
            <a:r>
              <a:rPr lang="en-US" dirty="0"/>
              <a:t> - Identifies critical devices or links based on performance metrics.</a:t>
            </a:r>
          </a:p>
          <a:p>
            <a:r>
              <a:rPr lang="en-US" dirty="0"/>
              <a:t> - Used for capacity planning and network optimization.</a:t>
            </a:r>
          </a:p>
          <a:p>
            <a:endParaRPr lang="en-US" dirty="0"/>
          </a:p>
          <a:p>
            <a:r>
              <a:rPr lang="en-US" dirty="0"/>
              <a:t> #### 7. Calculation Editor</a:t>
            </a:r>
          </a:p>
          <a:p>
            <a:endParaRPr lang="en-US" dirty="0"/>
          </a:p>
          <a:p>
            <a:r>
              <a:rPr lang="en-US" dirty="0"/>
              <a:t> - Verifies and corrects link expressions in the Object Manager.</a:t>
            </a:r>
          </a:p>
          <a:p>
            <a:r>
              <a:rPr lang="en-US" dirty="0"/>
              <a:t> - Ensures accurate calculation of network metrics and statistics.</a:t>
            </a:r>
          </a:p>
          <a:p>
            <a:endParaRPr lang="en-US" dirty="0"/>
          </a:p>
          <a:p>
            <a:r>
              <a:rPr lang="en-US" dirty="0"/>
              <a:t> #### 8. External Data Tab</a:t>
            </a:r>
          </a:p>
          <a:p>
            <a:endParaRPr lang="en-US" dirty="0"/>
          </a:p>
          <a:p>
            <a:r>
              <a:rPr lang="en-US" dirty="0"/>
              <a:t> - Monitors and manages external data sources, such as CSV files.</a:t>
            </a:r>
          </a:p>
          <a:p>
            <a:r>
              <a:rPr lang="en-US" dirty="0"/>
              <a:t> - Identifies issues with data parsing and integration.</a:t>
            </a:r>
          </a:p>
          <a:p>
            <a:endParaRPr lang="en-US" dirty="0"/>
          </a:p>
          <a:p>
            <a:r>
              <a:rPr lang="en-US" dirty="0"/>
              <a:t> #### 9. Provisioning Engine</a:t>
            </a:r>
          </a:p>
          <a:p>
            <a:endParaRPr lang="en-US" dirty="0"/>
          </a:p>
          <a:p>
            <a:r>
              <a:rPr lang="en-US" dirty="0"/>
              <a:t> - Automates device provisioning and data enrichment.</a:t>
            </a:r>
          </a:p>
          <a:p>
            <a:r>
              <a:rPr lang="en-US" dirty="0"/>
              <a:t> - Processes CSV files and updates the </a:t>
            </a:r>
            <a:r>
              <a:rPr lang="en-US" dirty="0" err="1"/>
              <a:t>SevOne</a:t>
            </a:r>
            <a:r>
              <a:rPr lang="en-US" dirty="0"/>
              <a:t> database.</a:t>
            </a:r>
          </a:p>
          <a:p>
            <a:r>
              <a:rPr lang="en-US" dirty="0"/>
              <a:t> - Ensures correct integration of device data into Noora.</a:t>
            </a:r>
          </a:p>
          <a:p>
            <a:endParaRPr lang="en-US" dirty="0"/>
          </a:p>
          <a:p>
            <a:r>
              <a:rPr lang="en-US" dirty="0"/>
              <a:t> #### 10. SNMP Walk Function</a:t>
            </a:r>
          </a:p>
          <a:p>
            <a:endParaRPr lang="en-US" dirty="0"/>
          </a:p>
          <a:p>
            <a:r>
              <a:rPr lang="en-US" dirty="0"/>
              <a:t> - Performs SNMP walks to collect performance data from devices.</a:t>
            </a:r>
          </a:p>
          <a:p>
            <a:r>
              <a:rPr lang="en-US" dirty="0"/>
              <a:t> - Verifies device activity and SNMP polling status.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13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19D0-D3A3-12DC-0F51-97C2651DB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D8F08-DEF2-C7E2-38F7-45ADB7E0B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806CB-D6E3-76D5-E7ED-F3A9642F6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4ACF2-91C9-95D5-CC6F-571419745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7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C5B3-408C-DB41-3081-4A513B65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83388-0631-48FF-4264-2CDD4138B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121B0-6D05-2FC9-9319-5EEB13676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Here is a more detailed description for each of the smaller features within the Noora Health Portal: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Action Required</a:t>
            </a:r>
          </a:p>
          <a:p>
            <a:endParaRPr lang="en-US" dirty="0"/>
          </a:p>
          <a:p>
            <a:r>
              <a:rPr lang="en-US" dirty="0"/>
              <a:t> Surfaces devices that require manual intervention due to failures in the automated provisioning process. This includes:</a:t>
            </a:r>
          </a:p>
          <a:p>
            <a:r>
              <a:rPr lang="en-US" dirty="0"/>
              <a:t> - New devices which did not respond to SNMP: Devices discovered but SNMP polling failed.</a:t>
            </a:r>
          </a:p>
          <a:p>
            <a:r>
              <a:rPr lang="en-US" dirty="0"/>
              <a:t> - New devices which are missing device OS support: Devices discovered successfully but their OS isn't supported/mapped by the system yet.</a:t>
            </a:r>
          </a:p>
          <a:p>
            <a:r>
              <a:rPr lang="en-US" dirty="0"/>
              <a:t> - New devices which are missing device control grouping: Devices that haven't been pinned into a Control Device Group, so the automated rules have nothing</a:t>
            </a:r>
          </a:p>
          <a:p>
            <a:r>
              <a:rPr lang="en-US" dirty="0"/>
              <a:t>   to act on.</a:t>
            </a:r>
          </a:p>
          <a:p>
            <a:r>
              <a:rPr lang="en-US" dirty="0"/>
              <a:t> - Provides a re-provision action button per row for manual intervention.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Provisioning Control</a:t>
            </a:r>
          </a:p>
          <a:p>
            <a:endParaRPr lang="en-US" dirty="0"/>
          </a:p>
          <a:p>
            <a:r>
              <a:rPr lang="en-US" dirty="0"/>
              <a:t> Provides a live view of the auto-provisioning pipeline, including:</a:t>
            </a:r>
          </a:p>
          <a:p>
            <a:r>
              <a:rPr lang="en-US" dirty="0"/>
              <a:t> - Devices currently under provisioning: In-flight devices showing device ID, enabled object count, current provisioning phase, last discovery time/age,</a:t>
            </a:r>
          </a:p>
          <a:p>
            <a:r>
              <a:rPr lang="en-US" dirty="0"/>
              <a:t>   discovery status, and whether it's "stuck."</a:t>
            </a:r>
          </a:p>
          <a:p>
            <a:r>
              <a:rPr lang="en-US" dirty="0"/>
              <a:t> - Most recent finished </a:t>
            </a:r>
            <a:r>
              <a:rPr lang="en-US" dirty="0" err="1"/>
              <a:t>provisionings</a:t>
            </a:r>
            <a:r>
              <a:rPr lang="en-US" dirty="0"/>
              <a:t>: Completed runs showing finish time, device name/ID, enabled object count, final provisioning state, and last</a:t>
            </a:r>
          </a:p>
          <a:p>
            <a:r>
              <a:rPr lang="en-US" dirty="0"/>
              <a:t>   discovery info.</a:t>
            </a:r>
          </a:p>
          <a:p>
            <a:r>
              <a:rPr lang="en-US" dirty="0"/>
              <a:t> - Most recent provisioning errors: Failed runs with log entries explaining the failure (e.g., </a:t>
            </a:r>
            <a:r>
              <a:rPr lang="en-US" dirty="0" err="1"/>
              <a:t>DevicePinner</a:t>
            </a:r>
            <a:r>
              <a:rPr lang="en-US" dirty="0"/>
              <a:t>: Unsupported device, </a:t>
            </a:r>
            <a:r>
              <a:rPr lang="en-US" dirty="0" err="1"/>
              <a:t>DiscoveryPoller</a:t>
            </a:r>
            <a:r>
              <a:rPr lang="en-US" dirty="0"/>
              <a:t>: looks</a:t>
            </a:r>
          </a:p>
          <a:p>
            <a:r>
              <a:rPr lang="en-US" dirty="0"/>
              <a:t>   like we got no XML document data).</a:t>
            </a:r>
          </a:p>
          <a:p>
            <a:r>
              <a:rPr lang="en-US" dirty="0"/>
              <a:t> - All devices currently in native discovery: Devices </a:t>
            </a:r>
            <a:r>
              <a:rPr lang="en-US" dirty="0" err="1"/>
              <a:t>SevOne</a:t>
            </a:r>
            <a:r>
              <a:rPr lang="en-US" dirty="0"/>
              <a:t> is natively discovering.</a:t>
            </a:r>
          </a:p>
          <a:p>
            <a:r>
              <a:rPr lang="en-US" dirty="0"/>
              <a:t> - Offers re-provision buttons for errored devices.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Tools</a:t>
            </a:r>
          </a:p>
          <a:p>
            <a:endParaRPr lang="en-US" dirty="0"/>
          </a:p>
          <a:p>
            <a:r>
              <a:rPr lang="en-US" dirty="0"/>
              <a:t> A set of diagnostic and query tools for administrators:</a:t>
            </a:r>
          </a:p>
          <a:p>
            <a:endParaRPr lang="en-US" dirty="0"/>
          </a:p>
          <a:p>
            <a:r>
              <a:rPr lang="en-US" dirty="0"/>
              <a:t> #### Device Data Query</a:t>
            </a:r>
          </a:p>
          <a:p>
            <a:endParaRPr lang="en-US" dirty="0"/>
          </a:p>
          <a:p>
            <a:r>
              <a:rPr lang="en-US" dirty="0"/>
              <a:t> - Query a specific device by name.</a:t>
            </a:r>
          </a:p>
          <a:p>
            <a:r>
              <a:rPr lang="en-US" dirty="0"/>
              <a:t> - Select categories of data to pull: Basic/Provisioning Data, Object Data, Group Data, Link Data, Alert Data.</a:t>
            </a:r>
          </a:p>
          <a:p>
            <a:r>
              <a:rPr lang="en-US" dirty="0"/>
              <a:t> - Results render in "Device Data Results."</a:t>
            </a:r>
          </a:p>
          <a:p>
            <a:endParaRPr lang="en-US" dirty="0"/>
          </a:p>
          <a:p>
            <a:r>
              <a:rPr lang="en-US" dirty="0"/>
              <a:t> #### Raw Data Query</a:t>
            </a:r>
          </a:p>
          <a:p>
            <a:endParaRPr lang="en-US" dirty="0"/>
          </a:p>
          <a:p>
            <a:r>
              <a:rPr lang="en-US" dirty="0"/>
              <a:t> - Group Query Options: Find groups by object group name regex and/or parent group name regex.</a:t>
            </a:r>
          </a:p>
          <a:p>
            <a:r>
              <a:rPr lang="en-US" dirty="0"/>
              <a:t> - Raw Data Query Options: Select time period and indicators (e.g., Bits In, Bits Out, Packets In, Packets Out, Utilization In, Utilization Out).</a:t>
            </a:r>
          </a:p>
          <a:p>
            <a:r>
              <a:rPr lang="en-US" dirty="0"/>
              <a:t> - Safety/display options: Exclude deleted devices/objects, display data in browser (auto-disabled if result exceeds 10,000 rows), bypass 10k display</a:t>
            </a:r>
          </a:p>
          <a:p>
            <a:r>
              <a:rPr lang="en-US" dirty="0"/>
              <a:t>   limit.</a:t>
            </a:r>
          </a:p>
          <a:p>
            <a:r>
              <a:rPr lang="en-US" dirty="0"/>
              <a:t> - Provides a raw statistics export/query tool for bulk indicator data across device groups.</a:t>
            </a:r>
          </a:p>
          <a:p>
            <a:endParaRPr lang="en-US" dirty="0"/>
          </a:p>
          <a:p>
            <a:r>
              <a:rPr lang="en-US" dirty="0"/>
              <a:t> #### OID Validator</a:t>
            </a:r>
          </a:p>
          <a:p>
            <a:endParaRPr lang="en-US" dirty="0"/>
          </a:p>
          <a:p>
            <a:r>
              <a:rPr lang="en-US" dirty="0"/>
              <a:t> - Select target devices by group, select tree branch (parent group), enter an OID, click Validate.</a:t>
            </a:r>
          </a:p>
          <a:p>
            <a:r>
              <a:rPr lang="en-US" dirty="0"/>
              <a:t> - Verifies that a given SNMP OID resolves/returns data on representative devices before rolling out a monitoring rule.</a:t>
            </a:r>
          </a:p>
          <a:p>
            <a:endParaRPr lang="en-US" dirty="0"/>
          </a:p>
          <a:p>
            <a:r>
              <a:rPr lang="en-US" dirty="0"/>
              <a:t> #### Device Deviations Dashboard</a:t>
            </a:r>
          </a:p>
          <a:p>
            <a:endParaRPr lang="en-US" dirty="0"/>
          </a:p>
          <a:p>
            <a:r>
              <a:rPr lang="en-US" dirty="0"/>
              <a:t> - Displays large red counters with drill-down lists for:</a:t>
            </a:r>
          </a:p>
          <a:p>
            <a:r>
              <a:rPr lang="en-US" dirty="0"/>
              <a:t>     - Devices not responding to SNMP/ICMP during the last discovery.</a:t>
            </a:r>
          </a:p>
          <a:p>
            <a:r>
              <a:rPr lang="en-US" dirty="0"/>
              <a:t>     - Active devices with zero objects.</a:t>
            </a:r>
          </a:p>
          <a:p>
            <a:r>
              <a:rPr lang="en-US" dirty="0"/>
              <a:t>     - Deleted devices with active objects.</a:t>
            </a:r>
          </a:p>
          <a:p>
            <a:r>
              <a:rPr lang="en-US" dirty="0"/>
              <a:t>     - All devices in new state.</a:t>
            </a:r>
          </a:p>
          <a:p>
            <a:r>
              <a:rPr lang="en-US" dirty="0"/>
              <a:t>     - Active devices with SNMP/ICMP plugin disabled.</a:t>
            </a:r>
          </a:p>
          <a:p>
            <a:r>
              <a:rPr lang="en-US" dirty="0"/>
              <a:t>     - Active devices with polling disabled.</a:t>
            </a:r>
          </a:p>
          <a:p>
            <a:r>
              <a:rPr lang="en-US" dirty="0"/>
              <a:t> - Provides a data-quality / health scorecard at the device level.</a:t>
            </a:r>
          </a:p>
          <a:p>
            <a:endParaRPr lang="en-US" dirty="0"/>
          </a:p>
          <a:p>
            <a:r>
              <a:rPr lang="en-US" dirty="0"/>
              <a:t> #### System Anomalies Dashboard</a:t>
            </a:r>
          </a:p>
          <a:p>
            <a:endParaRPr lang="en-US" dirty="0"/>
          </a:p>
          <a:p>
            <a:r>
              <a:rPr lang="en-US" dirty="0"/>
              <a:t> - Displays large red counters focused on grouping/structure problems, with drill-down lists for:</a:t>
            </a:r>
          </a:p>
          <a:p>
            <a:r>
              <a:rPr lang="en-US" dirty="0"/>
              <a:t>     - Empty leaf device and device type groups.</a:t>
            </a:r>
          </a:p>
          <a:p>
            <a:r>
              <a:rPr lang="en-US" dirty="0"/>
              <a:t>     - Empty Object Groups.</a:t>
            </a:r>
          </a:p>
          <a:p>
            <a:r>
              <a:rPr lang="en-US" dirty="0"/>
              <a:t>     - Object groups which do not follow custom hierarchy.</a:t>
            </a:r>
          </a:p>
          <a:p>
            <a:r>
              <a:rPr lang="en-US" dirty="0"/>
              <a:t>     - Object groups over 1000 members.</a:t>
            </a:r>
          </a:p>
          <a:p>
            <a:r>
              <a:rPr lang="en-US" dirty="0"/>
              <a:t> - Surfaces group-hygiene issues.</a:t>
            </a:r>
          </a:p>
          <a:p>
            <a:endParaRPr lang="en-US" dirty="0"/>
          </a:p>
          <a:p>
            <a:r>
              <a:rPr lang="en-US" dirty="0"/>
              <a:t> #### OG (Object Group) Tree Viewer</a:t>
            </a:r>
          </a:p>
          <a:p>
            <a:endParaRPr lang="en-US" dirty="0"/>
          </a:p>
          <a:p>
            <a:r>
              <a:rPr lang="en-US" dirty="0"/>
              <a:t> - Search by Group name and/or Group id.</a:t>
            </a:r>
          </a:p>
          <a:p>
            <a:r>
              <a:rPr lang="en-US" dirty="0"/>
              <a:t> - Toggle switches: Show class, Show members, Show bind type.</a:t>
            </a:r>
          </a:p>
          <a:p>
            <a:r>
              <a:rPr lang="en-US" dirty="0"/>
              <a:t> - Provides a general-purpose explorer for navigating/inspecting the object group hierarchy.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Control</a:t>
            </a:r>
          </a:p>
          <a:p>
            <a:endParaRPr lang="en-US" dirty="0"/>
          </a:p>
          <a:p>
            <a:r>
              <a:rPr lang="en-US" dirty="0"/>
              <a:t> Offers deep insights into the system's internals:</a:t>
            </a:r>
          </a:p>
          <a:p>
            <a:endParaRPr lang="en-US" dirty="0"/>
          </a:p>
          <a:p>
            <a:r>
              <a:rPr lang="en-US" dirty="0"/>
              <a:t> #### System Statistics</a:t>
            </a:r>
          </a:p>
          <a:p>
            <a:endParaRPr lang="en-US" dirty="0"/>
          </a:p>
          <a:p>
            <a:r>
              <a:rPr lang="en-US" dirty="0"/>
              <a:t> - Generic Statistics: Number of active devices, virtual devices, deleted devices, peers/appliances, device groups, object groups, average enabled/disabled</a:t>
            </a:r>
          </a:p>
          <a:p>
            <a:r>
              <a:rPr lang="en-US" dirty="0"/>
              <a:t>   object usage per device, total enabled/disabled object counts, total enabled indicator count.</a:t>
            </a:r>
          </a:p>
          <a:p>
            <a:r>
              <a:rPr lang="en-US" dirty="0"/>
              <a:t> - Object Statistics: Per-server breakdown of enabled/disabled/deleted/visible/hidden/total object counts.</a:t>
            </a:r>
          </a:p>
          <a:p>
            <a:r>
              <a:rPr lang="en-US" dirty="0"/>
              <a:t> - Indicator Statistics: Per-server breakdown of enabled/disabled/deleted/total indicator counts.</a:t>
            </a:r>
          </a:p>
          <a:p>
            <a:r>
              <a:rPr lang="en-US" dirty="0"/>
              <a:t> - Provides capacity planning and system-wide health at a glance.</a:t>
            </a:r>
          </a:p>
          <a:p>
            <a:endParaRPr lang="en-US" dirty="0"/>
          </a:p>
          <a:p>
            <a:r>
              <a:rPr lang="en-US" dirty="0"/>
              <a:t> #### Device Statistics</a:t>
            </a:r>
          </a:p>
          <a:p>
            <a:endParaRPr lang="en-US" dirty="0"/>
          </a:p>
          <a:p>
            <a:r>
              <a:rPr lang="en-US" dirty="0"/>
              <a:t> - Per-device table: device name, last discovery date, days since last discovery, peer (</a:t>
            </a:r>
            <a:r>
              <a:rPr lang="en-US" dirty="0" err="1"/>
              <a:t>SevOne</a:t>
            </a:r>
            <a:r>
              <a:rPr lang="en-US" dirty="0"/>
              <a:t> appliance/collector), enabled object count, disabled object</a:t>
            </a:r>
          </a:p>
          <a:p>
            <a:r>
              <a:rPr lang="en-US" dirty="0"/>
              <a:t>   count.</a:t>
            </a:r>
          </a:p>
          <a:p>
            <a:r>
              <a:rPr lang="en-US" dirty="0"/>
              <a:t> - Acts as a sortable/scrollable master list of every device with its discovery freshness and object counts.</a:t>
            </a:r>
          </a:p>
          <a:p>
            <a:endParaRPr lang="en-US" dirty="0"/>
          </a:p>
          <a:p>
            <a:r>
              <a:rPr lang="en-US" dirty="0"/>
              <a:t> #### Control Groups</a:t>
            </a:r>
          </a:p>
          <a:p>
            <a:endParaRPr lang="en-US" dirty="0"/>
          </a:p>
          <a:p>
            <a:r>
              <a:rPr lang="en-US" dirty="0"/>
              <a:t> - "Get all control groups" or "Get control groups where device is pinned" (enter a device name).</a:t>
            </a:r>
          </a:p>
          <a:p>
            <a:r>
              <a:rPr lang="en-US" dirty="0"/>
              <a:t> - Shows the Control Device Groups level structure: [</a:t>
            </a:r>
            <a:r>
              <a:rPr lang="en-US" dirty="0" err="1"/>
              <a:t>PlatformCategory</a:t>
            </a:r>
            <a:r>
              <a:rPr lang="en-US" dirty="0"/>
              <a:t>] → [</a:t>
            </a:r>
            <a:r>
              <a:rPr lang="en-US" dirty="0" err="1"/>
              <a:t>PlatformClass</a:t>
            </a:r>
            <a:r>
              <a:rPr lang="en-US" dirty="0"/>
              <a:t>] → [</a:t>
            </a:r>
            <a:r>
              <a:rPr lang="en-US" dirty="0" err="1"/>
              <a:t>PlatformGroup</a:t>
            </a:r>
            <a:r>
              <a:rPr lang="en-US" dirty="0"/>
              <a:t>] → [</a:t>
            </a:r>
            <a:r>
              <a:rPr lang="en-US" dirty="0" err="1"/>
              <a:t>PlatformType</a:t>
            </a:r>
            <a:r>
              <a:rPr lang="en-US" dirty="0"/>
              <a:t>].</a:t>
            </a:r>
          </a:p>
          <a:p>
            <a:r>
              <a:rPr lang="en-US" dirty="0"/>
              <a:t> - Inspects which Control Device Group(s) a given device is pinned to.</a:t>
            </a:r>
          </a:p>
          <a:p>
            <a:endParaRPr lang="en-US" dirty="0"/>
          </a:p>
          <a:p>
            <a:r>
              <a:rPr lang="en-US" dirty="0"/>
              <a:t> #### Constants</a:t>
            </a:r>
          </a:p>
          <a:p>
            <a:endParaRPr lang="en-US" dirty="0"/>
          </a:p>
          <a:p>
            <a:r>
              <a:rPr lang="en-US" dirty="0"/>
              <a:t> - Raw File Display of a PHP constants file (system-wide configuration constants).</a:t>
            </a:r>
          </a:p>
          <a:p>
            <a:r>
              <a:rPr lang="en-US" dirty="0"/>
              <a:t> - Provides a read-only view into root-level naming/config constants.</a:t>
            </a:r>
          </a:p>
          <a:p>
            <a:endParaRPr lang="en-US" dirty="0"/>
          </a:p>
          <a:p>
            <a:r>
              <a:rPr lang="en-US" dirty="0"/>
              <a:t> #### Rules Generic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/_RULES_GENERIC.ini.</a:t>
            </a:r>
          </a:p>
          <a:p>
            <a:r>
              <a:rPr lang="en-US" dirty="0"/>
              <a:t> - Determines which object types are associated with devices during the DEVICEPINNER provisioning process (phase 2).</a:t>
            </a:r>
          </a:p>
          <a:p>
            <a:r>
              <a:rPr lang="en-US" dirty="0"/>
              <a:t> - Devices are pinned to Device Type Groups, which are the file's key values; the object types listed under each Device Type Group get associated with</a:t>
            </a:r>
          </a:p>
          <a:p>
            <a:r>
              <a:rPr lang="en-US" dirty="0"/>
              <a:t>   those devices.</a:t>
            </a:r>
          </a:p>
          <a:p>
            <a:endParaRPr lang="en-US" dirty="0"/>
          </a:p>
          <a:p>
            <a:r>
              <a:rPr lang="en-US" dirty="0"/>
              <a:t> #### Rules Advanced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/_RULES_ADVANCED.ini.</a:t>
            </a:r>
          </a:p>
          <a:p>
            <a:r>
              <a:rPr lang="en-US" dirty="0"/>
              <a:t> - Determines which additional object types are associated with devices during DEVICEPINNER phase 2, but keyed by TAGS (device-specific object-type</a:t>
            </a:r>
          </a:p>
          <a:p>
            <a:r>
              <a:rPr lang="en-US" dirty="0"/>
              <a:t>   binding).</a:t>
            </a:r>
          </a:p>
          <a:p>
            <a:r>
              <a:rPr lang="en-US" dirty="0"/>
              <a:t> - Example: Enabling "Logical Interface" (SAP) SNMP query for devices tagged with "sap".</a:t>
            </a:r>
          </a:p>
          <a:p>
            <a:endParaRPr lang="en-US" dirty="0"/>
          </a:p>
          <a:p>
            <a:r>
              <a:rPr lang="en-US" dirty="0"/>
              <a:t> #### Rules Enable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/_RULES_ENABLE_OBJECTS.ini.</a:t>
            </a:r>
          </a:p>
          <a:p>
            <a:r>
              <a:rPr lang="en-US" dirty="0"/>
              <a:t> - Determines which of the (previously discovered-but-disabled) objects actually get enabled during the DISCOVERYPOLLER phase (phase 3).</a:t>
            </a:r>
          </a:p>
          <a:p>
            <a:r>
              <a:rPr lang="en-US" dirty="0"/>
              <a:t> - Rule structure: </a:t>
            </a:r>
            <a:r>
              <a:rPr lang="en-US" dirty="0" err="1"/>
              <a:t>match_objtype</a:t>
            </a:r>
            <a:r>
              <a:rPr lang="en-US" dirty="0"/>
              <a:t>, </a:t>
            </a:r>
            <a:r>
              <a:rPr lang="en-US" dirty="0" err="1"/>
              <a:t>match_tag</a:t>
            </a:r>
            <a:r>
              <a:rPr lang="en-US" dirty="0"/>
              <a:t>, </a:t>
            </a:r>
            <a:r>
              <a:rPr lang="en-US" dirty="0" err="1"/>
              <a:t>match_regex</a:t>
            </a:r>
            <a:r>
              <a:rPr lang="en-US" dirty="0"/>
              <a:t>, </a:t>
            </a:r>
            <a:r>
              <a:rPr lang="en-US" dirty="0" err="1"/>
              <a:t>match_column</a:t>
            </a:r>
            <a:r>
              <a:rPr lang="en-US" dirty="0"/>
              <a:t>, </a:t>
            </a:r>
            <a:r>
              <a:rPr lang="en-US" dirty="0" err="1"/>
              <a:t>match_plugin</a:t>
            </a:r>
            <a:r>
              <a:rPr lang="en-US" dirty="0"/>
              <a:t>, </a:t>
            </a:r>
            <a:r>
              <a:rPr lang="en-US" dirty="0" err="1"/>
              <a:t>platformCategory</a:t>
            </a:r>
            <a:r>
              <a:rPr lang="en-US" dirty="0"/>
              <a:t>[], </a:t>
            </a:r>
            <a:r>
              <a:rPr lang="en-US" dirty="0" err="1"/>
              <a:t>platformClass</a:t>
            </a:r>
            <a:r>
              <a:rPr lang="en-US" dirty="0"/>
              <a:t>[], </a:t>
            </a:r>
            <a:r>
              <a:rPr lang="en-US" dirty="0" err="1"/>
              <a:t>platformType</a:t>
            </a:r>
            <a:r>
              <a:rPr lang="en-US" dirty="0"/>
              <a:t>[].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Change Reports</a:t>
            </a:r>
          </a:p>
          <a:p>
            <a:endParaRPr lang="en-US" dirty="0"/>
          </a:p>
          <a:p>
            <a:r>
              <a:rPr lang="en-US" dirty="0"/>
              <a:t> - Select Group Type: Device or Object.</a:t>
            </a:r>
          </a:p>
          <a:p>
            <a:r>
              <a:rPr lang="en-US" dirty="0"/>
              <a:t> - Select Date 1 and Date 2 for comparison.</a:t>
            </a:r>
          </a:p>
          <a:p>
            <a:r>
              <a:rPr lang="en-US" dirty="0"/>
              <a:t> - Provides results in the "Change Report Results" panel.</a:t>
            </a:r>
          </a:p>
          <a:p>
            <a:r>
              <a:rPr lang="en-US" dirty="0"/>
              <a:t> - Acts as a diff/audit tool for changes in devices, objects, and groups over time.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Reports</a:t>
            </a:r>
          </a:p>
          <a:p>
            <a:endParaRPr lang="en-US" dirty="0"/>
          </a:p>
          <a:p>
            <a:r>
              <a:rPr lang="en-US" dirty="0"/>
              <a:t> - A single dropdown listing many pre-built, named reports.</a:t>
            </a:r>
          </a:p>
          <a:p>
            <a:r>
              <a:rPr lang="en-US" dirty="0"/>
              <a:t> - Reports include:</a:t>
            </a:r>
          </a:p>
          <a:p>
            <a:r>
              <a:rPr lang="en-US" dirty="0"/>
              <a:t>     - Ari </a:t>
            </a:r>
            <a:r>
              <a:rPr lang="en-US" dirty="0" err="1"/>
              <a:t>testaa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generic device category</a:t>
            </a:r>
          </a:p>
          <a:p>
            <a:r>
              <a:rPr lang="en-US" dirty="0"/>
              <a:t>     - </a:t>
            </a:r>
            <a:r>
              <a:rPr lang="en-US" dirty="0" err="1"/>
              <a:t>Autosummary</a:t>
            </a:r>
            <a:r>
              <a:rPr lang="en-US" dirty="0"/>
              <a:t> validation report</a:t>
            </a:r>
          </a:p>
          <a:p>
            <a:r>
              <a:rPr lang="en-US" dirty="0"/>
              <a:t>     - Device group rule report</a:t>
            </a:r>
          </a:p>
          <a:p>
            <a:r>
              <a:rPr lang="en-US" dirty="0"/>
              <a:t>     - Double device report</a:t>
            </a:r>
          </a:p>
          <a:p>
            <a:r>
              <a:rPr lang="en-US" dirty="0"/>
              <a:t>     - Dump </a:t>
            </a:r>
            <a:r>
              <a:rPr lang="en-US" dirty="0" err="1"/>
              <a:t>snet</a:t>
            </a:r>
            <a:r>
              <a:rPr lang="en-US" dirty="0"/>
              <a:t> latest</a:t>
            </a:r>
          </a:p>
          <a:p>
            <a:r>
              <a:rPr lang="en-US" dirty="0"/>
              <a:t>     - Dump spare part inventory latest</a:t>
            </a:r>
          </a:p>
          <a:p>
            <a:r>
              <a:rPr lang="en-US" dirty="0"/>
              <a:t>     - Dump spare part material latest</a:t>
            </a:r>
          </a:p>
          <a:p>
            <a:r>
              <a:rPr lang="en-US" dirty="0"/>
              <a:t>     - Exporter group report</a:t>
            </a:r>
          </a:p>
          <a:p>
            <a:r>
              <a:rPr lang="en-US" dirty="0"/>
              <a:t>     - Exporter group report locate to-be-removed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with details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uncategorized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print uncategorized</a:t>
            </a:r>
          </a:p>
          <a:p>
            <a:r>
              <a:rPr lang="en-US" dirty="0"/>
              <a:t>     - Generic device category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deviceroles.properties</a:t>
            </a:r>
            <a:endParaRPr lang="en-US" dirty="0"/>
          </a:p>
          <a:p>
            <a:r>
              <a:rPr lang="en-US" dirty="0"/>
              <a:t>     - Install base all by chassis model name</a:t>
            </a:r>
          </a:p>
          <a:p>
            <a:r>
              <a:rPr lang="en-US" dirty="0"/>
              <a:t>     - Install base all by chassis part number</a:t>
            </a:r>
          </a:p>
          <a:p>
            <a:r>
              <a:rPr lang="en-US" dirty="0"/>
              <a:t> - Provides a library of canned/scheduled-style reports for cross-checking device categorization, validating install-base/hardware inventory, and</a:t>
            </a:r>
          </a:p>
          <a:p>
            <a:r>
              <a:rPr lang="en-US" dirty="0"/>
              <a:t>   identifying duplicate devices or stale exporter groups.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External Data</a:t>
            </a:r>
          </a:p>
          <a:p>
            <a:endParaRPr lang="en-US" dirty="0"/>
          </a:p>
          <a:p>
            <a:r>
              <a:rPr lang="en-US" dirty="0"/>
              <a:t> Tracks the health of external data feeds:</a:t>
            </a:r>
          </a:p>
          <a:p>
            <a:endParaRPr lang="en-US" dirty="0"/>
          </a:p>
          <a:p>
            <a:r>
              <a:rPr lang="en-US" dirty="0"/>
              <a:t> #### External Data Overview</a:t>
            </a:r>
          </a:p>
          <a:p>
            <a:endParaRPr lang="en-US" dirty="0"/>
          </a:p>
          <a:p>
            <a:r>
              <a:rPr lang="en-US" dirty="0"/>
              <a:t> - Table columns: System, Content, Path, Filename, Rows, Cols, </a:t>
            </a:r>
            <a:r>
              <a:rPr lang="en-US" dirty="0" err="1"/>
              <a:t>Filetime</a:t>
            </a:r>
            <a:r>
              <a:rPr lang="en-US" dirty="0"/>
              <a:t>, </a:t>
            </a:r>
            <a:r>
              <a:rPr lang="en-US" dirty="0" err="1"/>
              <a:t>Filesize</a:t>
            </a:r>
            <a:r>
              <a:rPr lang="en-US" dirty="0"/>
              <a:t>.</a:t>
            </a:r>
          </a:p>
          <a:p>
            <a:r>
              <a:rPr lang="en-US" dirty="0"/>
              <a:t> - Feeds include:</a:t>
            </a:r>
          </a:p>
          <a:p>
            <a:r>
              <a:rPr lang="en-US" dirty="0"/>
              <a:t>     - SAP ERP: Material Data, Stock Inventory Data</a:t>
            </a:r>
          </a:p>
          <a:p>
            <a:r>
              <a:rPr lang="en-US" dirty="0"/>
              <a:t>     - SM/O L2: Termination and Service Data, SAP and Service Data</a:t>
            </a:r>
          </a:p>
          <a:p>
            <a:r>
              <a:rPr lang="en-US" dirty="0"/>
              <a:t>     - TOMAATTI: Device Data, Customer Data, Product and Subscription Data</a:t>
            </a:r>
          </a:p>
          <a:p>
            <a:r>
              <a:rPr lang="en-US" dirty="0"/>
              <a:t>     - MIT: Product and Subscription Data</a:t>
            </a:r>
          </a:p>
          <a:p>
            <a:r>
              <a:rPr lang="en-US" dirty="0"/>
              <a:t>     - SATELLITE SYSTEMS: SNET Device Data</a:t>
            </a:r>
          </a:p>
          <a:p>
            <a:r>
              <a:rPr lang="en-US" dirty="0"/>
              <a:t>     - SM/O: Link Data</a:t>
            </a:r>
          </a:p>
          <a:p>
            <a:r>
              <a:rPr lang="en-US" dirty="0"/>
              <a:t>     - NOORA (import): Filtered L2 Service Data, Previous L2 Service Data</a:t>
            </a:r>
          </a:p>
          <a:p>
            <a:endParaRPr lang="en-US" dirty="0"/>
          </a:p>
          <a:p>
            <a:r>
              <a:rPr lang="en-US" dirty="0"/>
              <a:t> #### External Data Validation</a:t>
            </a:r>
          </a:p>
          <a:p>
            <a:endParaRPr lang="en-US" dirty="0"/>
          </a:p>
          <a:p>
            <a:r>
              <a:rPr lang="en-US" dirty="0"/>
              <a:t> - Validates file existence, readability, date check, data parsing, parsed rows, and parsing time.</a:t>
            </a:r>
          </a:p>
          <a:p>
            <a:r>
              <a:rPr lang="en-US" dirty="0"/>
              <a:t> - Provides a health check for upstream files feeding provisioning/enrichment.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Device Dashboard</a:t>
            </a:r>
          </a:p>
          <a:p>
            <a:endParaRPr lang="en-US" dirty="0"/>
          </a:p>
          <a:p>
            <a:r>
              <a:rPr lang="en-US" dirty="0"/>
              <a:t> - Device selector: Searchable dropdown or free-text field.</a:t>
            </a:r>
          </a:p>
          <a:p>
            <a:r>
              <a:rPr lang="en-US" dirty="0"/>
              <a:t> - Labeled "Device Dashboard v1.6".</a:t>
            </a:r>
          </a:p>
          <a:p>
            <a:r>
              <a:rPr lang="en-US" dirty="0"/>
              <a:t> - Header row: device name, location/description, quick links to Splunk, Sense, Rasmus, Horizon, Health.</a:t>
            </a:r>
          </a:p>
          <a:p>
            <a:r>
              <a:rPr lang="en-US" dirty="0"/>
              <a:t> - Time range selector: Hour / Day / 3 Days / Week / Month / 3 Months / Custom.</a:t>
            </a:r>
          </a:p>
          <a:p>
            <a:r>
              <a:rPr lang="en-US" dirty="0"/>
              <a:t> - Staleness warning banner: Flags when upstream SM/O data hasn't refreshed in a long time.</a:t>
            </a:r>
          </a:p>
          <a:p>
            <a:r>
              <a:rPr lang="en-US" dirty="0"/>
              <a:t> - Sub-links: Basic, Hardware, Interface, Inventory, Info.</a:t>
            </a:r>
          </a:p>
          <a:p>
            <a:r>
              <a:rPr lang="en-US" dirty="0"/>
              <a:t> - Monitored Interfaces: List of clickable interfaces with connection details.</a:t>
            </a:r>
          </a:p>
          <a:p>
            <a:r>
              <a:rPr lang="en-US" dirty="0"/>
              <a:t> - Graphs/panels:</a:t>
            </a:r>
          </a:p>
          <a:p>
            <a:r>
              <a:rPr lang="en-US" dirty="0"/>
              <a:t>     - ICMP Availability (%)</a:t>
            </a:r>
          </a:p>
          <a:p>
            <a:r>
              <a:rPr lang="en-US" dirty="0"/>
              <a:t>     - SNMP Responsiveness (%)</a:t>
            </a:r>
          </a:p>
          <a:p>
            <a:r>
              <a:rPr lang="en-US" dirty="0"/>
              <a:t>     - Uptime Counter</a:t>
            </a:r>
          </a:p>
          <a:p>
            <a:r>
              <a:rPr lang="en-US" dirty="0"/>
              <a:t>     - ICMP Jitter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Maximum ping time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Packet loss (%) with summary table</a:t>
            </a:r>
          </a:p>
          <a:p>
            <a:r>
              <a:rPr lang="en-US" dirty="0"/>
              <a:t>     - CPU Utilization (%) with per-logical CPU breakdown</a:t>
            </a:r>
          </a:p>
          <a:p>
            <a:r>
              <a:rPr lang="en-US" dirty="0"/>
              <a:t>     - Memory Utilization (%) with per-process breakdown</a:t>
            </a:r>
          </a:p>
          <a:p>
            <a:r>
              <a:rPr lang="en-US" dirty="0"/>
              <a:t>     - Active Alerts panel</a:t>
            </a:r>
          </a:p>
          <a:p>
            <a:r>
              <a:rPr lang="en-US" dirty="0"/>
              <a:t> - Provides a single-pane-of-glass device view for triaging device health.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440F9-D307-F2B1-E9BA-CA5E1B742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64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D4393-92EE-3BC4-E1B3-D8BF232C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9E45F-B3E8-115D-1A0A-DDA59569C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55E72-290E-22BC-A0D1-8A4A63870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Here is a more detailed description for each of the smaller features within the Noora Health Portal: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Action Required</a:t>
            </a:r>
          </a:p>
          <a:p>
            <a:endParaRPr lang="en-US" dirty="0"/>
          </a:p>
          <a:p>
            <a:r>
              <a:rPr lang="en-US" dirty="0"/>
              <a:t> Surfaces devices that require manual intervention due to failures in the automated provisioning process. This includes:</a:t>
            </a:r>
          </a:p>
          <a:p>
            <a:r>
              <a:rPr lang="en-US" dirty="0"/>
              <a:t> - New devices which did not respond to SNMP: Devices discovered but SNMP polling failed.</a:t>
            </a:r>
          </a:p>
          <a:p>
            <a:r>
              <a:rPr lang="en-US" dirty="0"/>
              <a:t> - New devices which are missing device OS support: Devices discovered successfully but their OS isn't supported/mapped by the system yet.</a:t>
            </a:r>
          </a:p>
          <a:p>
            <a:r>
              <a:rPr lang="en-US" dirty="0"/>
              <a:t> - New devices which are missing device control grouping: Devices that haven't been pinned into a Control Device Group, so the automated rules have nothing</a:t>
            </a:r>
          </a:p>
          <a:p>
            <a:r>
              <a:rPr lang="en-US" dirty="0"/>
              <a:t>   to act on.</a:t>
            </a:r>
          </a:p>
          <a:p>
            <a:r>
              <a:rPr lang="en-US" dirty="0"/>
              <a:t> - Provides a re-provision action button per row for manual intervention.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Provisioning Control</a:t>
            </a:r>
          </a:p>
          <a:p>
            <a:endParaRPr lang="en-US" dirty="0"/>
          </a:p>
          <a:p>
            <a:r>
              <a:rPr lang="en-US" dirty="0"/>
              <a:t> Provides a live view of the auto-provisioning pipeline, including:</a:t>
            </a:r>
          </a:p>
          <a:p>
            <a:r>
              <a:rPr lang="en-US" dirty="0"/>
              <a:t> - Devices currently under provisioning: In-flight devices showing device ID, enabled object count, current provisioning phase, last discovery time/age,</a:t>
            </a:r>
          </a:p>
          <a:p>
            <a:r>
              <a:rPr lang="en-US" dirty="0"/>
              <a:t>   discovery status, and whether it's "stuck."</a:t>
            </a:r>
          </a:p>
          <a:p>
            <a:r>
              <a:rPr lang="en-US" dirty="0"/>
              <a:t> - Most recent finished </a:t>
            </a:r>
            <a:r>
              <a:rPr lang="en-US" dirty="0" err="1"/>
              <a:t>provisionings</a:t>
            </a:r>
            <a:r>
              <a:rPr lang="en-US" dirty="0"/>
              <a:t>: Completed runs showing finish time, device name/ID, enabled object count, final provisioning state, and last</a:t>
            </a:r>
          </a:p>
          <a:p>
            <a:r>
              <a:rPr lang="en-US" dirty="0"/>
              <a:t>   discovery info.</a:t>
            </a:r>
          </a:p>
          <a:p>
            <a:r>
              <a:rPr lang="en-US" dirty="0"/>
              <a:t> - Most recent provisioning errors: Failed runs with log entries explaining the failure (e.g., </a:t>
            </a:r>
            <a:r>
              <a:rPr lang="en-US" dirty="0" err="1"/>
              <a:t>DevicePinner</a:t>
            </a:r>
            <a:r>
              <a:rPr lang="en-US" dirty="0"/>
              <a:t>: Unsupported device, </a:t>
            </a:r>
            <a:r>
              <a:rPr lang="en-US" dirty="0" err="1"/>
              <a:t>DiscoveryPoller</a:t>
            </a:r>
            <a:r>
              <a:rPr lang="en-US" dirty="0"/>
              <a:t>: looks</a:t>
            </a:r>
          </a:p>
          <a:p>
            <a:r>
              <a:rPr lang="en-US" dirty="0"/>
              <a:t>   like we got no XML document data).</a:t>
            </a:r>
          </a:p>
          <a:p>
            <a:r>
              <a:rPr lang="en-US" dirty="0"/>
              <a:t> - All devices currently in native discovery: Devices </a:t>
            </a:r>
            <a:r>
              <a:rPr lang="en-US" dirty="0" err="1"/>
              <a:t>SevOne</a:t>
            </a:r>
            <a:r>
              <a:rPr lang="en-US" dirty="0"/>
              <a:t> is natively discovering.</a:t>
            </a:r>
          </a:p>
          <a:p>
            <a:r>
              <a:rPr lang="en-US" dirty="0"/>
              <a:t> - Offers re-provision buttons for errored devices.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Tools</a:t>
            </a:r>
          </a:p>
          <a:p>
            <a:endParaRPr lang="en-US" dirty="0"/>
          </a:p>
          <a:p>
            <a:r>
              <a:rPr lang="en-US" dirty="0"/>
              <a:t> A set of diagnostic and query tools for administrators:</a:t>
            </a:r>
          </a:p>
          <a:p>
            <a:endParaRPr lang="en-US" dirty="0"/>
          </a:p>
          <a:p>
            <a:r>
              <a:rPr lang="en-US" dirty="0"/>
              <a:t> #### Device Data Query</a:t>
            </a:r>
          </a:p>
          <a:p>
            <a:endParaRPr lang="en-US" dirty="0"/>
          </a:p>
          <a:p>
            <a:r>
              <a:rPr lang="en-US" dirty="0"/>
              <a:t> - Query a specific device by name.</a:t>
            </a:r>
          </a:p>
          <a:p>
            <a:r>
              <a:rPr lang="en-US" dirty="0"/>
              <a:t> - Select categories of data to pull: Basic/Provisioning Data, Object Data, Group Data, Link Data, Alert Data.</a:t>
            </a:r>
          </a:p>
          <a:p>
            <a:r>
              <a:rPr lang="en-US" dirty="0"/>
              <a:t> - Results render in "Device Data Results."</a:t>
            </a:r>
          </a:p>
          <a:p>
            <a:endParaRPr lang="en-US" dirty="0"/>
          </a:p>
          <a:p>
            <a:r>
              <a:rPr lang="en-US" dirty="0"/>
              <a:t> #### Raw Data Query</a:t>
            </a:r>
          </a:p>
          <a:p>
            <a:endParaRPr lang="en-US" dirty="0"/>
          </a:p>
          <a:p>
            <a:r>
              <a:rPr lang="en-US" dirty="0"/>
              <a:t> - Group Query Options: Find groups by object group name regex and/or parent group name regex.</a:t>
            </a:r>
          </a:p>
          <a:p>
            <a:r>
              <a:rPr lang="en-US" dirty="0"/>
              <a:t> - Raw Data Query Options: Select time period and indicators (e.g., Bits In, Bits Out, Packets In, Packets Out, Utilization In, Utilization Out).</a:t>
            </a:r>
          </a:p>
          <a:p>
            <a:r>
              <a:rPr lang="en-US" dirty="0"/>
              <a:t> - Safety/display options: Exclude deleted devices/objects, display data in browser (auto-disabled if result exceeds 10,000 rows), bypass 10k display</a:t>
            </a:r>
          </a:p>
          <a:p>
            <a:r>
              <a:rPr lang="en-US" dirty="0"/>
              <a:t>   limit.</a:t>
            </a:r>
          </a:p>
          <a:p>
            <a:r>
              <a:rPr lang="en-US" dirty="0"/>
              <a:t> - Provides a raw statistics export/query tool for bulk indicator data across device groups.</a:t>
            </a:r>
          </a:p>
          <a:p>
            <a:endParaRPr lang="en-US" dirty="0"/>
          </a:p>
          <a:p>
            <a:r>
              <a:rPr lang="en-US" dirty="0"/>
              <a:t> #### OID Validator</a:t>
            </a:r>
          </a:p>
          <a:p>
            <a:endParaRPr lang="en-US" dirty="0"/>
          </a:p>
          <a:p>
            <a:r>
              <a:rPr lang="en-US" dirty="0"/>
              <a:t> - Select target devices by group, select tree branch (parent group), enter an OID, click Validate.</a:t>
            </a:r>
          </a:p>
          <a:p>
            <a:r>
              <a:rPr lang="en-US" dirty="0"/>
              <a:t> - Verifies that a given SNMP OID resolves/returns data on representative devices before rolling out a monitoring rule.</a:t>
            </a:r>
          </a:p>
          <a:p>
            <a:endParaRPr lang="en-US" dirty="0"/>
          </a:p>
          <a:p>
            <a:r>
              <a:rPr lang="en-US" dirty="0"/>
              <a:t> #### Device Deviations Dashboard</a:t>
            </a:r>
          </a:p>
          <a:p>
            <a:endParaRPr lang="en-US" dirty="0"/>
          </a:p>
          <a:p>
            <a:r>
              <a:rPr lang="en-US" dirty="0"/>
              <a:t> - Displays large red counters with drill-down lists for:</a:t>
            </a:r>
          </a:p>
          <a:p>
            <a:r>
              <a:rPr lang="en-US" dirty="0"/>
              <a:t>     - Devices not responding to SNMP/ICMP during the last discovery.</a:t>
            </a:r>
          </a:p>
          <a:p>
            <a:r>
              <a:rPr lang="en-US" dirty="0"/>
              <a:t>     - Active devices with zero objects.</a:t>
            </a:r>
          </a:p>
          <a:p>
            <a:r>
              <a:rPr lang="en-US" dirty="0"/>
              <a:t>     - Deleted devices with active objects.</a:t>
            </a:r>
          </a:p>
          <a:p>
            <a:r>
              <a:rPr lang="en-US" dirty="0"/>
              <a:t>     - All devices in new state.</a:t>
            </a:r>
          </a:p>
          <a:p>
            <a:r>
              <a:rPr lang="en-US" dirty="0"/>
              <a:t>     - Active devices with SNMP/ICMP plugin disabled.</a:t>
            </a:r>
          </a:p>
          <a:p>
            <a:r>
              <a:rPr lang="en-US" dirty="0"/>
              <a:t>     - Active devices with polling disabled.</a:t>
            </a:r>
          </a:p>
          <a:p>
            <a:r>
              <a:rPr lang="en-US" dirty="0"/>
              <a:t> - Provides a data-quality / health scorecard at the device level.</a:t>
            </a:r>
          </a:p>
          <a:p>
            <a:endParaRPr lang="en-US" dirty="0"/>
          </a:p>
          <a:p>
            <a:r>
              <a:rPr lang="en-US" dirty="0"/>
              <a:t> #### System Anomalies Dashboard</a:t>
            </a:r>
          </a:p>
          <a:p>
            <a:endParaRPr lang="en-US" dirty="0"/>
          </a:p>
          <a:p>
            <a:r>
              <a:rPr lang="en-US" dirty="0"/>
              <a:t> - Displays large red counters focused on grouping/structure problems, with drill-down lists for:</a:t>
            </a:r>
          </a:p>
          <a:p>
            <a:r>
              <a:rPr lang="en-US" dirty="0"/>
              <a:t>     - Empty leaf device and device type groups.</a:t>
            </a:r>
          </a:p>
          <a:p>
            <a:r>
              <a:rPr lang="en-US" dirty="0"/>
              <a:t>     - Empty Object Groups.</a:t>
            </a:r>
          </a:p>
          <a:p>
            <a:r>
              <a:rPr lang="en-US" dirty="0"/>
              <a:t>     - Object groups which do not follow custom hierarchy.</a:t>
            </a:r>
          </a:p>
          <a:p>
            <a:r>
              <a:rPr lang="en-US" dirty="0"/>
              <a:t>     - Object groups over 1000 members.</a:t>
            </a:r>
          </a:p>
          <a:p>
            <a:r>
              <a:rPr lang="en-US" dirty="0"/>
              <a:t> - Surfaces group-hygiene issues.</a:t>
            </a:r>
          </a:p>
          <a:p>
            <a:endParaRPr lang="en-US" dirty="0"/>
          </a:p>
          <a:p>
            <a:r>
              <a:rPr lang="en-US" dirty="0"/>
              <a:t> #### OG (Object Group) Tree Viewer</a:t>
            </a:r>
          </a:p>
          <a:p>
            <a:endParaRPr lang="en-US" dirty="0"/>
          </a:p>
          <a:p>
            <a:r>
              <a:rPr lang="en-US" dirty="0"/>
              <a:t> - Search by Group name and/or Group id.</a:t>
            </a:r>
          </a:p>
          <a:p>
            <a:r>
              <a:rPr lang="en-US" dirty="0"/>
              <a:t> - Toggle switches: Show class, Show members, Show bind type.</a:t>
            </a:r>
          </a:p>
          <a:p>
            <a:r>
              <a:rPr lang="en-US" dirty="0"/>
              <a:t> - Provides a general-purpose explorer for navigating/inspecting the object group hierarchy.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Control</a:t>
            </a:r>
          </a:p>
          <a:p>
            <a:endParaRPr lang="en-US" dirty="0"/>
          </a:p>
          <a:p>
            <a:r>
              <a:rPr lang="en-US" dirty="0"/>
              <a:t> Offers deep insights into the system's internals:</a:t>
            </a:r>
          </a:p>
          <a:p>
            <a:endParaRPr lang="en-US" dirty="0"/>
          </a:p>
          <a:p>
            <a:r>
              <a:rPr lang="en-US" dirty="0"/>
              <a:t> #### System Statistics</a:t>
            </a:r>
          </a:p>
          <a:p>
            <a:endParaRPr lang="en-US" dirty="0"/>
          </a:p>
          <a:p>
            <a:r>
              <a:rPr lang="en-US" dirty="0"/>
              <a:t> - Generic Statistics: Number of active devices, virtual devices, deleted devices, peers/appliances, device groups, object groups, average enabled/disabled</a:t>
            </a:r>
          </a:p>
          <a:p>
            <a:r>
              <a:rPr lang="en-US" dirty="0"/>
              <a:t>   object usage per device, total enabled/disabled object counts, total enabled indicator count.</a:t>
            </a:r>
          </a:p>
          <a:p>
            <a:r>
              <a:rPr lang="en-US" dirty="0"/>
              <a:t> - Object Statistics: Per-server breakdown of enabled/disabled/deleted/visible/hidden/total object counts.</a:t>
            </a:r>
          </a:p>
          <a:p>
            <a:r>
              <a:rPr lang="en-US" dirty="0"/>
              <a:t> - Indicator Statistics: Per-server breakdown of enabled/disabled/deleted/total indicator counts.</a:t>
            </a:r>
          </a:p>
          <a:p>
            <a:r>
              <a:rPr lang="en-US" dirty="0"/>
              <a:t> - Provides capacity planning and system-wide health at a glance.</a:t>
            </a:r>
          </a:p>
          <a:p>
            <a:endParaRPr lang="en-US" dirty="0"/>
          </a:p>
          <a:p>
            <a:r>
              <a:rPr lang="en-US" dirty="0"/>
              <a:t> #### Device Statistics</a:t>
            </a:r>
          </a:p>
          <a:p>
            <a:endParaRPr lang="en-US" dirty="0"/>
          </a:p>
          <a:p>
            <a:r>
              <a:rPr lang="en-US" dirty="0"/>
              <a:t> - Per-device table: device name, last discovery date, days since last discovery, peer (</a:t>
            </a:r>
            <a:r>
              <a:rPr lang="en-US" dirty="0" err="1"/>
              <a:t>SevOne</a:t>
            </a:r>
            <a:r>
              <a:rPr lang="en-US" dirty="0"/>
              <a:t> appliance/collector), enabled object count, disabled object</a:t>
            </a:r>
          </a:p>
          <a:p>
            <a:r>
              <a:rPr lang="en-US" dirty="0"/>
              <a:t>   count.</a:t>
            </a:r>
          </a:p>
          <a:p>
            <a:r>
              <a:rPr lang="en-US" dirty="0"/>
              <a:t> - Acts as a sortable/scrollable master list of every device with its discovery freshness and object counts.</a:t>
            </a:r>
          </a:p>
          <a:p>
            <a:endParaRPr lang="en-US" dirty="0"/>
          </a:p>
          <a:p>
            <a:r>
              <a:rPr lang="en-US" dirty="0"/>
              <a:t> #### Control Groups</a:t>
            </a:r>
          </a:p>
          <a:p>
            <a:endParaRPr lang="en-US" dirty="0"/>
          </a:p>
          <a:p>
            <a:r>
              <a:rPr lang="en-US" dirty="0"/>
              <a:t> - "Get all control groups" or "Get control groups where device is pinned" (enter a device name).</a:t>
            </a:r>
          </a:p>
          <a:p>
            <a:r>
              <a:rPr lang="en-US" dirty="0"/>
              <a:t> - Shows the Control Device Groups level structure: [</a:t>
            </a:r>
            <a:r>
              <a:rPr lang="en-US" dirty="0" err="1"/>
              <a:t>PlatformCategory</a:t>
            </a:r>
            <a:r>
              <a:rPr lang="en-US" dirty="0"/>
              <a:t>] → [</a:t>
            </a:r>
            <a:r>
              <a:rPr lang="en-US" dirty="0" err="1"/>
              <a:t>PlatformClass</a:t>
            </a:r>
            <a:r>
              <a:rPr lang="en-US" dirty="0"/>
              <a:t>] → [</a:t>
            </a:r>
            <a:r>
              <a:rPr lang="en-US" dirty="0" err="1"/>
              <a:t>PlatformGroup</a:t>
            </a:r>
            <a:r>
              <a:rPr lang="en-US" dirty="0"/>
              <a:t>] → [</a:t>
            </a:r>
            <a:r>
              <a:rPr lang="en-US" dirty="0" err="1"/>
              <a:t>PlatformType</a:t>
            </a:r>
            <a:r>
              <a:rPr lang="en-US" dirty="0"/>
              <a:t>].</a:t>
            </a:r>
          </a:p>
          <a:p>
            <a:r>
              <a:rPr lang="en-US" dirty="0"/>
              <a:t> - Inspects which Control Device Group(s) a given device is pinned to.</a:t>
            </a:r>
          </a:p>
          <a:p>
            <a:endParaRPr lang="en-US" dirty="0"/>
          </a:p>
          <a:p>
            <a:r>
              <a:rPr lang="en-US" dirty="0"/>
              <a:t> #### Constants</a:t>
            </a:r>
          </a:p>
          <a:p>
            <a:endParaRPr lang="en-US" dirty="0"/>
          </a:p>
          <a:p>
            <a:r>
              <a:rPr lang="en-US" dirty="0"/>
              <a:t> - Raw File Display of a PHP constants file (system-wide configuration constants).</a:t>
            </a:r>
          </a:p>
          <a:p>
            <a:r>
              <a:rPr lang="en-US" dirty="0"/>
              <a:t> - Provides a read-only view into root-level naming/config constants.</a:t>
            </a:r>
          </a:p>
          <a:p>
            <a:endParaRPr lang="en-US" dirty="0"/>
          </a:p>
          <a:p>
            <a:r>
              <a:rPr lang="en-US" dirty="0"/>
              <a:t> #### Rules Generic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/_RULES_GENERIC.ini.</a:t>
            </a:r>
          </a:p>
          <a:p>
            <a:r>
              <a:rPr lang="en-US" dirty="0"/>
              <a:t> - Determines which object types are associated with devices during the DEVICEPINNER provisioning process (phase 2).</a:t>
            </a:r>
          </a:p>
          <a:p>
            <a:r>
              <a:rPr lang="en-US" dirty="0"/>
              <a:t> - Devices are pinned to Device Type Groups, which are the file's key values; the object types listed under each Device Type Group get associated with</a:t>
            </a:r>
          </a:p>
          <a:p>
            <a:r>
              <a:rPr lang="en-US" dirty="0"/>
              <a:t>   those devices.</a:t>
            </a:r>
          </a:p>
          <a:p>
            <a:endParaRPr lang="en-US" dirty="0"/>
          </a:p>
          <a:p>
            <a:r>
              <a:rPr lang="en-US" dirty="0"/>
              <a:t> #### Rules Advanced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/_RULES_ADVANCED.ini.</a:t>
            </a:r>
          </a:p>
          <a:p>
            <a:r>
              <a:rPr lang="en-US" dirty="0"/>
              <a:t> - Determines which additional object types are associated with devices during DEVICEPINNER phase 2, but keyed by TAGS (device-specific object-type</a:t>
            </a:r>
          </a:p>
          <a:p>
            <a:r>
              <a:rPr lang="en-US" dirty="0"/>
              <a:t>   binding).</a:t>
            </a:r>
          </a:p>
          <a:p>
            <a:r>
              <a:rPr lang="en-US" dirty="0"/>
              <a:t> - Example: Enabling "Logical Interface" (SAP) SNMP query for devices tagged with "sap".</a:t>
            </a:r>
          </a:p>
          <a:p>
            <a:endParaRPr lang="en-US" dirty="0"/>
          </a:p>
          <a:p>
            <a:r>
              <a:rPr lang="en-US" dirty="0"/>
              <a:t> #### Rules Enable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/_RULES_ENABLE_OBJECTS.ini.</a:t>
            </a:r>
          </a:p>
          <a:p>
            <a:r>
              <a:rPr lang="en-US" dirty="0"/>
              <a:t> - Determines which of the (previously discovered-but-disabled) objects actually get enabled during the DISCOVERYPOLLER phase (phase 3).</a:t>
            </a:r>
          </a:p>
          <a:p>
            <a:r>
              <a:rPr lang="en-US" dirty="0"/>
              <a:t> - Rule structure: </a:t>
            </a:r>
            <a:r>
              <a:rPr lang="en-US" dirty="0" err="1"/>
              <a:t>match_objtype</a:t>
            </a:r>
            <a:r>
              <a:rPr lang="en-US" dirty="0"/>
              <a:t>, </a:t>
            </a:r>
            <a:r>
              <a:rPr lang="en-US" dirty="0" err="1"/>
              <a:t>match_tag</a:t>
            </a:r>
            <a:r>
              <a:rPr lang="en-US" dirty="0"/>
              <a:t>, </a:t>
            </a:r>
            <a:r>
              <a:rPr lang="en-US" dirty="0" err="1"/>
              <a:t>match_regex</a:t>
            </a:r>
            <a:r>
              <a:rPr lang="en-US" dirty="0"/>
              <a:t>, </a:t>
            </a:r>
            <a:r>
              <a:rPr lang="en-US" dirty="0" err="1"/>
              <a:t>match_column</a:t>
            </a:r>
            <a:r>
              <a:rPr lang="en-US" dirty="0"/>
              <a:t>, </a:t>
            </a:r>
            <a:r>
              <a:rPr lang="en-US" dirty="0" err="1"/>
              <a:t>match_plugin</a:t>
            </a:r>
            <a:r>
              <a:rPr lang="en-US" dirty="0"/>
              <a:t>, </a:t>
            </a:r>
            <a:r>
              <a:rPr lang="en-US" dirty="0" err="1"/>
              <a:t>platformCategory</a:t>
            </a:r>
            <a:r>
              <a:rPr lang="en-US" dirty="0"/>
              <a:t>[], </a:t>
            </a:r>
            <a:r>
              <a:rPr lang="en-US" dirty="0" err="1"/>
              <a:t>platformClass</a:t>
            </a:r>
            <a:r>
              <a:rPr lang="en-US" dirty="0"/>
              <a:t>[], </a:t>
            </a:r>
            <a:r>
              <a:rPr lang="en-US" dirty="0" err="1"/>
              <a:t>platformType</a:t>
            </a:r>
            <a:r>
              <a:rPr lang="en-US" dirty="0"/>
              <a:t>[].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Change Reports</a:t>
            </a:r>
          </a:p>
          <a:p>
            <a:endParaRPr lang="en-US" dirty="0"/>
          </a:p>
          <a:p>
            <a:r>
              <a:rPr lang="en-US" dirty="0"/>
              <a:t> - Select Group Type: Device or Object.</a:t>
            </a:r>
          </a:p>
          <a:p>
            <a:r>
              <a:rPr lang="en-US" dirty="0"/>
              <a:t> - Select Date 1 and Date 2 for comparison.</a:t>
            </a:r>
          </a:p>
          <a:p>
            <a:r>
              <a:rPr lang="en-US" dirty="0"/>
              <a:t> - Provides results in the "Change Report Results" panel.</a:t>
            </a:r>
          </a:p>
          <a:p>
            <a:r>
              <a:rPr lang="en-US" dirty="0"/>
              <a:t> - Acts as a diff/audit tool for changes in devices, objects, and groups over time.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Reports</a:t>
            </a:r>
          </a:p>
          <a:p>
            <a:endParaRPr lang="en-US" dirty="0"/>
          </a:p>
          <a:p>
            <a:r>
              <a:rPr lang="en-US" dirty="0"/>
              <a:t> - A single dropdown listing many pre-built, named reports.</a:t>
            </a:r>
          </a:p>
          <a:p>
            <a:r>
              <a:rPr lang="en-US" dirty="0"/>
              <a:t> - Reports include:</a:t>
            </a:r>
          </a:p>
          <a:p>
            <a:r>
              <a:rPr lang="en-US" dirty="0"/>
              <a:t>     - Ari </a:t>
            </a:r>
            <a:r>
              <a:rPr lang="en-US" dirty="0" err="1"/>
              <a:t>testaa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generic device category</a:t>
            </a:r>
          </a:p>
          <a:p>
            <a:r>
              <a:rPr lang="en-US" dirty="0"/>
              <a:t>     - </a:t>
            </a:r>
            <a:r>
              <a:rPr lang="en-US" dirty="0" err="1"/>
              <a:t>Autosummary</a:t>
            </a:r>
            <a:r>
              <a:rPr lang="en-US" dirty="0"/>
              <a:t> validation report</a:t>
            </a:r>
          </a:p>
          <a:p>
            <a:r>
              <a:rPr lang="en-US" dirty="0"/>
              <a:t>     - Device group rule report</a:t>
            </a:r>
          </a:p>
          <a:p>
            <a:r>
              <a:rPr lang="en-US" dirty="0"/>
              <a:t>     - Double device report</a:t>
            </a:r>
          </a:p>
          <a:p>
            <a:r>
              <a:rPr lang="en-US" dirty="0"/>
              <a:t>     - Dump </a:t>
            </a:r>
            <a:r>
              <a:rPr lang="en-US" dirty="0" err="1"/>
              <a:t>snet</a:t>
            </a:r>
            <a:r>
              <a:rPr lang="en-US" dirty="0"/>
              <a:t> latest</a:t>
            </a:r>
          </a:p>
          <a:p>
            <a:r>
              <a:rPr lang="en-US" dirty="0"/>
              <a:t>     - Dump spare part inventory latest</a:t>
            </a:r>
          </a:p>
          <a:p>
            <a:r>
              <a:rPr lang="en-US" dirty="0"/>
              <a:t>     - Dump spare part material latest</a:t>
            </a:r>
          </a:p>
          <a:p>
            <a:r>
              <a:rPr lang="en-US" dirty="0"/>
              <a:t>     - Exporter group report</a:t>
            </a:r>
          </a:p>
          <a:p>
            <a:r>
              <a:rPr lang="en-US" dirty="0"/>
              <a:t>     - Exporter group report locate to-be-removed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with details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uncategorized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print uncategorized</a:t>
            </a:r>
          </a:p>
          <a:p>
            <a:r>
              <a:rPr lang="en-US" dirty="0"/>
              <a:t>     - Generic device category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deviceroles.properties</a:t>
            </a:r>
            <a:endParaRPr lang="en-US" dirty="0"/>
          </a:p>
          <a:p>
            <a:r>
              <a:rPr lang="en-US" dirty="0"/>
              <a:t>     - Install base all by chassis model name</a:t>
            </a:r>
          </a:p>
          <a:p>
            <a:r>
              <a:rPr lang="en-US" dirty="0"/>
              <a:t>     - Install base all by chassis part number</a:t>
            </a:r>
          </a:p>
          <a:p>
            <a:r>
              <a:rPr lang="en-US" dirty="0"/>
              <a:t> - Provides a library of canned/scheduled-style reports for cross-checking device categorization, validating install-base/hardware inventory, and</a:t>
            </a:r>
          </a:p>
          <a:p>
            <a:r>
              <a:rPr lang="en-US" dirty="0"/>
              <a:t>   identifying duplicate devices or stale exporter groups.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External Data</a:t>
            </a:r>
          </a:p>
          <a:p>
            <a:endParaRPr lang="en-US" dirty="0"/>
          </a:p>
          <a:p>
            <a:r>
              <a:rPr lang="en-US" dirty="0"/>
              <a:t> Tracks the health of external data feeds:</a:t>
            </a:r>
          </a:p>
          <a:p>
            <a:endParaRPr lang="en-US" dirty="0"/>
          </a:p>
          <a:p>
            <a:r>
              <a:rPr lang="en-US" dirty="0"/>
              <a:t> #### External Data Overview</a:t>
            </a:r>
          </a:p>
          <a:p>
            <a:endParaRPr lang="en-US" dirty="0"/>
          </a:p>
          <a:p>
            <a:r>
              <a:rPr lang="en-US" dirty="0"/>
              <a:t> - Table columns: System, Content, Path, Filename, Rows, Cols, </a:t>
            </a:r>
            <a:r>
              <a:rPr lang="en-US" dirty="0" err="1"/>
              <a:t>Filetime</a:t>
            </a:r>
            <a:r>
              <a:rPr lang="en-US" dirty="0"/>
              <a:t>, </a:t>
            </a:r>
            <a:r>
              <a:rPr lang="en-US" dirty="0" err="1"/>
              <a:t>Filesize</a:t>
            </a:r>
            <a:r>
              <a:rPr lang="en-US" dirty="0"/>
              <a:t>.</a:t>
            </a:r>
          </a:p>
          <a:p>
            <a:r>
              <a:rPr lang="en-US" dirty="0"/>
              <a:t> - Feeds include:</a:t>
            </a:r>
          </a:p>
          <a:p>
            <a:r>
              <a:rPr lang="en-US" dirty="0"/>
              <a:t>     - SAP ERP: Material Data, Stock Inventory Data</a:t>
            </a:r>
          </a:p>
          <a:p>
            <a:r>
              <a:rPr lang="en-US" dirty="0"/>
              <a:t>     - SM/O L2: Termination and Service Data, SAP and Service Data</a:t>
            </a:r>
          </a:p>
          <a:p>
            <a:r>
              <a:rPr lang="en-US" dirty="0"/>
              <a:t>     - TOMAATTI: Device Data, Customer Data, Product and Subscription Data</a:t>
            </a:r>
          </a:p>
          <a:p>
            <a:r>
              <a:rPr lang="en-US" dirty="0"/>
              <a:t>     - MIT: Product and Subscription Data</a:t>
            </a:r>
          </a:p>
          <a:p>
            <a:r>
              <a:rPr lang="en-US" dirty="0"/>
              <a:t>     - SATELLITE SYSTEMS: SNET Device Data</a:t>
            </a:r>
          </a:p>
          <a:p>
            <a:r>
              <a:rPr lang="en-US" dirty="0"/>
              <a:t>     - SM/O: Link Data</a:t>
            </a:r>
          </a:p>
          <a:p>
            <a:r>
              <a:rPr lang="en-US" dirty="0"/>
              <a:t>     - NOORA (import): Filtered L2 Service Data, Previous L2 Service Data</a:t>
            </a:r>
          </a:p>
          <a:p>
            <a:endParaRPr lang="en-US" dirty="0"/>
          </a:p>
          <a:p>
            <a:r>
              <a:rPr lang="en-US" dirty="0"/>
              <a:t> #### External Data Validation</a:t>
            </a:r>
          </a:p>
          <a:p>
            <a:endParaRPr lang="en-US" dirty="0"/>
          </a:p>
          <a:p>
            <a:r>
              <a:rPr lang="en-US" dirty="0"/>
              <a:t> - Validates file existence, readability, date check, data parsing, parsed rows, and parsing time.</a:t>
            </a:r>
          </a:p>
          <a:p>
            <a:r>
              <a:rPr lang="en-US" dirty="0"/>
              <a:t> - Provides a health check for upstream files feeding provisioning/enrichment.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Device Dashboard</a:t>
            </a:r>
          </a:p>
          <a:p>
            <a:endParaRPr lang="en-US" dirty="0"/>
          </a:p>
          <a:p>
            <a:r>
              <a:rPr lang="en-US" dirty="0"/>
              <a:t> - Device selector: Searchable dropdown or free-text field.</a:t>
            </a:r>
          </a:p>
          <a:p>
            <a:r>
              <a:rPr lang="en-US" dirty="0"/>
              <a:t> - Labeled "Device Dashboard v1.6".</a:t>
            </a:r>
          </a:p>
          <a:p>
            <a:r>
              <a:rPr lang="en-US" dirty="0"/>
              <a:t> - Header row: device name, location/description, quick links to Splunk, Sense, Rasmus, Horizon, Health.</a:t>
            </a:r>
          </a:p>
          <a:p>
            <a:r>
              <a:rPr lang="en-US" dirty="0"/>
              <a:t> - Time range selector: Hour / Day / 3 Days / Week / Month / 3 Months / Custom.</a:t>
            </a:r>
          </a:p>
          <a:p>
            <a:r>
              <a:rPr lang="en-US" dirty="0"/>
              <a:t> - Staleness warning banner: Flags when upstream SM/O data hasn't refreshed in a long time.</a:t>
            </a:r>
          </a:p>
          <a:p>
            <a:r>
              <a:rPr lang="en-US" dirty="0"/>
              <a:t> - Sub-links: Basic, Hardware, Interface, Inventory, Info.</a:t>
            </a:r>
          </a:p>
          <a:p>
            <a:r>
              <a:rPr lang="en-US" dirty="0"/>
              <a:t> - Monitored Interfaces: List of clickable interfaces with connection details.</a:t>
            </a:r>
          </a:p>
          <a:p>
            <a:r>
              <a:rPr lang="en-US" dirty="0"/>
              <a:t> - Graphs/panels:</a:t>
            </a:r>
          </a:p>
          <a:p>
            <a:r>
              <a:rPr lang="en-US" dirty="0"/>
              <a:t>     - ICMP Availability (%)</a:t>
            </a:r>
          </a:p>
          <a:p>
            <a:r>
              <a:rPr lang="en-US" dirty="0"/>
              <a:t>     - SNMP Responsiveness (%)</a:t>
            </a:r>
          </a:p>
          <a:p>
            <a:r>
              <a:rPr lang="en-US" dirty="0"/>
              <a:t>     - Uptime Counter</a:t>
            </a:r>
          </a:p>
          <a:p>
            <a:r>
              <a:rPr lang="en-US" dirty="0"/>
              <a:t>     - ICMP Jitter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Maximum ping time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Packet loss (%) with summary table</a:t>
            </a:r>
          </a:p>
          <a:p>
            <a:r>
              <a:rPr lang="en-US" dirty="0"/>
              <a:t>     - CPU Utilization (%) with per-logical CPU breakdown</a:t>
            </a:r>
          </a:p>
          <a:p>
            <a:r>
              <a:rPr lang="en-US" dirty="0"/>
              <a:t>     - Memory Utilization (%) with per-process breakdown</a:t>
            </a:r>
          </a:p>
          <a:p>
            <a:r>
              <a:rPr lang="en-US" dirty="0"/>
              <a:t>     - Active Alerts panel</a:t>
            </a:r>
          </a:p>
          <a:p>
            <a:r>
              <a:rPr lang="en-US" dirty="0"/>
              <a:t> - Provides a single-pane-of-glass device view for triaging device health.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B4A68-459B-BD6B-7FFC-79D4CFFB1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02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CB40C-02DD-1278-1E8D-B0E31D89A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742D6-DB77-A1BD-5237-C0EF189BF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C6C96-6C94-B9AC-FCFC-4F4A27CD7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Observed Topics for </a:t>
            </a:r>
            <a:r>
              <a:rPr lang="en-US" dirty="0" err="1"/>
              <a:t>SevOne</a:t>
            </a:r>
            <a:r>
              <a:rPr lang="en-US" dirty="0"/>
              <a:t> Dashboard</a:t>
            </a:r>
          </a:p>
          <a:p>
            <a:endParaRPr lang="en-US" dirty="0"/>
          </a:p>
          <a:p>
            <a:r>
              <a:rPr lang="en-US" dirty="0"/>
              <a:t> Real-time monitoring and troubleshooting capabilities</a:t>
            </a:r>
          </a:p>
          <a:p>
            <a:r>
              <a:rPr lang="en-US" dirty="0"/>
              <a:t> Historical data and trends for capacity planning</a:t>
            </a:r>
          </a:p>
          <a:p>
            <a:r>
              <a:rPr lang="en-US" dirty="0"/>
              <a:t> Performance metrics collection and analysis</a:t>
            </a:r>
          </a:p>
          <a:p>
            <a:r>
              <a:rPr lang="en-US" dirty="0"/>
              <a:t> Customizable dashboards for network surveillance</a:t>
            </a:r>
          </a:p>
          <a:p>
            <a:r>
              <a:rPr lang="en-US" dirty="0"/>
              <a:t> Integration with external systems like SM/O and Neli</a:t>
            </a:r>
          </a:p>
          <a:p>
            <a:r>
              <a:rPr lang="en-US" dirty="0"/>
              <a:t> Data collection via SNMP polling</a:t>
            </a:r>
          </a:p>
          <a:p>
            <a:r>
              <a:rPr lang="en-US" dirty="0"/>
              <a:t> Data processing and storage in Noora’s database</a:t>
            </a:r>
          </a:p>
          <a:p>
            <a:r>
              <a:rPr lang="en-US" dirty="0"/>
              <a:t> Data visualization through dashboards and reports</a:t>
            </a:r>
          </a:p>
          <a:p>
            <a:endParaRPr lang="en-US" dirty="0"/>
          </a:p>
          <a:p>
            <a:r>
              <a:rPr lang="en-US" dirty="0"/>
              <a:t> Key Learnings for </a:t>
            </a:r>
            <a:r>
              <a:rPr lang="en-US" dirty="0" err="1"/>
              <a:t>SevOne</a:t>
            </a:r>
            <a:r>
              <a:rPr lang="en-US" dirty="0"/>
              <a:t> Dashboard</a:t>
            </a:r>
          </a:p>
          <a:p>
            <a:endParaRPr lang="en-US" dirty="0"/>
          </a:p>
          <a:p>
            <a:r>
              <a:rPr lang="en-US" dirty="0"/>
              <a:t> Understanding of </a:t>
            </a:r>
            <a:r>
              <a:rPr lang="en-US" dirty="0" err="1"/>
              <a:t>SevOne’s</a:t>
            </a:r>
            <a:r>
              <a:rPr lang="en-US" dirty="0"/>
              <a:t> role as the core monitoring and reporting platform</a:t>
            </a:r>
          </a:p>
          <a:p>
            <a:r>
              <a:rPr lang="en-US" dirty="0"/>
              <a:t> Insight into performance metrics and their impact on network health</a:t>
            </a:r>
          </a:p>
          <a:p>
            <a:r>
              <a:rPr lang="en-US" dirty="0"/>
              <a:t> Familiarity with alert management and reporting tools</a:t>
            </a:r>
          </a:p>
          <a:p>
            <a:r>
              <a:rPr lang="en-US" dirty="0"/>
              <a:t> Knowledge of SNMP polling and its role in data collection</a:t>
            </a:r>
          </a:p>
          <a:p>
            <a:r>
              <a:rPr lang="en-US" dirty="0"/>
              <a:t> Understanding of data processing, storage, and visualization workflows</a:t>
            </a:r>
          </a:p>
          <a:p>
            <a:r>
              <a:rPr lang="en-US" dirty="0"/>
              <a:t> Awareness of </a:t>
            </a:r>
            <a:r>
              <a:rPr lang="en-US" dirty="0" err="1"/>
              <a:t>SevOne’s</a:t>
            </a:r>
            <a:r>
              <a:rPr lang="en-US" dirty="0"/>
              <a:t> integration with external systems like SM/O and Neli</a:t>
            </a:r>
          </a:p>
          <a:p>
            <a:r>
              <a:rPr lang="en-US" dirty="0"/>
              <a:t> Ability to customize dashboards for specific monitoring needs</a:t>
            </a:r>
          </a:p>
          <a:p>
            <a:r>
              <a:rPr lang="en-US" dirty="0"/>
              <a:t> Skills in troubleshooting and resolving network issues using </a:t>
            </a:r>
            <a:r>
              <a:rPr lang="en-US" dirty="0" err="1"/>
              <a:t>SevOne</a:t>
            </a:r>
            <a:r>
              <a:rPr lang="en-US" dirty="0"/>
              <a:t> tools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97611-504F-EA3F-6915-B4DFE347F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53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B790D-75FD-1B3B-DBB3-F3BA6DEB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EAC9D-909C-A543-09C4-871B734BA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2C4C-EF08-E37D-B6E6-D29BAC8E4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Here is a more detailed description for each of the smaller features within the Noora Health Portal: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Action Required</a:t>
            </a:r>
          </a:p>
          <a:p>
            <a:endParaRPr lang="en-US" dirty="0"/>
          </a:p>
          <a:p>
            <a:r>
              <a:rPr lang="en-US" dirty="0"/>
              <a:t> Surfaces devices that require manual intervention due to failures in the automated provisioning process. This includes:</a:t>
            </a:r>
          </a:p>
          <a:p>
            <a:r>
              <a:rPr lang="en-US" dirty="0"/>
              <a:t> - New devices which did not respond to SNMP: Devices discovered but SNMP polling failed.</a:t>
            </a:r>
          </a:p>
          <a:p>
            <a:r>
              <a:rPr lang="en-US" dirty="0"/>
              <a:t> - New devices which are missing device OS support: Devices discovered successfully but their OS isn't supported/mapped by the system yet.</a:t>
            </a:r>
          </a:p>
          <a:p>
            <a:r>
              <a:rPr lang="en-US" dirty="0"/>
              <a:t> - New devices which are missing device control grouping: Devices that haven't been pinned into a Control Device Group, so the automated rules have nothing</a:t>
            </a:r>
          </a:p>
          <a:p>
            <a:r>
              <a:rPr lang="en-US" dirty="0"/>
              <a:t>   to act on.</a:t>
            </a:r>
          </a:p>
          <a:p>
            <a:r>
              <a:rPr lang="en-US" dirty="0"/>
              <a:t> - Provides a re-provision action button per row for manual intervention.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Provisioning Control</a:t>
            </a:r>
          </a:p>
          <a:p>
            <a:endParaRPr lang="en-US" dirty="0"/>
          </a:p>
          <a:p>
            <a:r>
              <a:rPr lang="en-US" dirty="0"/>
              <a:t> Provides a live view of the auto-provisioning pipeline, including:</a:t>
            </a:r>
          </a:p>
          <a:p>
            <a:r>
              <a:rPr lang="en-US" dirty="0"/>
              <a:t> - Devices currently under provisioning: In-flight devices showing device ID, enabled object count, current provisioning phase, last discovery time/age,</a:t>
            </a:r>
          </a:p>
          <a:p>
            <a:r>
              <a:rPr lang="en-US" dirty="0"/>
              <a:t>   discovery status, and whether it's "stuck."</a:t>
            </a:r>
          </a:p>
          <a:p>
            <a:r>
              <a:rPr lang="en-US" dirty="0"/>
              <a:t> - Most recent finished </a:t>
            </a:r>
            <a:r>
              <a:rPr lang="en-US" dirty="0" err="1"/>
              <a:t>provisionings</a:t>
            </a:r>
            <a:r>
              <a:rPr lang="en-US" dirty="0"/>
              <a:t>: Completed runs showing finish time, device name/ID, enabled object count, final provisioning state, and last</a:t>
            </a:r>
          </a:p>
          <a:p>
            <a:r>
              <a:rPr lang="en-US" dirty="0"/>
              <a:t>   discovery info.</a:t>
            </a:r>
          </a:p>
          <a:p>
            <a:r>
              <a:rPr lang="en-US" dirty="0"/>
              <a:t> - Most recent provisioning errors: Failed runs with log entries explaining the failure (e.g., </a:t>
            </a:r>
            <a:r>
              <a:rPr lang="en-US" dirty="0" err="1"/>
              <a:t>DevicePinner</a:t>
            </a:r>
            <a:r>
              <a:rPr lang="en-US" dirty="0"/>
              <a:t>: Unsupported device, </a:t>
            </a:r>
            <a:r>
              <a:rPr lang="en-US" dirty="0" err="1"/>
              <a:t>DiscoveryPoller</a:t>
            </a:r>
            <a:r>
              <a:rPr lang="en-US" dirty="0"/>
              <a:t>: looks</a:t>
            </a:r>
          </a:p>
          <a:p>
            <a:r>
              <a:rPr lang="en-US" dirty="0"/>
              <a:t>   like we got no XML document data).</a:t>
            </a:r>
          </a:p>
          <a:p>
            <a:r>
              <a:rPr lang="en-US" dirty="0"/>
              <a:t> - All devices currently in native discovery: Devices </a:t>
            </a:r>
            <a:r>
              <a:rPr lang="en-US" dirty="0" err="1"/>
              <a:t>SevOne</a:t>
            </a:r>
            <a:r>
              <a:rPr lang="en-US" dirty="0"/>
              <a:t> is natively discovering.</a:t>
            </a:r>
          </a:p>
          <a:p>
            <a:r>
              <a:rPr lang="en-US" dirty="0"/>
              <a:t> - Offers re-provision buttons for errored devices.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Tools</a:t>
            </a:r>
          </a:p>
          <a:p>
            <a:endParaRPr lang="en-US" dirty="0"/>
          </a:p>
          <a:p>
            <a:r>
              <a:rPr lang="en-US" dirty="0"/>
              <a:t> A set of diagnostic and query tools for administrators:</a:t>
            </a:r>
          </a:p>
          <a:p>
            <a:endParaRPr lang="en-US" dirty="0"/>
          </a:p>
          <a:p>
            <a:r>
              <a:rPr lang="en-US" dirty="0"/>
              <a:t> #### Device Data Query</a:t>
            </a:r>
          </a:p>
          <a:p>
            <a:endParaRPr lang="en-US" dirty="0"/>
          </a:p>
          <a:p>
            <a:r>
              <a:rPr lang="en-US" dirty="0"/>
              <a:t> - Query a specific device by name.</a:t>
            </a:r>
          </a:p>
          <a:p>
            <a:r>
              <a:rPr lang="en-US" dirty="0"/>
              <a:t> - Select categories of data to pull: Basic/Provisioning Data, Object Data, Group Data, Link Data, Alert Data.</a:t>
            </a:r>
          </a:p>
          <a:p>
            <a:r>
              <a:rPr lang="en-US" dirty="0"/>
              <a:t> - Results render in "Device Data Results."</a:t>
            </a:r>
          </a:p>
          <a:p>
            <a:endParaRPr lang="en-US" dirty="0"/>
          </a:p>
          <a:p>
            <a:r>
              <a:rPr lang="en-US" dirty="0"/>
              <a:t> #### Raw Data Query</a:t>
            </a:r>
          </a:p>
          <a:p>
            <a:endParaRPr lang="en-US" dirty="0"/>
          </a:p>
          <a:p>
            <a:r>
              <a:rPr lang="en-US" dirty="0"/>
              <a:t> - Group Query Options: Find groups by object group name regex and/or parent group name regex.</a:t>
            </a:r>
          </a:p>
          <a:p>
            <a:r>
              <a:rPr lang="en-US" dirty="0"/>
              <a:t> - Raw Data Query Options: Select time period and indicators (e.g., Bits In, Bits Out, Packets In, Packets Out, Utilization In, Utilization Out).</a:t>
            </a:r>
          </a:p>
          <a:p>
            <a:r>
              <a:rPr lang="en-US" dirty="0"/>
              <a:t> - Safety/display options: Exclude deleted devices/objects, display data in browser (auto-disabled if result exceeds 10,000 rows), bypass 10k display</a:t>
            </a:r>
          </a:p>
          <a:p>
            <a:r>
              <a:rPr lang="en-US" dirty="0"/>
              <a:t>   limit.</a:t>
            </a:r>
          </a:p>
          <a:p>
            <a:r>
              <a:rPr lang="en-US" dirty="0"/>
              <a:t> - Provides a raw statistics export/query tool for bulk indicator data across device groups.</a:t>
            </a:r>
          </a:p>
          <a:p>
            <a:endParaRPr lang="en-US" dirty="0"/>
          </a:p>
          <a:p>
            <a:r>
              <a:rPr lang="en-US" dirty="0"/>
              <a:t> #### OID Validator</a:t>
            </a:r>
          </a:p>
          <a:p>
            <a:endParaRPr lang="en-US" dirty="0"/>
          </a:p>
          <a:p>
            <a:r>
              <a:rPr lang="en-US" dirty="0"/>
              <a:t> - Select target devices by group, select tree branch (parent group), enter an OID, click Validate.</a:t>
            </a:r>
          </a:p>
          <a:p>
            <a:r>
              <a:rPr lang="en-US" dirty="0"/>
              <a:t> - Verifies that a given SNMP OID resolves/returns data on representative devices before rolling out a monitoring rule.</a:t>
            </a:r>
          </a:p>
          <a:p>
            <a:endParaRPr lang="en-US" dirty="0"/>
          </a:p>
          <a:p>
            <a:r>
              <a:rPr lang="en-US" dirty="0"/>
              <a:t> #### Device Deviations Dashboard</a:t>
            </a:r>
          </a:p>
          <a:p>
            <a:endParaRPr lang="en-US" dirty="0"/>
          </a:p>
          <a:p>
            <a:r>
              <a:rPr lang="en-US" dirty="0"/>
              <a:t> - Displays large red counters with drill-down lists for:</a:t>
            </a:r>
          </a:p>
          <a:p>
            <a:r>
              <a:rPr lang="en-US" dirty="0"/>
              <a:t>     - Devices not responding to SNMP/ICMP during the last discovery.</a:t>
            </a:r>
          </a:p>
          <a:p>
            <a:r>
              <a:rPr lang="en-US" dirty="0"/>
              <a:t>     - Active devices with zero objects.</a:t>
            </a:r>
          </a:p>
          <a:p>
            <a:r>
              <a:rPr lang="en-US" dirty="0"/>
              <a:t>     - Deleted devices with active objects.</a:t>
            </a:r>
          </a:p>
          <a:p>
            <a:r>
              <a:rPr lang="en-US" dirty="0"/>
              <a:t>     - All devices in new state.</a:t>
            </a:r>
          </a:p>
          <a:p>
            <a:r>
              <a:rPr lang="en-US" dirty="0"/>
              <a:t>     - Active devices with SNMP/ICMP plugin disabled.</a:t>
            </a:r>
          </a:p>
          <a:p>
            <a:r>
              <a:rPr lang="en-US" dirty="0"/>
              <a:t>     - Active devices with polling disabled.</a:t>
            </a:r>
          </a:p>
          <a:p>
            <a:r>
              <a:rPr lang="en-US" dirty="0"/>
              <a:t> - Provides a data-quality / health scorecard at the device level.</a:t>
            </a:r>
          </a:p>
          <a:p>
            <a:endParaRPr lang="en-US" dirty="0"/>
          </a:p>
          <a:p>
            <a:r>
              <a:rPr lang="en-US" dirty="0"/>
              <a:t> #### System Anomalies Dashboard</a:t>
            </a:r>
          </a:p>
          <a:p>
            <a:endParaRPr lang="en-US" dirty="0"/>
          </a:p>
          <a:p>
            <a:r>
              <a:rPr lang="en-US" dirty="0"/>
              <a:t> - Displays large red counters focused on grouping/structure problems, with drill-down lists for:</a:t>
            </a:r>
          </a:p>
          <a:p>
            <a:r>
              <a:rPr lang="en-US" dirty="0"/>
              <a:t>     - Empty leaf device and device type groups.</a:t>
            </a:r>
          </a:p>
          <a:p>
            <a:r>
              <a:rPr lang="en-US" dirty="0"/>
              <a:t>     - Empty Object Groups.</a:t>
            </a:r>
          </a:p>
          <a:p>
            <a:r>
              <a:rPr lang="en-US" dirty="0"/>
              <a:t>     - Object groups which do not follow custom hierarchy.</a:t>
            </a:r>
          </a:p>
          <a:p>
            <a:r>
              <a:rPr lang="en-US" dirty="0"/>
              <a:t>     - Object groups over 1000 members.</a:t>
            </a:r>
          </a:p>
          <a:p>
            <a:r>
              <a:rPr lang="en-US" dirty="0"/>
              <a:t> - Surfaces group-hygiene issues.</a:t>
            </a:r>
          </a:p>
          <a:p>
            <a:endParaRPr lang="en-US" dirty="0"/>
          </a:p>
          <a:p>
            <a:r>
              <a:rPr lang="en-US" dirty="0"/>
              <a:t> #### OG (Object Group) Tree Viewer</a:t>
            </a:r>
          </a:p>
          <a:p>
            <a:endParaRPr lang="en-US" dirty="0"/>
          </a:p>
          <a:p>
            <a:r>
              <a:rPr lang="en-US" dirty="0"/>
              <a:t> - Search by Group name and/or Group id.</a:t>
            </a:r>
          </a:p>
          <a:p>
            <a:r>
              <a:rPr lang="en-US" dirty="0"/>
              <a:t> - Toggle switches: Show class, Show members, Show bind type.</a:t>
            </a:r>
          </a:p>
          <a:p>
            <a:r>
              <a:rPr lang="en-US" dirty="0"/>
              <a:t> - Provides a general-purpose explorer for navigating/inspecting the object group hierarchy.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Control</a:t>
            </a:r>
          </a:p>
          <a:p>
            <a:endParaRPr lang="en-US" dirty="0"/>
          </a:p>
          <a:p>
            <a:r>
              <a:rPr lang="en-US" dirty="0"/>
              <a:t> Offers deep insights into the system's internals:</a:t>
            </a:r>
          </a:p>
          <a:p>
            <a:endParaRPr lang="en-US" dirty="0"/>
          </a:p>
          <a:p>
            <a:r>
              <a:rPr lang="en-US" dirty="0"/>
              <a:t> #### System Statistics</a:t>
            </a:r>
          </a:p>
          <a:p>
            <a:endParaRPr lang="en-US" dirty="0"/>
          </a:p>
          <a:p>
            <a:r>
              <a:rPr lang="en-US" dirty="0"/>
              <a:t> - Generic Statistics: Number of active devices, virtual devices, deleted devices, peers/appliances, device groups, object groups, average enabled/disabled</a:t>
            </a:r>
          </a:p>
          <a:p>
            <a:r>
              <a:rPr lang="en-US" dirty="0"/>
              <a:t>   object usage per device, total enabled/disabled object counts, total enabled indicator count.</a:t>
            </a:r>
          </a:p>
          <a:p>
            <a:r>
              <a:rPr lang="en-US" dirty="0"/>
              <a:t> - Object Statistics: Per-server breakdown of enabled/disabled/deleted/visible/hidden/total object counts.</a:t>
            </a:r>
          </a:p>
          <a:p>
            <a:r>
              <a:rPr lang="en-US" dirty="0"/>
              <a:t> - Indicator Statistics: Per-server breakdown of enabled/disabled/deleted/total indicator counts.</a:t>
            </a:r>
          </a:p>
          <a:p>
            <a:r>
              <a:rPr lang="en-US" dirty="0"/>
              <a:t> - Provides capacity planning and system-wide health at a glance.</a:t>
            </a:r>
          </a:p>
          <a:p>
            <a:endParaRPr lang="en-US" dirty="0"/>
          </a:p>
          <a:p>
            <a:r>
              <a:rPr lang="en-US" dirty="0"/>
              <a:t> #### Device Statistics</a:t>
            </a:r>
          </a:p>
          <a:p>
            <a:endParaRPr lang="en-US" dirty="0"/>
          </a:p>
          <a:p>
            <a:r>
              <a:rPr lang="en-US" dirty="0"/>
              <a:t> - Per-device table: device name, last discovery date, days since last discovery, peer (</a:t>
            </a:r>
            <a:r>
              <a:rPr lang="en-US" dirty="0" err="1"/>
              <a:t>SevOne</a:t>
            </a:r>
            <a:r>
              <a:rPr lang="en-US" dirty="0"/>
              <a:t> appliance/collector), enabled object count, disabled object</a:t>
            </a:r>
          </a:p>
          <a:p>
            <a:r>
              <a:rPr lang="en-US" dirty="0"/>
              <a:t>   count.</a:t>
            </a:r>
          </a:p>
          <a:p>
            <a:r>
              <a:rPr lang="en-US" dirty="0"/>
              <a:t> - Acts as a sortable/scrollable master list of every device with its discovery freshness and object counts.</a:t>
            </a:r>
          </a:p>
          <a:p>
            <a:endParaRPr lang="en-US" dirty="0"/>
          </a:p>
          <a:p>
            <a:r>
              <a:rPr lang="en-US" dirty="0"/>
              <a:t> #### Control Groups</a:t>
            </a:r>
          </a:p>
          <a:p>
            <a:endParaRPr lang="en-US" dirty="0"/>
          </a:p>
          <a:p>
            <a:r>
              <a:rPr lang="en-US" dirty="0"/>
              <a:t> - "Get all control groups" or "Get control groups where device is pinned" (enter a device name).</a:t>
            </a:r>
          </a:p>
          <a:p>
            <a:r>
              <a:rPr lang="en-US" dirty="0"/>
              <a:t> - Shows the Control Device Groups level structure: [</a:t>
            </a:r>
            <a:r>
              <a:rPr lang="en-US" dirty="0" err="1"/>
              <a:t>PlatformCategory</a:t>
            </a:r>
            <a:r>
              <a:rPr lang="en-US" dirty="0"/>
              <a:t>] → [</a:t>
            </a:r>
            <a:r>
              <a:rPr lang="en-US" dirty="0" err="1"/>
              <a:t>PlatformClass</a:t>
            </a:r>
            <a:r>
              <a:rPr lang="en-US" dirty="0"/>
              <a:t>] → [</a:t>
            </a:r>
            <a:r>
              <a:rPr lang="en-US" dirty="0" err="1"/>
              <a:t>PlatformGroup</a:t>
            </a:r>
            <a:r>
              <a:rPr lang="en-US" dirty="0"/>
              <a:t>] → [</a:t>
            </a:r>
            <a:r>
              <a:rPr lang="en-US" dirty="0" err="1"/>
              <a:t>PlatformType</a:t>
            </a:r>
            <a:r>
              <a:rPr lang="en-US" dirty="0"/>
              <a:t>].</a:t>
            </a:r>
          </a:p>
          <a:p>
            <a:r>
              <a:rPr lang="en-US" dirty="0"/>
              <a:t> - Inspects which Control Device Group(s) a given device is pinned to.</a:t>
            </a:r>
          </a:p>
          <a:p>
            <a:endParaRPr lang="en-US" dirty="0"/>
          </a:p>
          <a:p>
            <a:r>
              <a:rPr lang="en-US" dirty="0"/>
              <a:t> #### Constants</a:t>
            </a:r>
          </a:p>
          <a:p>
            <a:endParaRPr lang="en-US" dirty="0"/>
          </a:p>
          <a:p>
            <a:r>
              <a:rPr lang="en-US" dirty="0"/>
              <a:t> - Raw File Display of a PHP constants file (system-wide configuration constants).</a:t>
            </a:r>
          </a:p>
          <a:p>
            <a:r>
              <a:rPr lang="en-US" dirty="0"/>
              <a:t> - Provides a read-only view into root-level naming/config constants.</a:t>
            </a:r>
          </a:p>
          <a:p>
            <a:endParaRPr lang="en-US" dirty="0"/>
          </a:p>
          <a:p>
            <a:r>
              <a:rPr lang="en-US" dirty="0"/>
              <a:t> #### Rules Generic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/_RULES_GENERIC.ini.</a:t>
            </a:r>
          </a:p>
          <a:p>
            <a:r>
              <a:rPr lang="en-US" dirty="0"/>
              <a:t> - Determines which object types are associated with devices during the DEVICEPINNER provisioning process (phase 2).</a:t>
            </a:r>
          </a:p>
          <a:p>
            <a:r>
              <a:rPr lang="en-US" dirty="0"/>
              <a:t> - Devices are pinned to Device Type Groups, which are the file's key values; the object types listed under each Device Type Group get associated with</a:t>
            </a:r>
          </a:p>
          <a:p>
            <a:r>
              <a:rPr lang="en-US" dirty="0"/>
              <a:t>   those devices.</a:t>
            </a:r>
          </a:p>
          <a:p>
            <a:endParaRPr lang="en-US" dirty="0"/>
          </a:p>
          <a:p>
            <a:r>
              <a:rPr lang="en-US" dirty="0"/>
              <a:t> #### Rules Advanced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/_RULES_ADVANCED.ini.</a:t>
            </a:r>
          </a:p>
          <a:p>
            <a:r>
              <a:rPr lang="en-US" dirty="0"/>
              <a:t> - Determines which additional object types are associated with devices during DEVICEPINNER phase 2, but keyed by TAGS (device-specific object-type</a:t>
            </a:r>
          </a:p>
          <a:p>
            <a:r>
              <a:rPr lang="en-US" dirty="0"/>
              <a:t>   binding).</a:t>
            </a:r>
          </a:p>
          <a:p>
            <a:r>
              <a:rPr lang="en-US" dirty="0"/>
              <a:t> - Example: Enabling "Logical Interface" (SAP) SNMP query for devices tagged with "sap".</a:t>
            </a:r>
          </a:p>
          <a:p>
            <a:endParaRPr lang="en-US" dirty="0"/>
          </a:p>
          <a:p>
            <a:r>
              <a:rPr lang="en-US" dirty="0"/>
              <a:t> #### Rules Enable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/_RULES_ENABLE_OBJECTS.ini.</a:t>
            </a:r>
          </a:p>
          <a:p>
            <a:r>
              <a:rPr lang="en-US" dirty="0"/>
              <a:t> - Determines which of the (previously discovered-but-disabled) objects actually get enabled during the DISCOVERYPOLLER phase (phase 3).</a:t>
            </a:r>
          </a:p>
          <a:p>
            <a:r>
              <a:rPr lang="en-US" dirty="0"/>
              <a:t> - Rule structure: </a:t>
            </a:r>
            <a:r>
              <a:rPr lang="en-US" dirty="0" err="1"/>
              <a:t>match_objtype</a:t>
            </a:r>
            <a:r>
              <a:rPr lang="en-US" dirty="0"/>
              <a:t>, </a:t>
            </a:r>
            <a:r>
              <a:rPr lang="en-US" dirty="0" err="1"/>
              <a:t>match_tag</a:t>
            </a:r>
            <a:r>
              <a:rPr lang="en-US" dirty="0"/>
              <a:t>, </a:t>
            </a:r>
            <a:r>
              <a:rPr lang="en-US" dirty="0" err="1"/>
              <a:t>match_regex</a:t>
            </a:r>
            <a:r>
              <a:rPr lang="en-US" dirty="0"/>
              <a:t>, </a:t>
            </a:r>
            <a:r>
              <a:rPr lang="en-US" dirty="0" err="1"/>
              <a:t>match_column</a:t>
            </a:r>
            <a:r>
              <a:rPr lang="en-US" dirty="0"/>
              <a:t>, </a:t>
            </a:r>
            <a:r>
              <a:rPr lang="en-US" dirty="0" err="1"/>
              <a:t>match_plugin</a:t>
            </a:r>
            <a:r>
              <a:rPr lang="en-US" dirty="0"/>
              <a:t>, </a:t>
            </a:r>
            <a:r>
              <a:rPr lang="en-US" dirty="0" err="1"/>
              <a:t>platformCategory</a:t>
            </a:r>
            <a:r>
              <a:rPr lang="en-US" dirty="0"/>
              <a:t>[], </a:t>
            </a:r>
            <a:r>
              <a:rPr lang="en-US" dirty="0" err="1"/>
              <a:t>platformClass</a:t>
            </a:r>
            <a:r>
              <a:rPr lang="en-US" dirty="0"/>
              <a:t>[], </a:t>
            </a:r>
            <a:r>
              <a:rPr lang="en-US" dirty="0" err="1"/>
              <a:t>platformType</a:t>
            </a:r>
            <a:r>
              <a:rPr lang="en-US" dirty="0"/>
              <a:t>[].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Change Reports</a:t>
            </a:r>
          </a:p>
          <a:p>
            <a:endParaRPr lang="en-US" dirty="0"/>
          </a:p>
          <a:p>
            <a:r>
              <a:rPr lang="en-US" dirty="0"/>
              <a:t> - Select Group Type: Device or Object.</a:t>
            </a:r>
          </a:p>
          <a:p>
            <a:r>
              <a:rPr lang="en-US" dirty="0"/>
              <a:t> - Select Date 1 and Date 2 for comparison.</a:t>
            </a:r>
          </a:p>
          <a:p>
            <a:r>
              <a:rPr lang="en-US" dirty="0"/>
              <a:t> - Provides results in the "Change Report Results" panel.</a:t>
            </a:r>
          </a:p>
          <a:p>
            <a:r>
              <a:rPr lang="en-US" dirty="0"/>
              <a:t> - Acts as a diff/audit tool for changes in devices, objects, and groups over time.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Reports</a:t>
            </a:r>
          </a:p>
          <a:p>
            <a:endParaRPr lang="en-US" dirty="0"/>
          </a:p>
          <a:p>
            <a:r>
              <a:rPr lang="en-US" dirty="0"/>
              <a:t> - A single dropdown listing many pre-built, named reports.</a:t>
            </a:r>
          </a:p>
          <a:p>
            <a:r>
              <a:rPr lang="en-US" dirty="0"/>
              <a:t> - Reports include:</a:t>
            </a:r>
          </a:p>
          <a:p>
            <a:r>
              <a:rPr lang="en-US" dirty="0"/>
              <a:t>     - Ari </a:t>
            </a:r>
            <a:r>
              <a:rPr lang="en-US" dirty="0" err="1"/>
              <a:t>testaa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generic device category</a:t>
            </a:r>
          </a:p>
          <a:p>
            <a:r>
              <a:rPr lang="en-US" dirty="0"/>
              <a:t>     - </a:t>
            </a:r>
            <a:r>
              <a:rPr lang="en-US" dirty="0" err="1"/>
              <a:t>Autosummary</a:t>
            </a:r>
            <a:r>
              <a:rPr lang="en-US" dirty="0"/>
              <a:t> validation report</a:t>
            </a:r>
          </a:p>
          <a:p>
            <a:r>
              <a:rPr lang="en-US" dirty="0"/>
              <a:t>     - Device group rule report</a:t>
            </a:r>
          </a:p>
          <a:p>
            <a:r>
              <a:rPr lang="en-US" dirty="0"/>
              <a:t>     - Double device report</a:t>
            </a:r>
          </a:p>
          <a:p>
            <a:r>
              <a:rPr lang="en-US" dirty="0"/>
              <a:t>     - Dump </a:t>
            </a:r>
            <a:r>
              <a:rPr lang="en-US" dirty="0" err="1"/>
              <a:t>snet</a:t>
            </a:r>
            <a:r>
              <a:rPr lang="en-US" dirty="0"/>
              <a:t> latest</a:t>
            </a:r>
          </a:p>
          <a:p>
            <a:r>
              <a:rPr lang="en-US" dirty="0"/>
              <a:t>     - Dump spare part inventory latest</a:t>
            </a:r>
          </a:p>
          <a:p>
            <a:r>
              <a:rPr lang="en-US" dirty="0"/>
              <a:t>     - Dump spare part material latest</a:t>
            </a:r>
          </a:p>
          <a:p>
            <a:r>
              <a:rPr lang="en-US" dirty="0"/>
              <a:t>     - Exporter group report</a:t>
            </a:r>
          </a:p>
          <a:p>
            <a:r>
              <a:rPr lang="en-US" dirty="0"/>
              <a:t>     - Exporter group report locate to-be-removed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with details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uncategorized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print uncategorized</a:t>
            </a:r>
          </a:p>
          <a:p>
            <a:r>
              <a:rPr lang="en-US" dirty="0"/>
              <a:t>     - Generic device category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deviceroles.properties</a:t>
            </a:r>
            <a:endParaRPr lang="en-US" dirty="0"/>
          </a:p>
          <a:p>
            <a:r>
              <a:rPr lang="en-US" dirty="0"/>
              <a:t>     - Install base all by chassis model name</a:t>
            </a:r>
          </a:p>
          <a:p>
            <a:r>
              <a:rPr lang="en-US" dirty="0"/>
              <a:t>     - Install base all by chassis part number</a:t>
            </a:r>
          </a:p>
          <a:p>
            <a:r>
              <a:rPr lang="en-US" dirty="0"/>
              <a:t> - Provides a library of canned/scheduled-style reports for cross-checking device categorization, validating install-base/hardware inventory, and</a:t>
            </a:r>
          </a:p>
          <a:p>
            <a:r>
              <a:rPr lang="en-US" dirty="0"/>
              <a:t>   identifying duplicate devices or stale exporter groups.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External Data</a:t>
            </a:r>
          </a:p>
          <a:p>
            <a:endParaRPr lang="en-US" dirty="0"/>
          </a:p>
          <a:p>
            <a:r>
              <a:rPr lang="en-US" dirty="0"/>
              <a:t> Tracks the health of external data feeds:</a:t>
            </a:r>
          </a:p>
          <a:p>
            <a:endParaRPr lang="en-US" dirty="0"/>
          </a:p>
          <a:p>
            <a:r>
              <a:rPr lang="en-US" dirty="0"/>
              <a:t> #### External Data Overview</a:t>
            </a:r>
          </a:p>
          <a:p>
            <a:endParaRPr lang="en-US" dirty="0"/>
          </a:p>
          <a:p>
            <a:r>
              <a:rPr lang="en-US" dirty="0"/>
              <a:t> - Table columns: System, Content, Path, Filename, Rows, Cols, </a:t>
            </a:r>
            <a:r>
              <a:rPr lang="en-US" dirty="0" err="1"/>
              <a:t>Filetime</a:t>
            </a:r>
            <a:r>
              <a:rPr lang="en-US" dirty="0"/>
              <a:t>, </a:t>
            </a:r>
            <a:r>
              <a:rPr lang="en-US" dirty="0" err="1"/>
              <a:t>Filesize</a:t>
            </a:r>
            <a:r>
              <a:rPr lang="en-US" dirty="0"/>
              <a:t>.</a:t>
            </a:r>
          </a:p>
          <a:p>
            <a:r>
              <a:rPr lang="en-US" dirty="0"/>
              <a:t> - Feeds include:</a:t>
            </a:r>
          </a:p>
          <a:p>
            <a:r>
              <a:rPr lang="en-US" dirty="0"/>
              <a:t>     - SAP ERP: Material Data, Stock Inventory Data</a:t>
            </a:r>
          </a:p>
          <a:p>
            <a:r>
              <a:rPr lang="en-US" dirty="0"/>
              <a:t>     - SM/O L2: Termination and Service Data, SAP and Service Data</a:t>
            </a:r>
          </a:p>
          <a:p>
            <a:r>
              <a:rPr lang="en-US" dirty="0"/>
              <a:t>     - TOMAATTI: Device Data, Customer Data, Product and Subscription Data</a:t>
            </a:r>
          </a:p>
          <a:p>
            <a:r>
              <a:rPr lang="en-US" dirty="0"/>
              <a:t>     - MIT: Product and Subscription Data</a:t>
            </a:r>
          </a:p>
          <a:p>
            <a:r>
              <a:rPr lang="en-US" dirty="0"/>
              <a:t>     - SATELLITE SYSTEMS: SNET Device Data</a:t>
            </a:r>
          </a:p>
          <a:p>
            <a:r>
              <a:rPr lang="en-US" dirty="0"/>
              <a:t>     - SM/O: Link Data</a:t>
            </a:r>
          </a:p>
          <a:p>
            <a:r>
              <a:rPr lang="en-US" dirty="0"/>
              <a:t>     - NOORA (import): Filtered L2 Service Data, Previous L2 Service Data</a:t>
            </a:r>
          </a:p>
          <a:p>
            <a:endParaRPr lang="en-US" dirty="0"/>
          </a:p>
          <a:p>
            <a:r>
              <a:rPr lang="en-US" dirty="0"/>
              <a:t> #### External Data Validation</a:t>
            </a:r>
          </a:p>
          <a:p>
            <a:endParaRPr lang="en-US" dirty="0"/>
          </a:p>
          <a:p>
            <a:r>
              <a:rPr lang="en-US" dirty="0"/>
              <a:t> - Validates file existence, readability, date check, data parsing, parsed rows, and parsing time.</a:t>
            </a:r>
          </a:p>
          <a:p>
            <a:r>
              <a:rPr lang="en-US" dirty="0"/>
              <a:t> - Provides a health check for upstream files feeding provisioning/enrichment.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Device Dashboard</a:t>
            </a:r>
          </a:p>
          <a:p>
            <a:endParaRPr lang="en-US" dirty="0"/>
          </a:p>
          <a:p>
            <a:r>
              <a:rPr lang="en-US" dirty="0"/>
              <a:t> - Device selector: Searchable dropdown or free-text field.</a:t>
            </a:r>
          </a:p>
          <a:p>
            <a:r>
              <a:rPr lang="en-US" dirty="0"/>
              <a:t> - Labeled "Device Dashboard v1.6".</a:t>
            </a:r>
          </a:p>
          <a:p>
            <a:r>
              <a:rPr lang="en-US" dirty="0"/>
              <a:t> - Header row: device name, location/description, quick links to Splunk, Sense, Rasmus, Horizon, Health.</a:t>
            </a:r>
          </a:p>
          <a:p>
            <a:r>
              <a:rPr lang="en-US" dirty="0"/>
              <a:t> - Time range selector: Hour / Day / 3 Days / Week / Month / 3 Months / Custom.</a:t>
            </a:r>
          </a:p>
          <a:p>
            <a:r>
              <a:rPr lang="en-US" dirty="0"/>
              <a:t> - Staleness warning banner: Flags when upstream SM/O data hasn't refreshed in a long time.</a:t>
            </a:r>
          </a:p>
          <a:p>
            <a:r>
              <a:rPr lang="en-US" dirty="0"/>
              <a:t> - Sub-links: Basic, Hardware, Interface, Inventory, Info.</a:t>
            </a:r>
          </a:p>
          <a:p>
            <a:r>
              <a:rPr lang="en-US" dirty="0"/>
              <a:t> - Monitored Interfaces: List of clickable interfaces with connection details.</a:t>
            </a:r>
          </a:p>
          <a:p>
            <a:r>
              <a:rPr lang="en-US" dirty="0"/>
              <a:t> - Graphs/panels:</a:t>
            </a:r>
          </a:p>
          <a:p>
            <a:r>
              <a:rPr lang="en-US" dirty="0"/>
              <a:t>     - ICMP Availability (%)</a:t>
            </a:r>
          </a:p>
          <a:p>
            <a:r>
              <a:rPr lang="en-US" dirty="0"/>
              <a:t>     - SNMP Responsiveness (%)</a:t>
            </a:r>
          </a:p>
          <a:p>
            <a:r>
              <a:rPr lang="en-US" dirty="0"/>
              <a:t>     - Uptime Counter</a:t>
            </a:r>
          </a:p>
          <a:p>
            <a:r>
              <a:rPr lang="en-US" dirty="0"/>
              <a:t>     - ICMP Jitter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Maximum ping time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Packet loss (%) with summary table</a:t>
            </a:r>
          </a:p>
          <a:p>
            <a:r>
              <a:rPr lang="en-US" dirty="0"/>
              <a:t>     - CPU Utilization (%) with per-logical CPU breakdown</a:t>
            </a:r>
          </a:p>
          <a:p>
            <a:r>
              <a:rPr lang="en-US" dirty="0"/>
              <a:t>     - Memory Utilization (%) with per-process breakdown</a:t>
            </a:r>
          </a:p>
          <a:p>
            <a:r>
              <a:rPr lang="en-US" dirty="0"/>
              <a:t>     - Active Alerts panel</a:t>
            </a:r>
          </a:p>
          <a:p>
            <a:r>
              <a:rPr lang="en-US" dirty="0"/>
              <a:t> - Provides a single-pane-of-glass device view for triaging device health.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37C7E-FFB2-8832-828F-A94F5D01D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82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2E87-9C72-6960-D64C-BE0BFCCC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46489-A8C1-77CE-6F43-72D8AD948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65151-87B4-1239-9303-5D281741C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Here is a more detailed description for each of the smaller features within the Noora Health Portal: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Action Required</a:t>
            </a:r>
          </a:p>
          <a:p>
            <a:endParaRPr lang="en-US" dirty="0"/>
          </a:p>
          <a:p>
            <a:r>
              <a:rPr lang="en-US" dirty="0"/>
              <a:t> Surfaces devices that require manual intervention due to failures in the automated provisioning process. This includes:</a:t>
            </a:r>
          </a:p>
          <a:p>
            <a:r>
              <a:rPr lang="en-US" dirty="0"/>
              <a:t> - New devices which did not respond to SNMP: Devices discovered but SNMP polling failed.</a:t>
            </a:r>
          </a:p>
          <a:p>
            <a:r>
              <a:rPr lang="en-US" dirty="0"/>
              <a:t> - New devices which are missing device OS support: Devices discovered successfully but their OS isn't supported/mapped by the system yet.</a:t>
            </a:r>
          </a:p>
          <a:p>
            <a:r>
              <a:rPr lang="en-US" dirty="0"/>
              <a:t> - New devices which are missing device control grouping: Devices that haven't been pinned into a Control Device Group, so the automated rules have nothing</a:t>
            </a:r>
          </a:p>
          <a:p>
            <a:r>
              <a:rPr lang="en-US" dirty="0"/>
              <a:t>   to act on.</a:t>
            </a:r>
          </a:p>
          <a:p>
            <a:r>
              <a:rPr lang="en-US" dirty="0"/>
              <a:t> - Provides a re-provision action button per row for manual intervention.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Provisioning Control</a:t>
            </a:r>
          </a:p>
          <a:p>
            <a:endParaRPr lang="en-US" dirty="0"/>
          </a:p>
          <a:p>
            <a:r>
              <a:rPr lang="en-US" dirty="0"/>
              <a:t> Provides a live view of the auto-provisioning pipeline, including:</a:t>
            </a:r>
          </a:p>
          <a:p>
            <a:r>
              <a:rPr lang="en-US" dirty="0"/>
              <a:t> - Devices currently under provisioning: In-flight devices showing device ID, enabled object count, current provisioning phase, last discovery time/age,</a:t>
            </a:r>
          </a:p>
          <a:p>
            <a:r>
              <a:rPr lang="en-US" dirty="0"/>
              <a:t>   discovery status, and whether it's "stuck."</a:t>
            </a:r>
          </a:p>
          <a:p>
            <a:r>
              <a:rPr lang="en-US" dirty="0"/>
              <a:t> - Most recent finished </a:t>
            </a:r>
            <a:r>
              <a:rPr lang="en-US" dirty="0" err="1"/>
              <a:t>provisionings</a:t>
            </a:r>
            <a:r>
              <a:rPr lang="en-US" dirty="0"/>
              <a:t>: Completed runs showing finish time, device name/ID, enabled object count, final provisioning state, and last</a:t>
            </a:r>
          </a:p>
          <a:p>
            <a:r>
              <a:rPr lang="en-US" dirty="0"/>
              <a:t>   discovery info.</a:t>
            </a:r>
          </a:p>
          <a:p>
            <a:r>
              <a:rPr lang="en-US" dirty="0"/>
              <a:t> - Most recent provisioning errors: Failed runs with log entries explaining the failure (e.g., </a:t>
            </a:r>
            <a:r>
              <a:rPr lang="en-US" dirty="0" err="1"/>
              <a:t>DevicePinner</a:t>
            </a:r>
            <a:r>
              <a:rPr lang="en-US" dirty="0"/>
              <a:t>: Unsupported device, </a:t>
            </a:r>
            <a:r>
              <a:rPr lang="en-US" dirty="0" err="1"/>
              <a:t>DiscoveryPoller</a:t>
            </a:r>
            <a:r>
              <a:rPr lang="en-US" dirty="0"/>
              <a:t>: looks</a:t>
            </a:r>
          </a:p>
          <a:p>
            <a:r>
              <a:rPr lang="en-US" dirty="0"/>
              <a:t>   like we got no XML document data).</a:t>
            </a:r>
          </a:p>
          <a:p>
            <a:r>
              <a:rPr lang="en-US" dirty="0"/>
              <a:t> - All devices currently in native discovery: Devices </a:t>
            </a:r>
            <a:r>
              <a:rPr lang="en-US" dirty="0" err="1"/>
              <a:t>SevOne</a:t>
            </a:r>
            <a:r>
              <a:rPr lang="en-US" dirty="0"/>
              <a:t> is natively discovering.</a:t>
            </a:r>
          </a:p>
          <a:p>
            <a:r>
              <a:rPr lang="en-US" dirty="0"/>
              <a:t> - Offers re-provision buttons for errored devices.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Tools</a:t>
            </a:r>
          </a:p>
          <a:p>
            <a:endParaRPr lang="en-US" dirty="0"/>
          </a:p>
          <a:p>
            <a:r>
              <a:rPr lang="en-US" dirty="0"/>
              <a:t> A set of diagnostic and query tools for administrators:</a:t>
            </a:r>
          </a:p>
          <a:p>
            <a:endParaRPr lang="en-US" dirty="0"/>
          </a:p>
          <a:p>
            <a:r>
              <a:rPr lang="en-US" dirty="0"/>
              <a:t> #### Device Data Query</a:t>
            </a:r>
          </a:p>
          <a:p>
            <a:endParaRPr lang="en-US" dirty="0"/>
          </a:p>
          <a:p>
            <a:r>
              <a:rPr lang="en-US" dirty="0"/>
              <a:t> - Query a specific device by name.</a:t>
            </a:r>
          </a:p>
          <a:p>
            <a:r>
              <a:rPr lang="en-US" dirty="0"/>
              <a:t> - Select categories of data to pull: Basic/Provisioning Data, Object Data, Group Data, Link Data, Alert Data.</a:t>
            </a:r>
          </a:p>
          <a:p>
            <a:r>
              <a:rPr lang="en-US" dirty="0"/>
              <a:t> - Results render in "Device Data Results."</a:t>
            </a:r>
          </a:p>
          <a:p>
            <a:endParaRPr lang="en-US" dirty="0"/>
          </a:p>
          <a:p>
            <a:r>
              <a:rPr lang="en-US" dirty="0"/>
              <a:t> #### Raw Data Query</a:t>
            </a:r>
          </a:p>
          <a:p>
            <a:endParaRPr lang="en-US" dirty="0"/>
          </a:p>
          <a:p>
            <a:r>
              <a:rPr lang="en-US" dirty="0"/>
              <a:t> - Group Query Options: Find groups by object group name regex and/or parent group name regex.</a:t>
            </a:r>
          </a:p>
          <a:p>
            <a:r>
              <a:rPr lang="en-US" dirty="0"/>
              <a:t> - Raw Data Query Options: Select time period and indicators (e.g., Bits In, Bits Out, Packets In, Packets Out, Utilization In, Utilization Out).</a:t>
            </a:r>
          </a:p>
          <a:p>
            <a:r>
              <a:rPr lang="en-US" dirty="0"/>
              <a:t> - Safety/display options: Exclude deleted devices/objects, display data in browser (auto-disabled if result exceeds 10,000 rows), bypass 10k display</a:t>
            </a:r>
          </a:p>
          <a:p>
            <a:r>
              <a:rPr lang="en-US" dirty="0"/>
              <a:t>   limit.</a:t>
            </a:r>
          </a:p>
          <a:p>
            <a:r>
              <a:rPr lang="en-US" dirty="0"/>
              <a:t> - Provides a raw statistics export/query tool for bulk indicator data across device groups.</a:t>
            </a:r>
          </a:p>
          <a:p>
            <a:endParaRPr lang="en-US" dirty="0"/>
          </a:p>
          <a:p>
            <a:r>
              <a:rPr lang="en-US" dirty="0"/>
              <a:t> #### OID Validator</a:t>
            </a:r>
          </a:p>
          <a:p>
            <a:endParaRPr lang="en-US" dirty="0"/>
          </a:p>
          <a:p>
            <a:r>
              <a:rPr lang="en-US" dirty="0"/>
              <a:t> - Select target devices by group, select tree branch (parent group), enter an OID, click Validate.</a:t>
            </a:r>
          </a:p>
          <a:p>
            <a:r>
              <a:rPr lang="en-US" dirty="0"/>
              <a:t> - Verifies that a given SNMP OID resolves/returns data on representative devices before rolling out a monitoring rule.</a:t>
            </a:r>
          </a:p>
          <a:p>
            <a:endParaRPr lang="en-US" dirty="0"/>
          </a:p>
          <a:p>
            <a:r>
              <a:rPr lang="en-US" dirty="0"/>
              <a:t> #### Device Deviations Dashboard</a:t>
            </a:r>
          </a:p>
          <a:p>
            <a:endParaRPr lang="en-US" dirty="0"/>
          </a:p>
          <a:p>
            <a:r>
              <a:rPr lang="en-US" dirty="0"/>
              <a:t> - Displays large red counters with drill-down lists for:</a:t>
            </a:r>
          </a:p>
          <a:p>
            <a:r>
              <a:rPr lang="en-US" dirty="0"/>
              <a:t>     - Devices not responding to SNMP/ICMP during the last discovery.</a:t>
            </a:r>
          </a:p>
          <a:p>
            <a:r>
              <a:rPr lang="en-US" dirty="0"/>
              <a:t>     - Active devices with zero objects.</a:t>
            </a:r>
          </a:p>
          <a:p>
            <a:r>
              <a:rPr lang="en-US" dirty="0"/>
              <a:t>     - Deleted devices with active objects.</a:t>
            </a:r>
          </a:p>
          <a:p>
            <a:r>
              <a:rPr lang="en-US" dirty="0"/>
              <a:t>     - All devices in new state.</a:t>
            </a:r>
          </a:p>
          <a:p>
            <a:r>
              <a:rPr lang="en-US" dirty="0"/>
              <a:t>     - Active devices with SNMP/ICMP plugin disabled.</a:t>
            </a:r>
          </a:p>
          <a:p>
            <a:r>
              <a:rPr lang="en-US" dirty="0"/>
              <a:t>     - Active devices with polling disabled.</a:t>
            </a:r>
          </a:p>
          <a:p>
            <a:r>
              <a:rPr lang="en-US" dirty="0"/>
              <a:t> - Provides a data-quality / health scorecard at the device level.</a:t>
            </a:r>
          </a:p>
          <a:p>
            <a:endParaRPr lang="en-US" dirty="0"/>
          </a:p>
          <a:p>
            <a:r>
              <a:rPr lang="en-US" dirty="0"/>
              <a:t> #### System Anomalies Dashboard</a:t>
            </a:r>
          </a:p>
          <a:p>
            <a:endParaRPr lang="en-US" dirty="0"/>
          </a:p>
          <a:p>
            <a:r>
              <a:rPr lang="en-US" dirty="0"/>
              <a:t> - Displays large red counters focused on grouping/structure problems, with drill-down lists for:</a:t>
            </a:r>
          </a:p>
          <a:p>
            <a:r>
              <a:rPr lang="en-US" dirty="0"/>
              <a:t>     - Empty leaf device and device type groups.</a:t>
            </a:r>
          </a:p>
          <a:p>
            <a:r>
              <a:rPr lang="en-US" dirty="0"/>
              <a:t>     - Empty Object Groups.</a:t>
            </a:r>
          </a:p>
          <a:p>
            <a:r>
              <a:rPr lang="en-US" dirty="0"/>
              <a:t>     - Object groups which do not follow custom hierarchy.</a:t>
            </a:r>
          </a:p>
          <a:p>
            <a:r>
              <a:rPr lang="en-US" dirty="0"/>
              <a:t>     - Object groups over 1000 members.</a:t>
            </a:r>
          </a:p>
          <a:p>
            <a:r>
              <a:rPr lang="en-US" dirty="0"/>
              <a:t> - Surfaces group-hygiene issues.</a:t>
            </a:r>
          </a:p>
          <a:p>
            <a:endParaRPr lang="en-US" dirty="0"/>
          </a:p>
          <a:p>
            <a:r>
              <a:rPr lang="en-US" dirty="0"/>
              <a:t> #### OG (Object Group) Tree Viewer</a:t>
            </a:r>
          </a:p>
          <a:p>
            <a:endParaRPr lang="en-US" dirty="0"/>
          </a:p>
          <a:p>
            <a:r>
              <a:rPr lang="en-US" dirty="0"/>
              <a:t> - Search by Group name and/or Group id.</a:t>
            </a:r>
          </a:p>
          <a:p>
            <a:r>
              <a:rPr lang="en-US" dirty="0"/>
              <a:t> - Toggle switches: Show class, Show members, Show bind type.</a:t>
            </a:r>
          </a:p>
          <a:p>
            <a:r>
              <a:rPr lang="en-US" dirty="0"/>
              <a:t> - Provides a general-purpose explorer for navigating/inspecting the object group hierarchy.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Control</a:t>
            </a:r>
          </a:p>
          <a:p>
            <a:endParaRPr lang="en-US" dirty="0"/>
          </a:p>
          <a:p>
            <a:r>
              <a:rPr lang="en-US" dirty="0"/>
              <a:t> Offers deep insights into the system's internals:</a:t>
            </a:r>
          </a:p>
          <a:p>
            <a:endParaRPr lang="en-US" dirty="0"/>
          </a:p>
          <a:p>
            <a:r>
              <a:rPr lang="en-US" dirty="0"/>
              <a:t> #### System Statistics</a:t>
            </a:r>
          </a:p>
          <a:p>
            <a:endParaRPr lang="en-US" dirty="0"/>
          </a:p>
          <a:p>
            <a:r>
              <a:rPr lang="en-US" dirty="0"/>
              <a:t> - Generic Statistics: Number of active devices, virtual devices, deleted devices, peers/appliances, device groups, object groups, average enabled/disabled</a:t>
            </a:r>
          </a:p>
          <a:p>
            <a:r>
              <a:rPr lang="en-US" dirty="0"/>
              <a:t>   object usage per device, total enabled/disabled object counts, total enabled indicator count.</a:t>
            </a:r>
          </a:p>
          <a:p>
            <a:r>
              <a:rPr lang="en-US" dirty="0"/>
              <a:t> - Object Statistics: Per-server breakdown of enabled/disabled/deleted/visible/hidden/total object counts.</a:t>
            </a:r>
          </a:p>
          <a:p>
            <a:r>
              <a:rPr lang="en-US" dirty="0"/>
              <a:t> - Indicator Statistics: Per-server breakdown of enabled/disabled/deleted/total indicator counts.</a:t>
            </a:r>
          </a:p>
          <a:p>
            <a:r>
              <a:rPr lang="en-US" dirty="0"/>
              <a:t> - Provides capacity planning and system-wide health at a glance.</a:t>
            </a:r>
          </a:p>
          <a:p>
            <a:endParaRPr lang="en-US" dirty="0"/>
          </a:p>
          <a:p>
            <a:r>
              <a:rPr lang="en-US" dirty="0"/>
              <a:t> #### Device Statistics</a:t>
            </a:r>
          </a:p>
          <a:p>
            <a:endParaRPr lang="en-US" dirty="0"/>
          </a:p>
          <a:p>
            <a:r>
              <a:rPr lang="en-US" dirty="0"/>
              <a:t> - Per-device table: device name, last discovery date, days since last discovery, peer (</a:t>
            </a:r>
            <a:r>
              <a:rPr lang="en-US" dirty="0" err="1"/>
              <a:t>SevOne</a:t>
            </a:r>
            <a:r>
              <a:rPr lang="en-US" dirty="0"/>
              <a:t> appliance/collector), enabled object count, disabled object</a:t>
            </a:r>
          </a:p>
          <a:p>
            <a:r>
              <a:rPr lang="en-US" dirty="0"/>
              <a:t>   count.</a:t>
            </a:r>
          </a:p>
          <a:p>
            <a:r>
              <a:rPr lang="en-US" dirty="0"/>
              <a:t> - Acts as a sortable/scrollable master list of every device with its discovery freshness and object counts.</a:t>
            </a:r>
          </a:p>
          <a:p>
            <a:endParaRPr lang="en-US" dirty="0"/>
          </a:p>
          <a:p>
            <a:r>
              <a:rPr lang="en-US" dirty="0"/>
              <a:t> #### Control Groups</a:t>
            </a:r>
          </a:p>
          <a:p>
            <a:endParaRPr lang="en-US" dirty="0"/>
          </a:p>
          <a:p>
            <a:r>
              <a:rPr lang="en-US" dirty="0"/>
              <a:t> - "Get all control groups" or "Get control groups where device is pinned" (enter a device name).</a:t>
            </a:r>
          </a:p>
          <a:p>
            <a:r>
              <a:rPr lang="en-US" dirty="0"/>
              <a:t> - Shows the Control Device Groups level structure: [</a:t>
            </a:r>
            <a:r>
              <a:rPr lang="en-US" dirty="0" err="1"/>
              <a:t>PlatformCategory</a:t>
            </a:r>
            <a:r>
              <a:rPr lang="en-US" dirty="0"/>
              <a:t>] → [</a:t>
            </a:r>
            <a:r>
              <a:rPr lang="en-US" dirty="0" err="1"/>
              <a:t>PlatformClass</a:t>
            </a:r>
            <a:r>
              <a:rPr lang="en-US" dirty="0"/>
              <a:t>] → [</a:t>
            </a:r>
            <a:r>
              <a:rPr lang="en-US" dirty="0" err="1"/>
              <a:t>PlatformGroup</a:t>
            </a:r>
            <a:r>
              <a:rPr lang="en-US" dirty="0"/>
              <a:t>] → [</a:t>
            </a:r>
            <a:r>
              <a:rPr lang="en-US" dirty="0" err="1"/>
              <a:t>PlatformType</a:t>
            </a:r>
            <a:r>
              <a:rPr lang="en-US" dirty="0"/>
              <a:t>].</a:t>
            </a:r>
          </a:p>
          <a:p>
            <a:r>
              <a:rPr lang="en-US" dirty="0"/>
              <a:t> - Inspects which Control Device Group(s) a given device is pinned to.</a:t>
            </a:r>
          </a:p>
          <a:p>
            <a:endParaRPr lang="en-US" dirty="0"/>
          </a:p>
          <a:p>
            <a:r>
              <a:rPr lang="en-US" dirty="0"/>
              <a:t> #### Constants</a:t>
            </a:r>
          </a:p>
          <a:p>
            <a:endParaRPr lang="en-US" dirty="0"/>
          </a:p>
          <a:p>
            <a:r>
              <a:rPr lang="en-US" dirty="0"/>
              <a:t> - Raw File Display of a PHP constants file (system-wide configuration constants).</a:t>
            </a:r>
          </a:p>
          <a:p>
            <a:r>
              <a:rPr lang="en-US" dirty="0"/>
              <a:t> - Provides a read-only view into root-level naming/config constants.</a:t>
            </a:r>
          </a:p>
          <a:p>
            <a:endParaRPr lang="en-US" dirty="0"/>
          </a:p>
          <a:p>
            <a:r>
              <a:rPr lang="en-US" dirty="0"/>
              <a:t> #### Rules Generic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/_RULES_GENERIC.ini.</a:t>
            </a:r>
          </a:p>
          <a:p>
            <a:r>
              <a:rPr lang="en-US" dirty="0"/>
              <a:t> - Determines which object types are associated with devices during the DEVICEPINNER provisioning process (phase 2).</a:t>
            </a:r>
          </a:p>
          <a:p>
            <a:r>
              <a:rPr lang="en-US" dirty="0"/>
              <a:t> - Devices are pinned to Device Type Groups, which are the file's key values; the object types listed under each Device Type Group get associated with</a:t>
            </a:r>
          </a:p>
          <a:p>
            <a:r>
              <a:rPr lang="en-US" dirty="0"/>
              <a:t>   those devices.</a:t>
            </a:r>
          </a:p>
          <a:p>
            <a:endParaRPr lang="en-US" dirty="0"/>
          </a:p>
          <a:p>
            <a:r>
              <a:rPr lang="en-US" dirty="0"/>
              <a:t> #### Rules Advanced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/_RULES_ADVANCED.ini.</a:t>
            </a:r>
          </a:p>
          <a:p>
            <a:r>
              <a:rPr lang="en-US" dirty="0"/>
              <a:t> - Determines which additional object types are associated with devices during DEVICEPINNER phase 2, but keyed by TAGS (device-specific object-type</a:t>
            </a:r>
          </a:p>
          <a:p>
            <a:r>
              <a:rPr lang="en-US" dirty="0"/>
              <a:t>   binding).</a:t>
            </a:r>
          </a:p>
          <a:p>
            <a:r>
              <a:rPr lang="en-US" dirty="0"/>
              <a:t> - Example: Enabling "Logical Interface" (SAP) SNMP query for devices tagged with "sap".</a:t>
            </a:r>
          </a:p>
          <a:p>
            <a:endParaRPr lang="en-US" dirty="0"/>
          </a:p>
          <a:p>
            <a:r>
              <a:rPr lang="en-US" dirty="0"/>
              <a:t> #### Rules Enable</a:t>
            </a:r>
          </a:p>
          <a:p>
            <a:endParaRPr lang="en-US" dirty="0"/>
          </a:p>
          <a:p>
            <a:r>
              <a:rPr lang="en-US" dirty="0"/>
              <a:t> - Raw file display of /opt/provisioning/</a:t>
            </a:r>
            <a:r>
              <a:rPr lang="en-US" dirty="0" err="1"/>
              <a:t>cfg</a:t>
            </a:r>
            <a:r>
              <a:rPr lang="en-US" dirty="0"/>
              <a:t>/_RULES_ENABLE_OBJECTS.ini.</a:t>
            </a:r>
          </a:p>
          <a:p>
            <a:r>
              <a:rPr lang="en-US" dirty="0"/>
              <a:t> - Determines which of the (previously discovered-but-disabled) objects actually get enabled during the DISCOVERYPOLLER phase (phase 3).</a:t>
            </a:r>
          </a:p>
          <a:p>
            <a:r>
              <a:rPr lang="en-US" dirty="0"/>
              <a:t> - Rule structure: </a:t>
            </a:r>
            <a:r>
              <a:rPr lang="en-US" dirty="0" err="1"/>
              <a:t>match_objtype</a:t>
            </a:r>
            <a:r>
              <a:rPr lang="en-US" dirty="0"/>
              <a:t>, </a:t>
            </a:r>
            <a:r>
              <a:rPr lang="en-US" dirty="0" err="1"/>
              <a:t>match_tag</a:t>
            </a:r>
            <a:r>
              <a:rPr lang="en-US" dirty="0"/>
              <a:t>, </a:t>
            </a:r>
            <a:r>
              <a:rPr lang="en-US" dirty="0" err="1"/>
              <a:t>match_regex</a:t>
            </a:r>
            <a:r>
              <a:rPr lang="en-US" dirty="0"/>
              <a:t>, </a:t>
            </a:r>
            <a:r>
              <a:rPr lang="en-US" dirty="0" err="1"/>
              <a:t>match_column</a:t>
            </a:r>
            <a:r>
              <a:rPr lang="en-US" dirty="0"/>
              <a:t>, </a:t>
            </a:r>
            <a:r>
              <a:rPr lang="en-US" dirty="0" err="1"/>
              <a:t>match_plugin</a:t>
            </a:r>
            <a:r>
              <a:rPr lang="en-US" dirty="0"/>
              <a:t>, </a:t>
            </a:r>
            <a:r>
              <a:rPr lang="en-US" dirty="0" err="1"/>
              <a:t>platformCategory</a:t>
            </a:r>
            <a:r>
              <a:rPr lang="en-US" dirty="0"/>
              <a:t>[], </a:t>
            </a:r>
            <a:r>
              <a:rPr lang="en-US" dirty="0" err="1"/>
              <a:t>platformClass</a:t>
            </a:r>
            <a:r>
              <a:rPr lang="en-US" dirty="0"/>
              <a:t>[], </a:t>
            </a:r>
            <a:r>
              <a:rPr lang="en-US" dirty="0" err="1"/>
              <a:t>platformType</a:t>
            </a:r>
            <a:r>
              <a:rPr lang="en-US" dirty="0"/>
              <a:t>[].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Change Reports</a:t>
            </a:r>
          </a:p>
          <a:p>
            <a:endParaRPr lang="en-US" dirty="0"/>
          </a:p>
          <a:p>
            <a:r>
              <a:rPr lang="en-US" dirty="0"/>
              <a:t> - Select Group Type: Device or Object.</a:t>
            </a:r>
          </a:p>
          <a:p>
            <a:r>
              <a:rPr lang="en-US" dirty="0"/>
              <a:t> - Select Date 1 and Date 2 for comparison.</a:t>
            </a:r>
          </a:p>
          <a:p>
            <a:r>
              <a:rPr lang="en-US" dirty="0"/>
              <a:t> - Provides results in the "Change Report Results" panel.</a:t>
            </a:r>
          </a:p>
          <a:p>
            <a:r>
              <a:rPr lang="en-US" dirty="0"/>
              <a:t> - Acts as a diff/audit tool for changes in devices, objects, and groups over time.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System Reports</a:t>
            </a:r>
          </a:p>
          <a:p>
            <a:endParaRPr lang="en-US" dirty="0"/>
          </a:p>
          <a:p>
            <a:r>
              <a:rPr lang="en-US" dirty="0"/>
              <a:t> - A single dropdown listing many pre-built, named reports.</a:t>
            </a:r>
          </a:p>
          <a:p>
            <a:r>
              <a:rPr lang="en-US" dirty="0"/>
              <a:t> - Reports include:</a:t>
            </a:r>
          </a:p>
          <a:p>
            <a:r>
              <a:rPr lang="en-US" dirty="0"/>
              <a:t>     - Ari </a:t>
            </a:r>
            <a:r>
              <a:rPr lang="en-US" dirty="0" err="1"/>
              <a:t>testaa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generic device category</a:t>
            </a:r>
          </a:p>
          <a:p>
            <a:r>
              <a:rPr lang="en-US" dirty="0"/>
              <a:t>     - </a:t>
            </a:r>
            <a:r>
              <a:rPr lang="en-US" dirty="0" err="1"/>
              <a:t>Autosummary</a:t>
            </a:r>
            <a:r>
              <a:rPr lang="en-US" dirty="0"/>
              <a:t> validation report</a:t>
            </a:r>
          </a:p>
          <a:p>
            <a:r>
              <a:rPr lang="en-US" dirty="0"/>
              <a:t>     - Device group rule report</a:t>
            </a:r>
          </a:p>
          <a:p>
            <a:r>
              <a:rPr lang="en-US" dirty="0"/>
              <a:t>     - Double device report</a:t>
            </a:r>
          </a:p>
          <a:p>
            <a:r>
              <a:rPr lang="en-US" dirty="0"/>
              <a:t>     - Dump </a:t>
            </a:r>
            <a:r>
              <a:rPr lang="en-US" dirty="0" err="1"/>
              <a:t>snet</a:t>
            </a:r>
            <a:r>
              <a:rPr lang="en-US" dirty="0"/>
              <a:t> latest</a:t>
            </a:r>
          </a:p>
          <a:p>
            <a:r>
              <a:rPr lang="en-US" dirty="0"/>
              <a:t>     - Dump spare part inventory latest</a:t>
            </a:r>
          </a:p>
          <a:p>
            <a:r>
              <a:rPr lang="en-US" dirty="0"/>
              <a:t>     - Dump spare part material latest</a:t>
            </a:r>
          </a:p>
          <a:p>
            <a:r>
              <a:rPr lang="en-US" dirty="0"/>
              <a:t>     - Exporter group report</a:t>
            </a:r>
          </a:p>
          <a:p>
            <a:r>
              <a:rPr lang="en-US" dirty="0"/>
              <a:t>     - Exporter group report locate to-be-removed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full with details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smo</a:t>
            </a:r>
            <a:r>
              <a:rPr lang="en-US" dirty="0"/>
              <a:t> uncategorized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first two levels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full list</a:t>
            </a:r>
          </a:p>
          <a:p>
            <a:r>
              <a:rPr lang="en-US" dirty="0"/>
              <a:t>     - Generic device category against </a:t>
            </a:r>
            <a:r>
              <a:rPr lang="en-US" dirty="0" err="1"/>
              <a:t>snet</a:t>
            </a:r>
            <a:r>
              <a:rPr lang="en-US" dirty="0"/>
              <a:t> print uncategorized</a:t>
            </a:r>
          </a:p>
          <a:p>
            <a:r>
              <a:rPr lang="en-US" dirty="0"/>
              <a:t>     - Generic device category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deviceroles.properties</a:t>
            </a:r>
            <a:endParaRPr lang="en-US" dirty="0"/>
          </a:p>
          <a:p>
            <a:r>
              <a:rPr lang="en-US" dirty="0"/>
              <a:t>     - Install base all by chassis model name</a:t>
            </a:r>
          </a:p>
          <a:p>
            <a:r>
              <a:rPr lang="en-US" dirty="0"/>
              <a:t>     - Install base all by chassis part number</a:t>
            </a:r>
          </a:p>
          <a:p>
            <a:r>
              <a:rPr lang="en-US" dirty="0"/>
              <a:t> - Provides a library of canned/scheduled-style reports for cross-checking device categorization, validating install-base/hardware inventory, and</a:t>
            </a:r>
          </a:p>
          <a:p>
            <a:r>
              <a:rPr lang="en-US" dirty="0"/>
              <a:t>   identifying duplicate devices or stale exporter groups.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External Data</a:t>
            </a:r>
          </a:p>
          <a:p>
            <a:endParaRPr lang="en-US" dirty="0"/>
          </a:p>
          <a:p>
            <a:r>
              <a:rPr lang="en-US" dirty="0"/>
              <a:t> Tracks the health of external data feeds:</a:t>
            </a:r>
          </a:p>
          <a:p>
            <a:endParaRPr lang="en-US" dirty="0"/>
          </a:p>
          <a:p>
            <a:r>
              <a:rPr lang="en-US" dirty="0"/>
              <a:t> #### External Data Overview</a:t>
            </a:r>
          </a:p>
          <a:p>
            <a:endParaRPr lang="en-US" dirty="0"/>
          </a:p>
          <a:p>
            <a:r>
              <a:rPr lang="en-US" dirty="0"/>
              <a:t> - Table columns: System, Content, Path, Filename, Rows, Cols, </a:t>
            </a:r>
            <a:r>
              <a:rPr lang="en-US" dirty="0" err="1"/>
              <a:t>Filetime</a:t>
            </a:r>
            <a:r>
              <a:rPr lang="en-US" dirty="0"/>
              <a:t>, </a:t>
            </a:r>
            <a:r>
              <a:rPr lang="en-US" dirty="0" err="1"/>
              <a:t>Filesize</a:t>
            </a:r>
            <a:r>
              <a:rPr lang="en-US" dirty="0"/>
              <a:t>.</a:t>
            </a:r>
          </a:p>
          <a:p>
            <a:r>
              <a:rPr lang="en-US" dirty="0"/>
              <a:t> - Feeds include:</a:t>
            </a:r>
          </a:p>
          <a:p>
            <a:r>
              <a:rPr lang="en-US" dirty="0"/>
              <a:t>     - SAP ERP: Material Data, Stock Inventory Data</a:t>
            </a:r>
          </a:p>
          <a:p>
            <a:r>
              <a:rPr lang="en-US" dirty="0"/>
              <a:t>     - SM/O L2: Termination and Service Data, SAP and Service Data</a:t>
            </a:r>
          </a:p>
          <a:p>
            <a:r>
              <a:rPr lang="en-US" dirty="0"/>
              <a:t>     - TOMAATTI: Device Data, Customer Data, Product and Subscription Data</a:t>
            </a:r>
          </a:p>
          <a:p>
            <a:r>
              <a:rPr lang="en-US" dirty="0"/>
              <a:t>     - MIT: Product and Subscription Data</a:t>
            </a:r>
          </a:p>
          <a:p>
            <a:r>
              <a:rPr lang="en-US" dirty="0"/>
              <a:t>     - SATELLITE SYSTEMS: SNET Device Data</a:t>
            </a:r>
          </a:p>
          <a:p>
            <a:r>
              <a:rPr lang="en-US" dirty="0"/>
              <a:t>     - SM/O: Link Data</a:t>
            </a:r>
          </a:p>
          <a:p>
            <a:r>
              <a:rPr lang="en-US" dirty="0"/>
              <a:t>     - NOORA (import): Filtered L2 Service Data, Previous L2 Service Data</a:t>
            </a:r>
          </a:p>
          <a:p>
            <a:endParaRPr lang="en-US" dirty="0"/>
          </a:p>
          <a:p>
            <a:r>
              <a:rPr lang="en-US" dirty="0"/>
              <a:t> #### External Data Validation</a:t>
            </a:r>
          </a:p>
          <a:p>
            <a:endParaRPr lang="en-US" dirty="0"/>
          </a:p>
          <a:p>
            <a:r>
              <a:rPr lang="en-US" dirty="0"/>
              <a:t> - Validates file existence, readability, date check, data parsing, parsed rows, and parsing time.</a:t>
            </a:r>
          </a:p>
          <a:p>
            <a:r>
              <a:rPr lang="en-US" dirty="0"/>
              <a:t> - Provides a health check for upstream files feeding provisioning/enrichment.</a:t>
            </a:r>
          </a:p>
          <a:p>
            <a:endParaRPr lang="en-US" dirty="0"/>
          </a:p>
          <a:p>
            <a:r>
              <a:rPr lang="en-US" dirty="0"/>
              <a:t> 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endParaRPr lang="en-US" dirty="0"/>
          </a:p>
          <a:p>
            <a:r>
              <a:rPr lang="en-US" dirty="0"/>
              <a:t> ### Device Dashboard</a:t>
            </a:r>
          </a:p>
          <a:p>
            <a:endParaRPr lang="en-US" dirty="0"/>
          </a:p>
          <a:p>
            <a:r>
              <a:rPr lang="en-US" dirty="0"/>
              <a:t> - Device selector: Searchable dropdown or free-text field.</a:t>
            </a:r>
          </a:p>
          <a:p>
            <a:r>
              <a:rPr lang="en-US" dirty="0"/>
              <a:t> - Labeled "Device Dashboard v1.6".</a:t>
            </a:r>
          </a:p>
          <a:p>
            <a:r>
              <a:rPr lang="en-US" dirty="0"/>
              <a:t> - Header row: device name, location/description, quick links to Splunk, Sense, Rasmus, Horizon, Health.</a:t>
            </a:r>
          </a:p>
          <a:p>
            <a:r>
              <a:rPr lang="en-US" dirty="0"/>
              <a:t> - Time range selector: Hour / Day / 3 Days / Week / Month / 3 Months / Custom.</a:t>
            </a:r>
          </a:p>
          <a:p>
            <a:r>
              <a:rPr lang="en-US" dirty="0"/>
              <a:t> - Staleness warning banner: Flags when upstream SM/O data hasn't refreshed in a long time.</a:t>
            </a:r>
          </a:p>
          <a:p>
            <a:r>
              <a:rPr lang="en-US" dirty="0"/>
              <a:t> - Sub-links: Basic, Hardware, Interface, Inventory, Info.</a:t>
            </a:r>
          </a:p>
          <a:p>
            <a:r>
              <a:rPr lang="en-US" dirty="0"/>
              <a:t> - Monitored Interfaces: List of clickable interfaces with connection details.</a:t>
            </a:r>
          </a:p>
          <a:p>
            <a:r>
              <a:rPr lang="en-US" dirty="0"/>
              <a:t> - Graphs/panels:</a:t>
            </a:r>
          </a:p>
          <a:p>
            <a:r>
              <a:rPr lang="en-US" dirty="0"/>
              <a:t>     - ICMP Availability (%)</a:t>
            </a:r>
          </a:p>
          <a:p>
            <a:r>
              <a:rPr lang="en-US" dirty="0"/>
              <a:t>     - SNMP Responsiveness (%)</a:t>
            </a:r>
          </a:p>
          <a:p>
            <a:r>
              <a:rPr lang="en-US" dirty="0"/>
              <a:t>     - Uptime Counter</a:t>
            </a:r>
          </a:p>
          <a:p>
            <a:r>
              <a:rPr lang="en-US" dirty="0"/>
              <a:t>     - ICMP Jitter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Maximum ping time (</a:t>
            </a:r>
            <a:r>
              <a:rPr lang="en-US" dirty="0" err="1"/>
              <a:t>ms</a:t>
            </a:r>
            <a:r>
              <a:rPr lang="en-US" dirty="0"/>
              <a:t>) with summary table</a:t>
            </a:r>
          </a:p>
          <a:p>
            <a:r>
              <a:rPr lang="en-US" dirty="0"/>
              <a:t>     - ICMP Packet loss (%) with summary table</a:t>
            </a:r>
          </a:p>
          <a:p>
            <a:r>
              <a:rPr lang="en-US" dirty="0"/>
              <a:t>     - CPU Utilization (%) with per-logical CPU breakdown</a:t>
            </a:r>
          </a:p>
          <a:p>
            <a:r>
              <a:rPr lang="en-US" dirty="0"/>
              <a:t>     - Memory Utilization (%) with per-process breakdown</a:t>
            </a:r>
          </a:p>
          <a:p>
            <a:r>
              <a:rPr lang="en-US" dirty="0"/>
              <a:t>     - Active Alerts panel</a:t>
            </a:r>
          </a:p>
          <a:p>
            <a:r>
              <a:rPr lang="en-US" dirty="0"/>
              <a:t> - Provides a single-pane-of-glass device view for triaging device health.</a:t>
            </a:r>
            <a:endParaRPr lang="fi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0EB7C-5DAF-96AE-EEB8-3C93CDD63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C45C3-5565-4FE5-A3C3-ACD5D59637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94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emf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8FC41-0C3B-F335-F07D-0734748DBF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E26D9F9-C1AB-2C48-0DB2-F2C48D37C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1589" y="2463185"/>
            <a:ext cx="4780884" cy="1426008"/>
          </a:xfrm>
          <a:prstGeom prst="rect">
            <a:avLst/>
          </a:prstGeom>
        </p:spPr>
      </p:pic>
      <p:sp>
        <p:nvSpPr>
          <p:cNvPr id="26" name="Shape 40">
            <a:extLst>
              <a:ext uri="{FF2B5EF4-FFF2-40B4-BE49-F238E27FC236}">
                <a16:creationId xmlns:a16="http://schemas.microsoft.com/office/drawing/2014/main" id="{65DD99E0-8C7C-7BCE-3F45-5B4A559DEE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242829" y="3989033"/>
            <a:ext cx="4699644" cy="44076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2667" b="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4F0ED9-5A34-6C0B-3DC7-56863ADB40F2}"/>
              </a:ext>
            </a:extLst>
          </p:cNvPr>
          <p:cNvGrpSpPr/>
          <p:nvPr userDrawn="1"/>
        </p:nvGrpSpPr>
        <p:grpSpPr>
          <a:xfrm>
            <a:off x="6495685" y="616526"/>
            <a:ext cx="4718455" cy="4239199"/>
            <a:chOff x="4871763" y="462394"/>
            <a:chExt cx="3538841" cy="317939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7CAA78-CA99-2C80-6E44-AB32C8FC400D}"/>
                </a:ext>
              </a:extLst>
            </p:cNvPr>
            <p:cNvGrpSpPr/>
            <p:nvPr userDrawn="1"/>
          </p:nvGrpSpPr>
          <p:grpSpPr>
            <a:xfrm>
              <a:off x="4871763" y="1181006"/>
              <a:ext cx="352594" cy="352594"/>
              <a:chOff x="4235052" y="501600"/>
              <a:chExt cx="352594" cy="352594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C1E7049-EC95-8B45-E998-A5AC35623E5A}"/>
                  </a:ext>
                </a:extLst>
              </p:cNvPr>
              <p:cNvSpPr/>
              <p:nvPr userDrawn="1"/>
            </p:nvSpPr>
            <p:spPr>
              <a:xfrm>
                <a:off x="4235052" y="501600"/>
                <a:ext cx="352594" cy="352594"/>
              </a:xfrm>
              <a:prstGeom prst="ellips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60958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sp>
            <p:nvSpPr>
              <p:cNvPr id="13" name="Graphic 34">
                <a:extLst>
                  <a:ext uri="{FF2B5EF4-FFF2-40B4-BE49-F238E27FC236}">
                    <a16:creationId xmlns:a16="http://schemas.microsoft.com/office/drawing/2014/main" id="{68696B7E-DC32-6C7E-79CF-3D3F52C14296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4284602" y="591439"/>
                <a:ext cx="253493" cy="172917"/>
              </a:xfrm>
              <a:custGeom>
                <a:avLst/>
                <a:gdLst>
                  <a:gd name="connsiteX0" fmla="*/ 610819 w 623547"/>
                  <a:gd name="connsiteY0" fmla="*/ 190382 h 425346"/>
                  <a:gd name="connsiteX1" fmla="*/ 580681 w 623547"/>
                  <a:gd name="connsiteY1" fmla="*/ 178239 h 425346"/>
                  <a:gd name="connsiteX2" fmla="*/ 550835 w 623547"/>
                  <a:gd name="connsiteY2" fmla="*/ 190967 h 425346"/>
                  <a:gd name="connsiteX3" fmla="*/ 540447 w 623547"/>
                  <a:gd name="connsiteY3" fmla="*/ 232225 h 425346"/>
                  <a:gd name="connsiteX4" fmla="*/ 521866 w 623547"/>
                  <a:gd name="connsiteY4" fmla="*/ 242027 h 425346"/>
                  <a:gd name="connsiteX5" fmla="*/ 300947 w 623547"/>
                  <a:gd name="connsiteY5" fmla="*/ 110500 h 425346"/>
                  <a:gd name="connsiteX6" fmla="*/ 204972 w 623547"/>
                  <a:gd name="connsiteY6" fmla="*/ 159219 h 425346"/>
                  <a:gd name="connsiteX7" fmla="*/ 191512 w 623547"/>
                  <a:gd name="connsiteY7" fmla="*/ 156732 h 425346"/>
                  <a:gd name="connsiteX8" fmla="*/ 190927 w 623547"/>
                  <a:gd name="connsiteY8" fmla="*/ 142102 h 425346"/>
                  <a:gd name="connsiteX9" fmla="*/ 237744 w 623547"/>
                  <a:gd name="connsiteY9" fmla="*/ 89140 h 425346"/>
                  <a:gd name="connsiteX10" fmla="*/ 301533 w 623547"/>
                  <a:gd name="connsiteY10" fmla="*/ 52271 h 425346"/>
                  <a:gd name="connsiteX11" fmla="*/ 364151 w 623547"/>
                  <a:gd name="connsiteY11" fmla="*/ 55343 h 425346"/>
                  <a:gd name="connsiteX12" fmla="*/ 437888 w 623547"/>
                  <a:gd name="connsiteY12" fmla="*/ 79922 h 425346"/>
                  <a:gd name="connsiteX13" fmla="*/ 484851 w 623547"/>
                  <a:gd name="connsiteY13" fmla="*/ 59440 h 425346"/>
                  <a:gd name="connsiteX14" fmla="*/ 501676 w 623547"/>
                  <a:gd name="connsiteY14" fmla="*/ 92944 h 425346"/>
                  <a:gd name="connsiteX15" fmla="*/ 555224 w 623547"/>
                  <a:gd name="connsiteY15" fmla="*/ 11745 h 425346"/>
                  <a:gd name="connsiteX16" fmla="*/ 458078 w 623547"/>
                  <a:gd name="connsiteY16" fmla="*/ 5893 h 425346"/>
                  <a:gd name="connsiteX17" fmla="*/ 475488 w 623547"/>
                  <a:gd name="connsiteY17" fmla="*/ 40713 h 425346"/>
                  <a:gd name="connsiteX18" fmla="*/ 436864 w 623547"/>
                  <a:gd name="connsiteY18" fmla="*/ 57538 h 425346"/>
                  <a:gd name="connsiteX19" fmla="*/ 371758 w 623547"/>
                  <a:gd name="connsiteY19" fmla="*/ 36324 h 425346"/>
                  <a:gd name="connsiteX20" fmla="*/ 293047 w 623547"/>
                  <a:gd name="connsiteY20" fmla="*/ 33544 h 425346"/>
                  <a:gd name="connsiteX21" fmla="*/ 291730 w 623547"/>
                  <a:gd name="connsiteY21" fmla="*/ 34129 h 425346"/>
                  <a:gd name="connsiteX22" fmla="*/ 235696 w 623547"/>
                  <a:gd name="connsiteY22" fmla="*/ 66316 h 425346"/>
                  <a:gd name="connsiteX23" fmla="*/ 221797 w 623547"/>
                  <a:gd name="connsiteY23" fmla="*/ 65146 h 425346"/>
                  <a:gd name="connsiteX24" fmla="*/ 162983 w 623547"/>
                  <a:gd name="connsiteY24" fmla="*/ 65146 h 425346"/>
                  <a:gd name="connsiteX25" fmla="*/ 148206 w 623547"/>
                  <a:gd name="connsiteY25" fmla="*/ 55929 h 425346"/>
                  <a:gd name="connsiteX26" fmla="*/ 150401 w 623547"/>
                  <a:gd name="connsiteY26" fmla="*/ 41883 h 425346"/>
                  <a:gd name="connsiteX27" fmla="*/ 137672 w 623547"/>
                  <a:gd name="connsiteY27" fmla="*/ 12037 h 425346"/>
                  <a:gd name="connsiteX28" fmla="*/ 77687 w 623547"/>
                  <a:gd name="connsiteY28" fmla="*/ 12769 h 425346"/>
                  <a:gd name="connsiteX29" fmla="*/ 65691 w 623547"/>
                  <a:gd name="connsiteY29" fmla="*/ 42908 h 425346"/>
                  <a:gd name="connsiteX30" fmla="*/ 78419 w 623547"/>
                  <a:gd name="connsiteY30" fmla="*/ 72754 h 425346"/>
                  <a:gd name="connsiteX31" fmla="*/ 108119 w 623547"/>
                  <a:gd name="connsiteY31" fmla="*/ 84750 h 425346"/>
                  <a:gd name="connsiteX32" fmla="*/ 137087 w 623547"/>
                  <a:gd name="connsiteY32" fmla="*/ 73339 h 425346"/>
                  <a:gd name="connsiteX33" fmla="*/ 157131 w 623547"/>
                  <a:gd name="connsiteY33" fmla="*/ 85921 h 425346"/>
                  <a:gd name="connsiteX34" fmla="*/ 210824 w 623547"/>
                  <a:gd name="connsiteY34" fmla="*/ 85921 h 425346"/>
                  <a:gd name="connsiteX35" fmla="*/ 174394 w 623547"/>
                  <a:gd name="connsiteY35" fmla="*/ 129520 h 425346"/>
                  <a:gd name="connsiteX36" fmla="*/ 176004 w 623547"/>
                  <a:gd name="connsiteY36" fmla="*/ 170924 h 425346"/>
                  <a:gd name="connsiteX37" fmla="*/ 214335 w 623547"/>
                  <a:gd name="connsiteY37" fmla="*/ 177946 h 425346"/>
                  <a:gd name="connsiteX38" fmla="*/ 300216 w 623547"/>
                  <a:gd name="connsiteY38" fmla="*/ 134494 h 425346"/>
                  <a:gd name="connsiteX39" fmla="*/ 518648 w 623547"/>
                  <a:gd name="connsiteY39" fmla="*/ 264412 h 425346"/>
                  <a:gd name="connsiteX40" fmla="*/ 514405 w 623547"/>
                  <a:gd name="connsiteY40" fmla="*/ 282554 h 425346"/>
                  <a:gd name="connsiteX41" fmla="*/ 480609 w 623547"/>
                  <a:gd name="connsiteY41" fmla="*/ 295867 h 425346"/>
                  <a:gd name="connsiteX42" fmla="*/ 381853 w 623547"/>
                  <a:gd name="connsiteY42" fmla="*/ 236468 h 425346"/>
                  <a:gd name="connsiteX43" fmla="*/ 371173 w 623547"/>
                  <a:gd name="connsiteY43" fmla="*/ 254317 h 425346"/>
                  <a:gd name="connsiteX44" fmla="*/ 467880 w 623547"/>
                  <a:gd name="connsiteY44" fmla="*/ 312546 h 425346"/>
                  <a:gd name="connsiteX45" fmla="*/ 464662 w 623547"/>
                  <a:gd name="connsiteY45" fmla="*/ 332004 h 425346"/>
                  <a:gd name="connsiteX46" fmla="*/ 439351 w 623547"/>
                  <a:gd name="connsiteY46" fmla="*/ 339612 h 425346"/>
                  <a:gd name="connsiteX47" fmla="*/ 427354 w 623547"/>
                  <a:gd name="connsiteY47" fmla="*/ 333467 h 425346"/>
                  <a:gd name="connsiteX48" fmla="*/ 350106 w 623547"/>
                  <a:gd name="connsiteY48" fmla="*/ 286943 h 425346"/>
                  <a:gd name="connsiteX49" fmla="*/ 339425 w 623547"/>
                  <a:gd name="connsiteY49" fmla="*/ 304792 h 425346"/>
                  <a:gd name="connsiteX50" fmla="*/ 414626 w 623547"/>
                  <a:gd name="connsiteY50" fmla="*/ 350000 h 425346"/>
                  <a:gd name="connsiteX51" fmla="*/ 411261 w 623547"/>
                  <a:gd name="connsiteY51" fmla="*/ 367995 h 425346"/>
                  <a:gd name="connsiteX52" fmla="*/ 384194 w 623547"/>
                  <a:gd name="connsiteY52" fmla="*/ 378968 h 425346"/>
                  <a:gd name="connsiteX53" fmla="*/ 314261 w 623547"/>
                  <a:gd name="connsiteY53" fmla="*/ 336832 h 425346"/>
                  <a:gd name="connsiteX54" fmla="*/ 303581 w 623547"/>
                  <a:gd name="connsiteY54" fmla="*/ 354681 h 425346"/>
                  <a:gd name="connsiteX55" fmla="*/ 366784 w 623547"/>
                  <a:gd name="connsiteY55" fmla="*/ 392720 h 425346"/>
                  <a:gd name="connsiteX56" fmla="*/ 334597 w 623547"/>
                  <a:gd name="connsiteY56" fmla="*/ 404425 h 425346"/>
                  <a:gd name="connsiteX57" fmla="*/ 281050 w 623547"/>
                  <a:gd name="connsiteY57" fmla="*/ 392428 h 425346"/>
                  <a:gd name="connsiteX58" fmla="*/ 285585 w 623547"/>
                  <a:gd name="connsiteY58" fmla="*/ 384966 h 425346"/>
                  <a:gd name="connsiteX59" fmla="*/ 289828 w 623547"/>
                  <a:gd name="connsiteY59" fmla="*/ 357607 h 425346"/>
                  <a:gd name="connsiteX60" fmla="*/ 273588 w 623547"/>
                  <a:gd name="connsiteY60" fmla="*/ 335223 h 425346"/>
                  <a:gd name="connsiteX61" fmla="*/ 258373 w 623547"/>
                  <a:gd name="connsiteY61" fmla="*/ 330102 h 425346"/>
                  <a:gd name="connsiteX62" fmla="*/ 260275 w 623547"/>
                  <a:gd name="connsiteY62" fmla="*/ 307279 h 425346"/>
                  <a:gd name="connsiteX63" fmla="*/ 244035 w 623547"/>
                  <a:gd name="connsiteY63" fmla="*/ 284894 h 425346"/>
                  <a:gd name="connsiteX64" fmla="*/ 225601 w 623547"/>
                  <a:gd name="connsiteY64" fmla="*/ 279627 h 425346"/>
                  <a:gd name="connsiteX65" fmla="*/ 224869 w 623547"/>
                  <a:gd name="connsiteY65" fmla="*/ 266753 h 425346"/>
                  <a:gd name="connsiteX66" fmla="*/ 208630 w 623547"/>
                  <a:gd name="connsiteY66" fmla="*/ 244368 h 425346"/>
                  <a:gd name="connsiteX67" fmla="*/ 161373 w 623547"/>
                  <a:gd name="connsiteY67" fmla="*/ 252854 h 425346"/>
                  <a:gd name="connsiteX68" fmla="*/ 149962 w 623547"/>
                  <a:gd name="connsiteY68" fmla="*/ 241735 h 425346"/>
                  <a:gd name="connsiteX69" fmla="*/ 122603 w 623547"/>
                  <a:gd name="connsiteY69" fmla="*/ 237492 h 425346"/>
                  <a:gd name="connsiteX70" fmla="*/ 100218 w 623547"/>
                  <a:gd name="connsiteY70" fmla="*/ 253732 h 425346"/>
                  <a:gd name="connsiteX71" fmla="*/ 97292 w 623547"/>
                  <a:gd name="connsiteY71" fmla="*/ 258413 h 425346"/>
                  <a:gd name="connsiteX72" fmla="*/ 62033 w 623547"/>
                  <a:gd name="connsiteY72" fmla="*/ 212181 h 425346"/>
                  <a:gd name="connsiteX73" fmla="*/ 90562 w 623547"/>
                  <a:gd name="connsiteY73" fmla="*/ 189358 h 425346"/>
                  <a:gd name="connsiteX74" fmla="*/ 0 w 623547"/>
                  <a:gd name="connsiteY74" fmla="*/ 153952 h 425346"/>
                  <a:gd name="connsiteX75" fmla="*/ 14630 w 623547"/>
                  <a:gd name="connsiteY75" fmla="*/ 250074 h 425346"/>
                  <a:gd name="connsiteX76" fmla="*/ 45208 w 623547"/>
                  <a:gd name="connsiteY76" fmla="*/ 225641 h 425346"/>
                  <a:gd name="connsiteX77" fmla="*/ 85149 w 623547"/>
                  <a:gd name="connsiteY77" fmla="*/ 277872 h 425346"/>
                  <a:gd name="connsiteX78" fmla="*/ 71250 w 623547"/>
                  <a:gd name="connsiteY78" fmla="*/ 300549 h 425346"/>
                  <a:gd name="connsiteX79" fmla="*/ 67007 w 623547"/>
                  <a:gd name="connsiteY79" fmla="*/ 327761 h 425346"/>
                  <a:gd name="connsiteX80" fmla="*/ 83247 w 623547"/>
                  <a:gd name="connsiteY80" fmla="*/ 350146 h 425346"/>
                  <a:gd name="connsiteX81" fmla="*/ 98316 w 623547"/>
                  <a:gd name="connsiteY81" fmla="*/ 355267 h 425346"/>
                  <a:gd name="connsiteX82" fmla="*/ 112215 w 623547"/>
                  <a:gd name="connsiteY82" fmla="*/ 401206 h 425346"/>
                  <a:gd name="connsiteX83" fmla="*/ 112215 w 623547"/>
                  <a:gd name="connsiteY83" fmla="*/ 401206 h 425346"/>
                  <a:gd name="connsiteX84" fmla="*/ 130942 w 623547"/>
                  <a:gd name="connsiteY84" fmla="*/ 406473 h 425346"/>
                  <a:gd name="connsiteX85" fmla="*/ 139428 w 623547"/>
                  <a:gd name="connsiteY85" fmla="*/ 405449 h 425346"/>
                  <a:gd name="connsiteX86" fmla="*/ 151278 w 623547"/>
                  <a:gd name="connsiteY86" fmla="*/ 400182 h 425346"/>
                  <a:gd name="connsiteX87" fmla="*/ 164446 w 623547"/>
                  <a:gd name="connsiteY87" fmla="*/ 414227 h 425346"/>
                  <a:gd name="connsiteX88" fmla="*/ 164446 w 623547"/>
                  <a:gd name="connsiteY88" fmla="*/ 414227 h 425346"/>
                  <a:gd name="connsiteX89" fmla="*/ 183173 w 623547"/>
                  <a:gd name="connsiteY89" fmla="*/ 419494 h 425346"/>
                  <a:gd name="connsiteX90" fmla="*/ 211117 w 623547"/>
                  <a:gd name="connsiteY90" fmla="*/ 406327 h 425346"/>
                  <a:gd name="connsiteX91" fmla="*/ 222528 w 623547"/>
                  <a:gd name="connsiteY91" fmla="*/ 417592 h 425346"/>
                  <a:gd name="connsiteX92" fmla="*/ 241255 w 623547"/>
                  <a:gd name="connsiteY92" fmla="*/ 422859 h 425346"/>
                  <a:gd name="connsiteX93" fmla="*/ 249741 w 623547"/>
                  <a:gd name="connsiteY93" fmla="*/ 421835 h 425346"/>
                  <a:gd name="connsiteX94" fmla="*/ 268029 w 623547"/>
                  <a:gd name="connsiteY94" fmla="*/ 411008 h 425346"/>
                  <a:gd name="connsiteX95" fmla="*/ 330062 w 623547"/>
                  <a:gd name="connsiteY95" fmla="*/ 424907 h 425346"/>
                  <a:gd name="connsiteX96" fmla="*/ 331671 w 623547"/>
                  <a:gd name="connsiteY96" fmla="*/ 425200 h 425346"/>
                  <a:gd name="connsiteX97" fmla="*/ 336792 w 623547"/>
                  <a:gd name="connsiteY97" fmla="*/ 425346 h 425346"/>
                  <a:gd name="connsiteX98" fmla="*/ 386243 w 623547"/>
                  <a:gd name="connsiteY98" fmla="*/ 399743 h 425346"/>
                  <a:gd name="connsiteX99" fmla="*/ 427647 w 623547"/>
                  <a:gd name="connsiteY99" fmla="*/ 379992 h 425346"/>
                  <a:gd name="connsiteX100" fmla="*/ 435547 w 623547"/>
                  <a:gd name="connsiteY100" fmla="*/ 360241 h 425346"/>
                  <a:gd name="connsiteX101" fmla="*/ 480462 w 623547"/>
                  <a:gd name="connsiteY101" fmla="*/ 345172 h 425346"/>
                  <a:gd name="connsiteX102" fmla="*/ 489387 w 623547"/>
                  <a:gd name="connsiteY102" fmla="*/ 318398 h 425346"/>
                  <a:gd name="connsiteX103" fmla="*/ 532254 w 623547"/>
                  <a:gd name="connsiteY103" fmla="*/ 292941 h 425346"/>
                  <a:gd name="connsiteX104" fmla="*/ 538106 w 623547"/>
                  <a:gd name="connsiteY104" fmla="*/ 257243 h 425346"/>
                  <a:gd name="connsiteX105" fmla="*/ 550688 w 623547"/>
                  <a:gd name="connsiteY105" fmla="*/ 250513 h 425346"/>
                  <a:gd name="connsiteX106" fmla="*/ 551274 w 623547"/>
                  <a:gd name="connsiteY106" fmla="*/ 251244 h 425346"/>
                  <a:gd name="connsiteX107" fmla="*/ 551274 w 623547"/>
                  <a:gd name="connsiteY107" fmla="*/ 251244 h 425346"/>
                  <a:gd name="connsiteX108" fmla="*/ 580973 w 623547"/>
                  <a:gd name="connsiteY108" fmla="*/ 263241 h 425346"/>
                  <a:gd name="connsiteX109" fmla="*/ 611404 w 623547"/>
                  <a:gd name="connsiteY109" fmla="*/ 250513 h 425346"/>
                  <a:gd name="connsiteX110" fmla="*/ 623548 w 623547"/>
                  <a:gd name="connsiteY110" fmla="*/ 220374 h 425346"/>
                  <a:gd name="connsiteX111" fmla="*/ 610819 w 623547"/>
                  <a:gd name="connsiteY111" fmla="*/ 190382 h 425346"/>
                  <a:gd name="connsiteX112" fmla="*/ 92903 w 623547"/>
                  <a:gd name="connsiteY112" fmla="*/ 57977 h 425346"/>
                  <a:gd name="connsiteX113" fmla="*/ 86319 w 623547"/>
                  <a:gd name="connsiteY113" fmla="*/ 42761 h 425346"/>
                  <a:gd name="connsiteX114" fmla="*/ 92464 w 623547"/>
                  <a:gd name="connsiteY114" fmla="*/ 27399 h 425346"/>
                  <a:gd name="connsiteX115" fmla="*/ 123042 w 623547"/>
                  <a:gd name="connsiteY115" fmla="*/ 27107 h 425346"/>
                  <a:gd name="connsiteX116" fmla="*/ 129479 w 623547"/>
                  <a:gd name="connsiteY116" fmla="*/ 42322 h 425346"/>
                  <a:gd name="connsiteX117" fmla="*/ 123334 w 623547"/>
                  <a:gd name="connsiteY117" fmla="*/ 57684 h 425346"/>
                  <a:gd name="connsiteX118" fmla="*/ 92903 w 623547"/>
                  <a:gd name="connsiteY118" fmla="*/ 57977 h 425346"/>
                  <a:gd name="connsiteX119" fmla="*/ 105631 w 623547"/>
                  <a:gd name="connsiteY119" fmla="*/ 334199 h 425346"/>
                  <a:gd name="connsiteX120" fmla="*/ 94073 w 623547"/>
                  <a:gd name="connsiteY120" fmla="*/ 332297 h 425346"/>
                  <a:gd name="connsiteX121" fmla="*/ 94073 w 623547"/>
                  <a:gd name="connsiteY121" fmla="*/ 332297 h 425346"/>
                  <a:gd name="connsiteX122" fmla="*/ 87197 w 623547"/>
                  <a:gd name="connsiteY122" fmla="*/ 322787 h 425346"/>
                  <a:gd name="connsiteX123" fmla="*/ 88953 w 623547"/>
                  <a:gd name="connsiteY123" fmla="*/ 311229 h 425346"/>
                  <a:gd name="connsiteX124" fmla="*/ 117336 w 623547"/>
                  <a:gd name="connsiteY124" fmla="*/ 264851 h 425346"/>
                  <a:gd name="connsiteX125" fmla="*/ 126846 w 623547"/>
                  <a:gd name="connsiteY125" fmla="*/ 257974 h 425346"/>
                  <a:gd name="connsiteX126" fmla="*/ 130503 w 623547"/>
                  <a:gd name="connsiteY126" fmla="*/ 257536 h 425346"/>
                  <a:gd name="connsiteX127" fmla="*/ 138404 w 623547"/>
                  <a:gd name="connsiteY127" fmla="*/ 259730 h 425346"/>
                  <a:gd name="connsiteX128" fmla="*/ 145280 w 623547"/>
                  <a:gd name="connsiteY128" fmla="*/ 269240 h 425346"/>
                  <a:gd name="connsiteX129" fmla="*/ 143524 w 623547"/>
                  <a:gd name="connsiteY129" fmla="*/ 280798 h 425346"/>
                  <a:gd name="connsiteX130" fmla="*/ 115141 w 623547"/>
                  <a:gd name="connsiteY130" fmla="*/ 327176 h 425346"/>
                  <a:gd name="connsiteX131" fmla="*/ 105631 w 623547"/>
                  <a:gd name="connsiteY131" fmla="*/ 334199 h 425346"/>
                  <a:gd name="connsiteX132" fmla="*/ 143963 w 623547"/>
                  <a:gd name="connsiteY132" fmla="*/ 378383 h 425346"/>
                  <a:gd name="connsiteX133" fmla="*/ 134453 w 623547"/>
                  <a:gd name="connsiteY133" fmla="*/ 385259 h 425346"/>
                  <a:gd name="connsiteX134" fmla="*/ 122895 w 623547"/>
                  <a:gd name="connsiteY134" fmla="*/ 383503 h 425346"/>
                  <a:gd name="connsiteX135" fmla="*/ 117775 w 623547"/>
                  <a:gd name="connsiteY135" fmla="*/ 362435 h 425346"/>
                  <a:gd name="connsiteX136" fmla="*/ 175857 w 623547"/>
                  <a:gd name="connsiteY136" fmla="*/ 267630 h 425346"/>
                  <a:gd name="connsiteX137" fmla="*/ 196779 w 623547"/>
                  <a:gd name="connsiteY137" fmla="*/ 262656 h 425346"/>
                  <a:gd name="connsiteX138" fmla="*/ 203655 w 623547"/>
                  <a:gd name="connsiteY138" fmla="*/ 272166 h 425346"/>
                  <a:gd name="connsiteX139" fmla="*/ 201900 w 623547"/>
                  <a:gd name="connsiteY139" fmla="*/ 283724 h 425346"/>
                  <a:gd name="connsiteX140" fmla="*/ 143963 w 623547"/>
                  <a:gd name="connsiteY140" fmla="*/ 378383 h 425346"/>
                  <a:gd name="connsiteX141" fmla="*/ 196194 w 623547"/>
                  <a:gd name="connsiteY141" fmla="*/ 391550 h 425346"/>
                  <a:gd name="connsiteX142" fmla="*/ 175272 w 623547"/>
                  <a:gd name="connsiteY142" fmla="*/ 396524 h 425346"/>
                  <a:gd name="connsiteX143" fmla="*/ 175272 w 623547"/>
                  <a:gd name="connsiteY143" fmla="*/ 396524 h 425346"/>
                  <a:gd name="connsiteX144" fmla="*/ 168396 w 623547"/>
                  <a:gd name="connsiteY144" fmla="*/ 387015 h 425346"/>
                  <a:gd name="connsiteX145" fmla="*/ 170152 w 623547"/>
                  <a:gd name="connsiteY145" fmla="*/ 375457 h 425346"/>
                  <a:gd name="connsiteX146" fmla="*/ 211409 w 623547"/>
                  <a:gd name="connsiteY146" fmla="*/ 308010 h 425346"/>
                  <a:gd name="connsiteX147" fmla="*/ 220773 w 623547"/>
                  <a:gd name="connsiteY147" fmla="*/ 301134 h 425346"/>
                  <a:gd name="connsiteX148" fmla="*/ 224430 w 623547"/>
                  <a:gd name="connsiteY148" fmla="*/ 300695 h 425346"/>
                  <a:gd name="connsiteX149" fmla="*/ 232331 w 623547"/>
                  <a:gd name="connsiteY149" fmla="*/ 302890 h 425346"/>
                  <a:gd name="connsiteX150" fmla="*/ 239207 w 623547"/>
                  <a:gd name="connsiteY150" fmla="*/ 312400 h 425346"/>
                  <a:gd name="connsiteX151" fmla="*/ 237451 w 623547"/>
                  <a:gd name="connsiteY151" fmla="*/ 323958 h 425346"/>
                  <a:gd name="connsiteX152" fmla="*/ 223260 w 623547"/>
                  <a:gd name="connsiteY152" fmla="*/ 347220 h 425346"/>
                  <a:gd name="connsiteX153" fmla="*/ 223114 w 623547"/>
                  <a:gd name="connsiteY153" fmla="*/ 347366 h 425346"/>
                  <a:gd name="connsiteX154" fmla="*/ 212141 w 623547"/>
                  <a:gd name="connsiteY154" fmla="*/ 365215 h 425346"/>
                  <a:gd name="connsiteX155" fmla="*/ 196194 w 623547"/>
                  <a:gd name="connsiteY155" fmla="*/ 391550 h 425346"/>
                  <a:gd name="connsiteX156" fmla="*/ 244913 w 623547"/>
                  <a:gd name="connsiteY156" fmla="*/ 401791 h 425346"/>
                  <a:gd name="connsiteX157" fmla="*/ 233355 w 623547"/>
                  <a:gd name="connsiteY157" fmla="*/ 399889 h 425346"/>
                  <a:gd name="connsiteX158" fmla="*/ 233355 w 623547"/>
                  <a:gd name="connsiteY158" fmla="*/ 399889 h 425346"/>
                  <a:gd name="connsiteX159" fmla="*/ 226479 w 623547"/>
                  <a:gd name="connsiteY159" fmla="*/ 390380 h 425346"/>
                  <a:gd name="connsiteX160" fmla="*/ 228234 w 623547"/>
                  <a:gd name="connsiteY160" fmla="*/ 378822 h 425346"/>
                  <a:gd name="connsiteX161" fmla="*/ 240963 w 623547"/>
                  <a:gd name="connsiteY161" fmla="*/ 358046 h 425346"/>
                  <a:gd name="connsiteX162" fmla="*/ 253984 w 623547"/>
                  <a:gd name="connsiteY162" fmla="*/ 350877 h 425346"/>
                  <a:gd name="connsiteX163" fmla="*/ 261884 w 623547"/>
                  <a:gd name="connsiteY163" fmla="*/ 353072 h 425346"/>
                  <a:gd name="connsiteX164" fmla="*/ 268760 w 623547"/>
                  <a:gd name="connsiteY164" fmla="*/ 362582 h 425346"/>
                  <a:gd name="connsiteX165" fmla="*/ 267005 w 623547"/>
                  <a:gd name="connsiteY165" fmla="*/ 374140 h 425346"/>
                  <a:gd name="connsiteX166" fmla="*/ 254423 w 623547"/>
                  <a:gd name="connsiteY166" fmla="*/ 394769 h 425346"/>
                  <a:gd name="connsiteX167" fmla="*/ 244913 w 623547"/>
                  <a:gd name="connsiteY167" fmla="*/ 401791 h 425346"/>
                  <a:gd name="connsiteX168" fmla="*/ 596628 w 623547"/>
                  <a:gd name="connsiteY168" fmla="*/ 235882 h 425346"/>
                  <a:gd name="connsiteX169" fmla="*/ 566050 w 623547"/>
                  <a:gd name="connsiteY169" fmla="*/ 236321 h 425346"/>
                  <a:gd name="connsiteX170" fmla="*/ 565611 w 623547"/>
                  <a:gd name="connsiteY170" fmla="*/ 205744 h 425346"/>
                  <a:gd name="connsiteX171" fmla="*/ 580827 w 623547"/>
                  <a:gd name="connsiteY171" fmla="*/ 199160 h 425346"/>
                  <a:gd name="connsiteX172" fmla="*/ 596189 w 623547"/>
                  <a:gd name="connsiteY172" fmla="*/ 205305 h 425346"/>
                  <a:gd name="connsiteX173" fmla="*/ 602626 w 623547"/>
                  <a:gd name="connsiteY173" fmla="*/ 220521 h 425346"/>
                  <a:gd name="connsiteX174" fmla="*/ 596628 w 623547"/>
                  <a:gd name="connsiteY174" fmla="*/ 235882 h 42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</a:cxnLst>
                <a:rect l="l" t="t" r="r" b="b"/>
                <a:pathLst>
                  <a:path w="623547" h="425346">
                    <a:moveTo>
                      <a:pt x="610819" y="190382"/>
                    </a:moveTo>
                    <a:cubicBezTo>
                      <a:pt x="602773" y="182482"/>
                      <a:pt x="591946" y="178531"/>
                      <a:pt x="580681" y="178239"/>
                    </a:cubicBezTo>
                    <a:cubicBezTo>
                      <a:pt x="569269" y="178385"/>
                      <a:pt x="558735" y="182920"/>
                      <a:pt x="550835" y="190967"/>
                    </a:cubicBezTo>
                    <a:cubicBezTo>
                      <a:pt x="539862" y="202233"/>
                      <a:pt x="536350" y="218180"/>
                      <a:pt x="540447" y="232225"/>
                    </a:cubicBezTo>
                    <a:lnTo>
                      <a:pt x="521866" y="242027"/>
                    </a:lnTo>
                    <a:lnTo>
                      <a:pt x="300947" y="110500"/>
                    </a:lnTo>
                    <a:lnTo>
                      <a:pt x="204972" y="159219"/>
                    </a:lnTo>
                    <a:cubicBezTo>
                      <a:pt x="200436" y="161414"/>
                      <a:pt x="194877" y="160536"/>
                      <a:pt x="191512" y="156732"/>
                    </a:cubicBezTo>
                    <a:cubicBezTo>
                      <a:pt x="187854" y="152636"/>
                      <a:pt x="187562" y="146491"/>
                      <a:pt x="190927" y="142102"/>
                    </a:cubicBezTo>
                    <a:cubicBezTo>
                      <a:pt x="224284" y="99235"/>
                      <a:pt x="235111" y="90749"/>
                      <a:pt x="237744" y="89140"/>
                    </a:cubicBezTo>
                    <a:cubicBezTo>
                      <a:pt x="251936" y="80215"/>
                      <a:pt x="295680" y="55490"/>
                      <a:pt x="301533" y="52271"/>
                    </a:cubicBezTo>
                    <a:cubicBezTo>
                      <a:pt x="332110" y="40567"/>
                      <a:pt x="362688" y="54612"/>
                      <a:pt x="364151" y="55343"/>
                    </a:cubicBezTo>
                    <a:lnTo>
                      <a:pt x="437888" y="79922"/>
                    </a:lnTo>
                    <a:lnTo>
                      <a:pt x="484851" y="59440"/>
                    </a:lnTo>
                    <a:lnTo>
                      <a:pt x="501676" y="92944"/>
                    </a:lnTo>
                    <a:lnTo>
                      <a:pt x="555224" y="11745"/>
                    </a:lnTo>
                    <a:lnTo>
                      <a:pt x="458078" y="5893"/>
                    </a:lnTo>
                    <a:lnTo>
                      <a:pt x="475488" y="40713"/>
                    </a:lnTo>
                    <a:lnTo>
                      <a:pt x="436864" y="57538"/>
                    </a:lnTo>
                    <a:lnTo>
                      <a:pt x="371758" y="36324"/>
                    </a:lnTo>
                    <a:cubicBezTo>
                      <a:pt x="370149" y="35592"/>
                      <a:pt x="332403" y="18036"/>
                      <a:pt x="293047" y="33544"/>
                    </a:cubicBezTo>
                    <a:lnTo>
                      <a:pt x="291730" y="34129"/>
                    </a:lnTo>
                    <a:cubicBezTo>
                      <a:pt x="289975" y="35153"/>
                      <a:pt x="255593" y="54466"/>
                      <a:pt x="235696" y="66316"/>
                    </a:cubicBezTo>
                    <a:cubicBezTo>
                      <a:pt x="227649" y="65292"/>
                      <a:pt x="222382" y="65146"/>
                      <a:pt x="221797" y="65146"/>
                    </a:cubicBezTo>
                    <a:lnTo>
                      <a:pt x="162983" y="65146"/>
                    </a:lnTo>
                    <a:lnTo>
                      <a:pt x="148206" y="55929"/>
                    </a:lnTo>
                    <a:cubicBezTo>
                      <a:pt x="149669" y="51539"/>
                      <a:pt x="150401" y="46711"/>
                      <a:pt x="150401" y="41883"/>
                    </a:cubicBezTo>
                    <a:cubicBezTo>
                      <a:pt x="150254" y="30618"/>
                      <a:pt x="145719" y="19938"/>
                      <a:pt x="137672" y="12037"/>
                    </a:cubicBezTo>
                    <a:cubicBezTo>
                      <a:pt x="120993" y="-4349"/>
                      <a:pt x="94073" y="-3910"/>
                      <a:pt x="77687" y="12769"/>
                    </a:cubicBezTo>
                    <a:cubicBezTo>
                      <a:pt x="69787" y="20816"/>
                      <a:pt x="65544" y="31642"/>
                      <a:pt x="65691" y="42908"/>
                    </a:cubicBezTo>
                    <a:cubicBezTo>
                      <a:pt x="65837" y="54173"/>
                      <a:pt x="70372" y="64853"/>
                      <a:pt x="78419" y="72754"/>
                    </a:cubicBezTo>
                    <a:cubicBezTo>
                      <a:pt x="86612" y="80800"/>
                      <a:pt x="97438" y="84750"/>
                      <a:pt x="108119" y="84750"/>
                    </a:cubicBezTo>
                    <a:cubicBezTo>
                      <a:pt x="118506" y="84750"/>
                      <a:pt x="129040" y="80947"/>
                      <a:pt x="137087" y="73339"/>
                    </a:cubicBezTo>
                    <a:lnTo>
                      <a:pt x="157131" y="85921"/>
                    </a:lnTo>
                    <a:lnTo>
                      <a:pt x="210824" y="85921"/>
                    </a:lnTo>
                    <a:cubicBezTo>
                      <a:pt x="201461" y="95870"/>
                      <a:pt x="189317" y="110500"/>
                      <a:pt x="174394" y="129520"/>
                    </a:cubicBezTo>
                    <a:cubicBezTo>
                      <a:pt x="164738" y="141955"/>
                      <a:pt x="165470" y="159366"/>
                      <a:pt x="176004" y="170924"/>
                    </a:cubicBezTo>
                    <a:cubicBezTo>
                      <a:pt x="185660" y="181604"/>
                      <a:pt x="201461" y="184530"/>
                      <a:pt x="214335" y="177946"/>
                    </a:cubicBezTo>
                    <a:lnTo>
                      <a:pt x="300216" y="134494"/>
                    </a:lnTo>
                    <a:lnTo>
                      <a:pt x="518648" y="264412"/>
                    </a:lnTo>
                    <a:cubicBezTo>
                      <a:pt x="519233" y="269532"/>
                      <a:pt x="518209" y="275677"/>
                      <a:pt x="514405" y="282554"/>
                    </a:cubicBezTo>
                    <a:cubicBezTo>
                      <a:pt x="503432" y="302012"/>
                      <a:pt x="484559" y="297184"/>
                      <a:pt x="480609" y="295867"/>
                    </a:cubicBezTo>
                    <a:lnTo>
                      <a:pt x="381853" y="236468"/>
                    </a:lnTo>
                    <a:lnTo>
                      <a:pt x="371173" y="254317"/>
                    </a:lnTo>
                    <a:lnTo>
                      <a:pt x="467880" y="312546"/>
                    </a:lnTo>
                    <a:cubicBezTo>
                      <a:pt x="469051" y="316642"/>
                      <a:pt x="470514" y="324835"/>
                      <a:pt x="464662" y="332004"/>
                    </a:cubicBezTo>
                    <a:cubicBezTo>
                      <a:pt x="457639" y="340636"/>
                      <a:pt x="443740" y="340051"/>
                      <a:pt x="439351" y="339612"/>
                    </a:cubicBezTo>
                    <a:lnTo>
                      <a:pt x="427354" y="333467"/>
                    </a:lnTo>
                    <a:lnTo>
                      <a:pt x="350106" y="286943"/>
                    </a:lnTo>
                    <a:lnTo>
                      <a:pt x="339425" y="304792"/>
                    </a:lnTo>
                    <a:lnTo>
                      <a:pt x="414626" y="350000"/>
                    </a:lnTo>
                    <a:cubicBezTo>
                      <a:pt x="415796" y="352779"/>
                      <a:pt x="417259" y="359363"/>
                      <a:pt x="411261" y="367995"/>
                    </a:cubicBezTo>
                    <a:cubicBezTo>
                      <a:pt x="404531" y="377651"/>
                      <a:pt x="390485" y="378968"/>
                      <a:pt x="384194" y="378968"/>
                    </a:cubicBezTo>
                    <a:lnTo>
                      <a:pt x="314261" y="336832"/>
                    </a:lnTo>
                    <a:lnTo>
                      <a:pt x="303581" y="354681"/>
                    </a:lnTo>
                    <a:lnTo>
                      <a:pt x="366784" y="392720"/>
                    </a:lnTo>
                    <a:cubicBezTo>
                      <a:pt x="362395" y="398134"/>
                      <a:pt x="353178" y="405156"/>
                      <a:pt x="334597" y="404425"/>
                    </a:cubicBezTo>
                    <a:lnTo>
                      <a:pt x="281050" y="392428"/>
                    </a:lnTo>
                    <a:lnTo>
                      <a:pt x="285585" y="384966"/>
                    </a:lnTo>
                    <a:cubicBezTo>
                      <a:pt x="290560" y="376773"/>
                      <a:pt x="292169" y="367117"/>
                      <a:pt x="289828" y="357607"/>
                    </a:cubicBezTo>
                    <a:cubicBezTo>
                      <a:pt x="287634" y="348244"/>
                      <a:pt x="281782" y="340344"/>
                      <a:pt x="273588" y="335223"/>
                    </a:cubicBezTo>
                    <a:cubicBezTo>
                      <a:pt x="268760" y="332297"/>
                      <a:pt x="263640" y="330688"/>
                      <a:pt x="258373" y="330102"/>
                    </a:cubicBezTo>
                    <a:cubicBezTo>
                      <a:pt x="261445" y="322933"/>
                      <a:pt x="262177" y="315033"/>
                      <a:pt x="260275" y="307279"/>
                    </a:cubicBezTo>
                    <a:cubicBezTo>
                      <a:pt x="258080" y="297915"/>
                      <a:pt x="252228" y="290015"/>
                      <a:pt x="244035" y="284894"/>
                    </a:cubicBezTo>
                    <a:cubicBezTo>
                      <a:pt x="238329" y="281383"/>
                      <a:pt x="232038" y="279627"/>
                      <a:pt x="225601" y="279627"/>
                    </a:cubicBezTo>
                    <a:cubicBezTo>
                      <a:pt x="226186" y="275385"/>
                      <a:pt x="225893" y="270995"/>
                      <a:pt x="224869" y="266753"/>
                    </a:cubicBezTo>
                    <a:cubicBezTo>
                      <a:pt x="222675" y="257389"/>
                      <a:pt x="216823" y="249489"/>
                      <a:pt x="208630" y="244368"/>
                    </a:cubicBezTo>
                    <a:cubicBezTo>
                      <a:pt x="192829" y="234712"/>
                      <a:pt x="172492" y="238662"/>
                      <a:pt x="161373" y="252854"/>
                    </a:cubicBezTo>
                    <a:cubicBezTo>
                      <a:pt x="158447" y="248465"/>
                      <a:pt x="154643" y="244661"/>
                      <a:pt x="149962" y="241735"/>
                    </a:cubicBezTo>
                    <a:cubicBezTo>
                      <a:pt x="141769" y="236760"/>
                      <a:pt x="132113" y="235151"/>
                      <a:pt x="122603" y="237492"/>
                    </a:cubicBezTo>
                    <a:cubicBezTo>
                      <a:pt x="113239" y="239686"/>
                      <a:pt x="105339" y="245539"/>
                      <a:pt x="100218" y="253732"/>
                    </a:cubicBezTo>
                    <a:lnTo>
                      <a:pt x="97292" y="258413"/>
                    </a:lnTo>
                    <a:lnTo>
                      <a:pt x="62033" y="212181"/>
                    </a:lnTo>
                    <a:lnTo>
                      <a:pt x="90562" y="189358"/>
                    </a:lnTo>
                    <a:lnTo>
                      <a:pt x="0" y="153952"/>
                    </a:lnTo>
                    <a:lnTo>
                      <a:pt x="14630" y="250074"/>
                    </a:lnTo>
                    <a:lnTo>
                      <a:pt x="45208" y="225641"/>
                    </a:lnTo>
                    <a:lnTo>
                      <a:pt x="85149" y="277872"/>
                    </a:lnTo>
                    <a:lnTo>
                      <a:pt x="71250" y="300549"/>
                    </a:lnTo>
                    <a:cubicBezTo>
                      <a:pt x="66276" y="308742"/>
                      <a:pt x="64666" y="318398"/>
                      <a:pt x="67007" y="327761"/>
                    </a:cubicBezTo>
                    <a:cubicBezTo>
                      <a:pt x="69202" y="337125"/>
                      <a:pt x="75054" y="345025"/>
                      <a:pt x="83247" y="350146"/>
                    </a:cubicBezTo>
                    <a:cubicBezTo>
                      <a:pt x="87929" y="353072"/>
                      <a:pt x="93049" y="354681"/>
                      <a:pt x="98316" y="355267"/>
                    </a:cubicBezTo>
                    <a:cubicBezTo>
                      <a:pt x="90708" y="371653"/>
                      <a:pt x="96414" y="391550"/>
                      <a:pt x="112215" y="401206"/>
                    </a:cubicBezTo>
                    <a:lnTo>
                      <a:pt x="112215" y="401206"/>
                    </a:lnTo>
                    <a:cubicBezTo>
                      <a:pt x="117921" y="404717"/>
                      <a:pt x="124358" y="406473"/>
                      <a:pt x="130942" y="406473"/>
                    </a:cubicBezTo>
                    <a:cubicBezTo>
                      <a:pt x="133722" y="406473"/>
                      <a:pt x="136648" y="406180"/>
                      <a:pt x="139428" y="405449"/>
                    </a:cubicBezTo>
                    <a:cubicBezTo>
                      <a:pt x="143671" y="404425"/>
                      <a:pt x="147621" y="402669"/>
                      <a:pt x="151278" y="400182"/>
                    </a:cubicBezTo>
                    <a:cubicBezTo>
                      <a:pt x="154204" y="405888"/>
                      <a:pt x="158740" y="410716"/>
                      <a:pt x="164446" y="414227"/>
                    </a:cubicBezTo>
                    <a:lnTo>
                      <a:pt x="164446" y="414227"/>
                    </a:lnTo>
                    <a:cubicBezTo>
                      <a:pt x="170298" y="417885"/>
                      <a:pt x="176882" y="419494"/>
                      <a:pt x="183173" y="419494"/>
                    </a:cubicBezTo>
                    <a:cubicBezTo>
                      <a:pt x="193707" y="419494"/>
                      <a:pt x="204094" y="414812"/>
                      <a:pt x="211117" y="406327"/>
                    </a:cubicBezTo>
                    <a:cubicBezTo>
                      <a:pt x="214043" y="410862"/>
                      <a:pt x="217847" y="414666"/>
                      <a:pt x="222528" y="417592"/>
                    </a:cubicBezTo>
                    <a:cubicBezTo>
                      <a:pt x="228234" y="421103"/>
                      <a:pt x="234672" y="422859"/>
                      <a:pt x="241255" y="422859"/>
                    </a:cubicBezTo>
                    <a:cubicBezTo>
                      <a:pt x="244035" y="422859"/>
                      <a:pt x="246961" y="422566"/>
                      <a:pt x="249741" y="421835"/>
                    </a:cubicBezTo>
                    <a:cubicBezTo>
                      <a:pt x="256910" y="420079"/>
                      <a:pt x="263201" y="416275"/>
                      <a:pt x="268029" y="411008"/>
                    </a:cubicBezTo>
                    <a:lnTo>
                      <a:pt x="330062" y="424907"/>
                    </a:lnTo>
                    <a:lnTo>
                      <a:pt x="331671" y="425200"/>
                    </a:lnTo>
                    <a:cubicBezTo>
                      <a:pt x="333427" y="425346"/>
                      <a:pt x="335182" y="425346"/>
                      <a:pt x="336792" y="425346"/>
                    </a:cubicBezTo>
                    <a:cubicBezTo>
                      <a:pt x="364590" y="425346"/>
                      <a:pt x="379659" y="411447"/>
                      <a:pt x="386243" y="399743"/>
                    </a:cubicBezTo>
                    <a:cubicBezTo>
                      <a:pt x="397069" y="399158"/>
                      <a:pt x="416528" y="395939"/>
                      <a:pt x="427647" y="379992"/>
                    </a:cubicBezTo>
                    <a:cubicBezTo>
                      <a:pt x="432475" y="373116"/>
                      <a:pt x="434816" y="366386"/>
                      <a:pt x="435547" y="360241"/>
                    </a:cubicBezTo>
                    <a:cubicBezTo>
                      <a:pt x="441984" y="360972"/>
                      <a:pt x="466271" y="362728"/>
                      <a:pt x="480462" y="345172"/>
                    </a:cubicBezTo>
                    <a:cubicBezTo>
                      <a:pt x="487924" y="335954"/>
                      <a:pt x="489680" y="326298"/>
                      <a:pt x="489387" y="318398"/>
                    </a:cubicBezTo>
                    <a:cubicBezTo>
                      <a:pt x="503578" y="318544"/>
                      <a:pt x="521135" y="312985"/>
                      <a:pt x="532254" y="292941"/>
                    </a:cubicBezTo>
                    <a:cubicBezTo>
                      <a:pt x="539715" y="279627"/>
                      <a:pt x="540447" y="267484"/>
                      <a:pt x="538106" y="257243"/>
                    </a:cubicBezTo>
                    <a:lnTo>
                      <a:pt x="550688" y="250513"/>
                    </a:lnTo>
                    <a:cubicBezTo>
                      <a:pt x="550981" y="250806"/>
                      <a:pt x="551127" y="250952"/>
                      <a:pt x="551274" y="251244"/>
                    </a:cubicBezTo>
                    <a:lnTo>
                      <a:pt x="551274" y="251244"/>
                    </a:lnTo>
                    <a:cubicBezTo>
                      <a:pt x="559467" y="259291"/>
                      <a:pt x="570147" y="263241"/>
                      <a:pt x="580973" y="263241"/>
                    </a:cubicBezTo>
                    <a:cubicBezTo>
                      <a:pt x="591946" y="263241"/>
                      <a:pt x="603065" y="258999"/>
                      <a:pt x="611404" y="250513"/>
                    </a:cubicBezTo>
                    <a:cubicBezTo>
                      <a:pt x="619305" y="242320"/>
                      <a:pt x="623548" y="231640"/>
                      <a:pt x="623548" y="220374"/>
                    </a:cubicBezTo>
                    <a:cubicBezTo>
                      <a:pt x="623401" y="208963"/>
                      <a:pt x="618866" y="198282"/>
                      <a:pt x="610819" y="190382"/>
                    </a:cubicBezTo>
                    <a:close/>
                    <a:moveTo>
                      <a:pt x="92903" y="57977"/>
                    </a:moveTo>
                    <a:cubicBezTo>
                      <a:pt x="88807" y="53880"/>
                      <a:pt x="86466" y="48613"/>
                      <a:pt x="86319" y="42761"/>
                    </a:cubicBezTo>
                    <a:cubicBezTo>
                      <a:pt x="86319" y="37055"/>
                      <a:pt x="88368" y="31496"/>
                      <a:pt x="92464" y="27399"/>
                    </a:cubicBezTo>
                    <a:cubicBezTo>
                      <a:pt x="100803" y="18914"/>
                      <a:pt x="114556" y="18767"/>
                      <a:pt x="123042" y="27107"/>
                    </a:cubicBezTo>
                    <a:cubicBezTo>
                      <a:pt x="127138" y="31203"/>
                      <a:pt x="129479" y="36470"/>
                      <a:pt x="129479" y="42322"/>
                    </a:cubicBezTo>
                    <a:cubicBezTo>
                      <a:pt x="129479" y="48028"/>
                      <a:pt x="127431" y="53588"/>
                      <a:pt x="123334" y="57684"/>
                    </a:cubicBezTo>
                    <a:cubicBezTo>
                      <a:pt x="115141" y="66170"/>
                      <a:pt x="101535" y="66316"/>
                      <a:pt x="92903" y="57977"/>
                    </a:cubicBezTo>
                    <a:close/>
                    <a:moveTo>
                      <a:pt x="105631" y="334199"/>
                    </a:moveTo>
                    <a:cubicBezTo>
                      <a:pt x="101681" y="335077"/>
                      <a:pt x="97585" y="334491"/>
                      <a:pt x="94073" y="332297"/>
                    </a:cubicBezTo>
                    <a:lnTo>
                      <a:pt x="94073" y="332297"/>
                    </a:lnTo>
                    <a:cubicBezTo>
                      <a:pt x="90562" y="330102"/>
                      <a:pt x="88221" y="326884"/>
                      <a:pt x="87197" y="322787"/>
                    </a:cubicBezTo>
                    <a:cubicBezTo>
                      <a:pt x="86173" y="318837"/>
                      <a:pt x="86905" y="314740"/>
                      <a:pt x="88953" y="311229"/>
                    </a:cubicBezTo>
                    <a:lnTo>
                      <a:pt x="117336" y="264851"/>
                    </a:lnTo>
                    <a:cubicBezTo>
                      <a:pt x="119530" y="261339"/>
                      <a:pt x="122895" y="258999"/>
                      <a:pt x="126846" y="257974"/>
                    </a:cubicBezTo>
                    <a:cubicBezTo>
                      <a:pt x="128016" y="257682"/>
                      <a:pt x="129186" y="257536"/>
                      <a:pt x="130503" y="257536"/>
                    </a:cubicBezTo>
                    <a:cubicBezTo>
                      <a:pt x="133283" y="257536"/>
                      <a:pt x="136063" y="258267"/>
                      <a:pt x="138404" y="259730"/>
                    </a:cubicBezTo>
                    <a:cubicBezTo>
                      <a:pt x="141915" y="261925"/>
                      <a:pt x="144256" y="265143"/>
                      <a:pt x="145280" y="269240"/>
                    </a:cubicBezTo>
                    <a:cubicBezTo>
                      <a:pt x="146304" y="273190"/>
                      <a:pt x="145572" y="277287"/>
                      <a:pt x="143524" y="280798"/>
                    </a:cubicBezTo>
                    <a:lnTo>
                      <a:pt x="115141" y="327176"/>
                    </a:lnTo>
                    <a:cubicBezTo>
                      <a:pt x="112947" y="330834"/>
                      <a:pt x="109582" y="333321"/>
                      <a:pt x="105631" y="334199"/>
                    </a:cubicBezTo>
                    <a:close/>
                    <a:moveTo>
                      <a:pt x="143963" y="378383"/>
                    </a:moveTo>
                    <a:cubicBezTo>
                      <a:pt x="141769" y="381894"/>
                      <a:pt x="138550" y="384235"/>
                      <a:pt x="134453" y="385259"/>
                    </a:cubicBezTo>
                    <a:cubicBezTo>
                      <a:pt x="130503" y="386283"/>
                      <a:pt x="126407" y="385552"/>
                      <a:pt x="122895" y="383503"/>
                    </a:cubicBezTo>
                    <a:cubicBezTo>
                      <a:pt x="115726" y="379114"/>
                      <a:pt x="113386" y="369604"/>
                      <a:pt x="117775" y="362435"/>
                    </a:cubicBezTo>
                    <a:lnTo>
                      <a:pt x="175857" y="267630"/>
                    </a:lnTo>
                    <a:cubicBezTo>
                      <a:pt x="180247" y="260462"/>
                      <a:pt x="189610" y="258121"/>
                      <a:pt x="196779" y="262656"/>
                    </a:cubicBezTo>
                    <a:cubicBezTo>
                      <a:pt x="200290" y="264851"/>
                      <a:pt x="202631" y="268216"/>
                      <a:pt x="203655" y="272166"/>
                    </a:cubicBezTo>
                    <a:cubicBezTo>
                      <a:pt x="204679" y="276116"/>
                      <a:pt x="203948" y="280213"/>
                      <a:pt x="201900" y="283724"/>
                    </a:cubicBezTo>
                    <a:lnTo>
                      <a:pt x="143963" y="378383"/>
                    </a:lnTo>
                    <a:close/>
                    <a:moveTo>
                      <a:pt x="196194" y="391550"/>
                    </a:moveTo>
                    <a:cubicBezTo>
                      <a:pt x="191805" y="398719"/>
                      <a:pt x="182441" y="400913"/>
                      <a:pt x="175272" y="396524"/>
                    </a:cubicBezTo>
                    <a:lnTo>
                      <a:pt x="175272" y="396524"/>
                    </a:lnTo>
                    <a:cubicBezTo>
                      <a:pt x="171761" y="394330"/>
                      <a:pt x="169420" y="390965"/>
                      <a:pt x="168396" y="387015"/>
                    </a:cubicBezTo>
                    <a:cubicBezTo>
                      <a:pt x="167372" y="383064"/>
                      <a:pt x="168103" y="378968"/>
                      <a:pt x="170152" y="375457"/>
                    </a:cubicBezTo>
                    <a:lnTo>
                      <a:pt x="211409" y="308010"/>
                    </a:lnTo>
                    <a:cubicBezTo>
                      <a:pt x="213604" y="304499"/>
                      <a:pt x="216823" y="302158"/>
                      <a:pt x="220773" y="301134"/>
                    </a:cubicBezTo>
                    <a:cubicBezTo>
                      <a:pt x="221943" y="300842"/>
                      <a:pt x="223114" y="300695"/>
                      <a:pt x="224430" y="300695"/>
                    </a:cubicBezTo>
                    <a:cubicBezTo>
                      <a:pt x="227210" y="300695"/>
                      <a:pt x="229990" y="301427"/>
                      <a:pt x="232331" y="302890"/>
                    </a:cubicBezTo>
                    <a:cubicBezTo>
                      <a:pt x="235842" y="305084"/>
                      <a:pt x="238183" y="308303"/>
                      <a:pt x="239207" y="312400"/>
                    </a:cubicBezTo>
                    <a:cubicBezTo>
                      <a:pt x="240231" y="316350"/>
                      <a:pt x="239500" y="320446"/>
                      <a:pt x="237451" y="323958"/>
                    </a:cubicBezTo>
                    <a:lnTo>
                      <a:pt x="223260" y="347220"/>
                    </a:lnTo>
                    <a:cubicBezTo>
                      <a:pt x="223260" y="347220"/>
                      <a:pt x="223260" y="347366"/>
                      <a:pt x="223114" y="347366"/>
                    </a:cubicBezTo>
                    <a:lnTo>
                      <a:pt x="212141" y="365215"/>
                    </a:lnTo>
                    <a:lnTo>
                      <a:pt x="196194" y="391550"/>
                    </a:lnTo>
                    <a:close/>
                    <a:moveTo>
                      <a:pt x="244913" y="401791"/>
                    </a:moveTo>
                    <a:cubicBezTo>
                      <a:pt x="240963" y="402669"/>
                      <a:pt x="236866" y="402084"/>
                      <a:pt x="233355" y="399889"/>
                    </a:cubicBezTo>
                    <a:lnTo>
                      <a:pt x="233355" y="399889"/>
                    </a:lnTo>
                    <a:cubicBezTo>
                      <a:pt x="229844" y="397695"/>
                      <a:pt x="227503" y="394476"/>
                      <a:pt x="226479" y="390380"/>
                    </a:cubicBezTo>
                    <a:cubicBezTo>
                      <a:pt x="225454" y="386429"/>
                      <a:pt x="226186" y="382333"/>
                      <a:pt x="228234" y="378822"/>
                    </a:cubicBezTo>
                    <a:lnTo>
                      <a:pt x="240963" y="358046"/>
                    </a:lnTo>
                    <a:cubicBezTo>
                      <a:pt x="243889" y="353365"/>
                      <a:pt x="248863" y="350877"/>
                      <a:pt x="253984" y="350877"/>
                    </a:cubicBezTo>
                    <a:cubicBezTo>
                      <a:pt x="256764" y="350877"/>
                      <a:pt x="259397" y="351609"/>
                      <a:pt x="261884" y="353072"/>
                    </a:cubicBezTo>
                    <a:cubicBezTo>
                      <a:pt x="265395" y="355267"/>
                      <a:pt x="267736" y="358632"/>
                      <a:pt x="268760" y="362582"/>
                    </a:cubicBezTo>
                    <a:cubicBezTo>
                      <a:pt x="269785" y="366532"/>
                      <a:pt x="269053" y="370628"/>
                      <a:pt x="267005" y="374140"/>
                    </a:cubicBezTo>
                    <a:lnTo>
                      <a:pt x="254423" y="394769"/>
                    </a:lnTo>
                    <a:cubicBezTo>
                      <a:pt x="252228" y="398426"/>
                      <a:pt x="248863" y="400767"/>
                      <a:pt x="244913" y="401791"/>
                    </a:cubicBezTo>
                    <a:close/>
                    <a:moveTo>
                      <a:pt x="596628" y="235882"/>
                    </a:moveTo>
                    <a:cubicBezTo>
                      <a:pt x="588288" y="244368"/>
                      <a:pt x="574536" y="244661"/>
                      <a:pt x="566050" y="236321"/>
                    </a:cubicBezTo>
                    <a:cubicBezTo>
                      <a:pt x="557565" y="227982"/>
                      <a:pt x="557418" y="214230"/>
                      <a:pt x="565611" y="205744"/>
                    </a:cubicBezTo>
                    <a:cubicBezTo>
                      <a:pt x="569708" y="201647"/>
                      <a:pt x="574975" y="199307"/>
                      <a:pt x="580827" y="199160"/>
                    </a:cubicBezTo>
                    <a:cubicBezTo>
                      <a:pt x="586533" y="199453"/>
                      <a:pt x="592092" y="201208"/>
                      <a:pt x="596189" y="205305"/>
                    </a:cubicBezTo>
                    <a:cubicBezTo>
                      <a:pt x="600285" y="209401"/>
                      <a:pt x="602626" y="214668"/>
                      <a:pt x="602626" y="220521"/>
                    </a:cubicBezTo>
                    <a:cubicBezTo>
                      <a:pt x="602773" y="226226"/>
                      <a:pt x="600578" y="231786"/>
                      <a:pt x="596628" y="2358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4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40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0650D96-BBE6-AA55-DB80-619056E9E850}"/>
                </a:ext>
              </a:extLst>
            </p:cNvPr>
            <p:cNvGrpSpPr/>
            <p:nvPr userDrawn="1"/>
          </p:nvGrpSpPr>
          <p:grpSpPr>
            <a:xfrm>
              <a:off x="6394563" y="462394"/>
              <a:ext cx="352594" cy="352594"/>
              <a:chOff x="5958085" y="278870"/>
              <a:chExt cx="352594" cy="352594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CA25DC0-37A8-2AA7-2285-FB4650F04CDF}"/>
                  </a:ext>
                </a:extLst>
              </p:cNvPr>
              <p:cNvSpPr/>
              <p:nvPr userDrawn="1"/>
            </p:nvSpPr>
            <p:spPr>
              <a:xfrm>
                <a:off x="5958085" y="278870"/>
                <a:ext cx="352594" cy="352594"/>
              </a:xfrm>
              <a:prstGeom prst="ellips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60958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grpSp>
            <p:nvGrpSpPr>
              <p:cNvPr id="24" name="Graphic 18">
                <a:extLst>
                  <a:ext uri="{FF2B5EF4-FFF2-40B4-BE49-F238E27FC236}">
                    <a16:creationId xmlns:a16="http://schemas.microsoft.com/office/drawing/2014/main" id="{522DDCE4-E8BD-FE3A-3027-3ADD46A9FD3C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6027555" y="346905"/>
                <a:ext cx="213655" cy="216525"/>
                <a:chOff x="7942469" y="2296735"/>
                <a:chExt cx="588142" cy="596042"/>
              </a:xfrm>
              <a:solidFill>
                <a:schemeClr val="accent1"/>
              </a:solidFill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35DE8AB9-CAD1-9987-9295-EB50D85BB21D}"/>
                    </a:ext>
                  </a:extLst>
                </p:cNvPr>
                <p:cNvSpPr/>
                <p:nvPr/>
              </p:nvSpPr>
              <p:spPr>
                <a:xfrm>
                  <a:off x="7942469" y="2296735"/>
                  <a:ext cx="588142" cy="596042"/>
                </a:xfrm>
                <a:custGeom>
                  <a:avLst/>
                  <a:gdLst>
                    <a:gd name="connsiteX0" fmla="*/ 588142 w 588142"/>
                    <a:gd name="connsiteY0" fmla="*/ 258519 h 596042"/>
                    <a:gd name="connsiteX1" fmla="*/ 414040 w 588142"/>
                    <a:gd name="connsiteY1" fmla="*/ 74908 h 596042"/>
                    <a:gd name="connsiteX2" fmla="*/ 414040 w 588142"/>
                    <a:gd name="connsiteY2" fmla="*/ 19312 h 596042"/>
                    <a:gd name="connsiteX3" fmla="*/ 449592 w 588142"/>
                    <a:gd name="connsiteY3" fmla="*/ 19312 h 596042"/>
                    <a:gd name="connsiteX4" fmla="*/ 449592 w 588142"/>
                    <a:gd name="connsiteY4" fmla="*/ 0 h 596042"/>
                    <a:gd name="connsiteX5" fmla="*/ 359176 w 588142"/>
                    <a:gd name="connsiteY5" fmla="*/ 0 h 596042"/>
                    <a:gd name="connsiteX6" fmla="*/ 359176 w 588142"/>
                    <a:gd name="connsiteY6" fmla="*/ 19458 h 596042"/>
                    <a:gd name="connsiteX7" fmla="*/ 394728 w 588142"/>
                    <a:gd name="connsiteY7" fmla="*/ 19458 h 596042"/>
                    <a:gd name="connsiteX8" fmla="*/ 394728 w 588142"/>
                    <a:gd name="connsiteY8" fmla="*/ 75054 h 596042"/>
                    <a:gd name="connsiteX9" fmla="*/ 224723 w 588142"/>
                    <a:gd name="connsiteY9" fmla="*/ 220188 h 596042"/>
                    <a:gd name="connsiteX10" fmla="*/ 176004 w 588142"/>
                    <a:gd name="connsiteY10" fmla="*/ 220919 h 596042"/>
                    <a:gd name="connsiteX11" fmla="*/ 153034 w 588142"/>
                    <a:gd name="connsiteY11" fmla="*/ 193268 h 596042"/>
                    <a:gd name="connsiteX12" fmla="*/ 147036 w 588142"/>
                    <a:gd name="connsiteY12" fmla="*/ 195023 h 596042"/>
                    <a:gd name="connsiteX13" fmla="*/ 99926 w 588142"/>
                    <a:gd name="connsiteY13" fmla="*/ 214628 h 596042"/>
                    <a:gd name="connsiteX14" fmla="*/ 94512 w 588142"/>
                    <a:gd name="connsiteY14" fmla="*/ 217700 h 596042"/>
                    <a:gd name="connsiteX15" fmla="*/ 97731 w 588142"/>
                    <a:gd name="connsiteY15" fmla="*/ 253399 h 596042"/>
                    <a:gd name="connsiteX16" fmla="*/ 59692 w 588142"/>
                    <a:gd name="connsiteY16" fmla="*/ 291438 h 596042"/>
                    <a:gd name="connsiteX17" fmla="*/ 24286 w 588142"/>
                    <a:gd name="connsiteY17" fmla="*/ 288219 h 596042"/>
                    <a:gd name="connsiteX18" fmla="*/ 21214 w 588142"/>
                    <a:gd name="connsiteY18" fmla="*/ 293778 h 596042"/>
                    <a:gd name="connsiteX19" fmla="*/ 1902 w 588142"/>
                    <a:gd name="connsiteY19" fmla="*/ 341327 h 596042"/>
                    <a:gd name="connsiteX20" fmla="*/ 293 w 588142"/>
                    <a:gd name="connsiteY20" fmla="*/ 347326 h 596042"/>
                    <a:gd name="connsiteX21" fmla="*/ 27359 w 588142"/>
                    <a:gd name="connsiteY21" fmla="*/ 369857 h 596042"/>
                    <a:gd name="connsiteX22" fmla="*/ 25896 w 588142"/>
                    <a:gd name="connsiteY22" fmla="*/ 383316 h 596042"/>
                    <a:gd name="connsiteX23" fmla="*/ 25311 w 588142"/>
                    <a:gd name="connsiteY23" fmla="*/ 383316 h 596042"/>
                    <a:gd name="connsiteX24" fmla="*/ 25311 w 588142"/>
                    <a:gd name="connsiteY24" fmla="*/ 393411 h 596042"/>
                    <a:gd name="connsiteX25" fmla="*/ 25311 w 588142"/>
                    <a:gd name="connsiteY25" fmla="*/ 394582 h 596042"/>
                    <a:gd name="connsiteX26" fmla="*/ 25311 w 588142"/>
                    <a:gd name="connsiteY26" fmla="*/ 394728 h 596042"/>
                    <a:gd name="connsiteX27" fmla="*/ 25311 w 588142"/>
                    <a:gd name="connsiteY27" fmla="*/ 404823 h 596042"/>
                    <a:gd name="connsiteX28" fmla="*/ 25750 w 588142"/>
                    <a:gd name="connsiteY28" fmla="*/ 404823 h 596042"/>
                    <a:gd name="connsiteX29" fmla="*/ 27359 w 588142"/>
                    <a:gd name="connsiteY29" fmla="*/ 419892 h 596042"/>
                    <a:gd name="connsiteX30" fmla="*/ 0 w 588142"/>
                    <a:gd name="connsiteY30" fmla="*/ 441984 h 596042"/>
                    <a:gd name="connsiteX31" fmla="*/ 1609 w 588142"/>
                    <a:gd name="connsiteY31" fmla="*/ 447983 h 596042"/>
                    <a:gd name="connsiteX32" fmla="*/ 20921 w 588142"/>
                    <a:gd name="connsiteY32" fmla="*/ 495532 h 596042"/>
                    <a:gd name="connsiteX33" fmla="*/ 23994 w 588142"/>
                    <a:gd name="connsiteY33" fmla="*/ 501091 h 596042"/>
                    <a:gd name="connsiteX34" fmla="*/ 59399 w 588142"/>
                    <a:gd name="connsiteY34" fmla="*/ 497873 h 596042"/>
                    <a:gd name="connsiteX35" fmla="*/ 97438 w 588142"/>
                    <a:gd name="connsiteY35" fmla="*/ 535912 h 596042"/>
                    <a:gd name="connsiteX36" fmla="*/ 94073 w 588142"/>
                    <a:gd name="connsiteY36" fmla="*/ 571610 h 596042"/>
                    <a:gd name="connsiteX37" fmla="*/ 99487 w 588142"/>
                    <a:gd name="connsiteY37" fmla="*/ 574682 h 596042"/>
                    <a:gd name="connsiteX38" fmla="*/ 146597 w 588142"/>
                    <a:gd name="connsiteY38" fmla="*/ 594287 h 596042"/>
                    <a:gd name="connsiteX39" fmla="*/ 152595 w 588142"/>
                    <a:gd name="connsiteY39" fmla="*/ 596043 h 596042"/>
                    <a:gd name="connsiteX40" fmla="*/ 175565 w 588142"/>
                    <a:gd name="connsiteY40" fmla="*/ 568391 h 596042"/>
                    <a:gd name="connsiteX41" fmla="*/ 229258 w 588142"/>
                    <a:gd name="connsiteY41" fmla="*/ 568391 h 596042"/>
                    <a:gd name="connsiteX42" fmla="*/ 252228 w 588142"/>
                    <a:gd name="connsiteY42" fmla="*/ 596043 h 596042"/>
                    <a:gd name="connsiteX43" fmla="*/ 258227 w 588142"/>
                    <a:gd name="connsiteY43" fmla="*/ 594287 h 596042"/>
                    <a:gd name="connsiteX44" fmla="*/ 305336 w 588142"/>
                    <a:gd name="connsiteY44" fmla="*/ 574682 h 596042"/>
                    <a:gd name="connsiteX45" fmla="*/ 310750 w 588142"/>
                    <a:gd name="connsiteY45" fmla="*/ 571610 h 596042"/>
                    <a:gd name="connsiteX46" fmla="*/ 307531 w 588142"/>
                    <a:gd name="connsiteY46" fmla="*/ 535912 h 596042"/>
                    <a:gd name="connsiteX47" fmla="*/ 345570 w 588142"/>
                    <a:gd name="connsiteY47" fmla="*/ 497873 h 596042"/>
                    <a:gd name="connsiteX48" fmla="*/ 380976 w 588142"/>
                    <a:gd name="connsiteY48" fmla="*/ 501091 h 596042"/>
                    <a:gd name="connsiteX49" fmla="*/ 384048 w 588142"/>
                    <a:gd name="connsiteY49" fmla="*/ 495532 h 596042"/>
                    <a:gd name="connsiteX50" fmla="*/ 403360 w 588142"/>
                    <a:gd name="connsiteY50" fmla="*/ 447983 h 596042"/>
                    <a:gd name="connsiteX51" fmla="*/ 404823 w 588142"/>
                    <a:gd name="connsiteY51" fmla="*/ 442423 h 596042"/>
                    <a:gd name="connsiteX52" fmla="*/ 588142 w 588142"/>
                    <a:gd name="connsiteY52" fmla="*/ 258519 h 596042"/>
                    <a:gd name="connsiteX53" fmla="*/ 285147 w 588142"/>
                    <a:gd name="connsiteY53" fmla="*/ 398532 h 596042"/>
                    <a:gd name="connsiteX54" fmla="*/ 202631 w 588142"/>
                    <a:gd name="connsiteY54" fmla="*/ 476366 h 596042"/>
                    <a:gd name="connsiteX55" fmla="*/ 119969 w 588142"/>
                    <a:gd name="connsiteY55" fmla="*/ 394436 h 596042"/>
                    <a:gd name="connsiteX56" fmla="*/ 202631 w 588142"/>
                    <a:gd name="connsiteY56" fmla="*/ 312505 h 596042"/>
                    <a:gd name="connsiteX57" fmla="*/ 229990 w 588142"/>
                    <a:gd name="connsiteY57" fmla="*/ 317187 h 596042"/>
                    <a:gd name="connsiteX58" fmla="*/ 285147 w 588142"/>
                    <a:gd name="connsiteY58" fmla="*/ 398532 h 596042"/>
                    <a:gd name="connsiteX59" fmla="*/ 370149 w 588142"/>
                    <a:gd name="connsiteY59" fmla="*/ 480462 h 596042"/>
                    <a:gd name="connsiteX60" fmla="*/ 336207 w 588142"/>
                    <a:gd name="connsiteY60" fmla="*/ 477390 h 596042"/>
                    <a:gd name="connsiteX61" fmla="*/ 332988 w 588142"/>
                    <a:gd name="connsiteY61" fmla="*/ 482072 h 596042"/>
                    <a:gd name="connsiteX62" fmla="*/ 292023 w 588142"/>
                    <a:gd name="connsiteY62" fmla="*/ 523037 h 596042"/>
                    <a:gd name="connsiteX63" fmla="*/ 287341 w 588142"/>
                    <a:gd name="connsiteY63" fmla="*/ 526256 h 596042"/>
                    <a:gd name="connsiteX64" fmla="*/ 290560 w 588142"/>
                    <a:gd name="connsiteY64" fmla="*/ 560637 h 596042"/>
                    <a:gd name="connsiteX65" fmla="*/ 259397 w 588142"/>
                    <a:gd name="connsiteY65" fmla="*/ 573658 h 596042"/>
                    <a:gd name="connsiteX66" fmla="*/ 237305 w 588142"/>
                    <a:gd name="connsiteY66" fmla="*/ 547031 h 596042"/>
                    <a:gd name="connsiteX67" fmla="*/ 231746 w 588142"/>
                    <a:gd name="connsiteY67" fmla="*/ 548055 h 596042"/>
                    <a:gd name="connsiteX68" fmla="*/ 173809 w 588142"/>
                    <a:gd name="connsiteY68" fmla="*/ 548055 h 596042"/>
                    <a:gd name="connsiteX69" fmla="*/ 168250 w 588142"/>
                    <a:gd name="connsiteY69" fmla="*/ 547031 h 596042"/>
                    <a:gd name="connsiteX70" fmla="*/ 146158 w 588142"/>
                    <a:gd name="connsiteY70" fmla="*/ 573658 h 596042"/>
                    <a:gd name="connsiteX71" fmla="*/ 114995 w 588142"/>
                    <a:gd name="connsiteY71" fmla="*/ 560637 h 596042"/>
                    <a:gd name="connsiteX72" fmla="*/ 118214 w 588142"/>
                    <a:gd name="connsiteY72" fmla="*/ 526256 h 596042"/>
                    <a:gd name="connsiteX73" fmla="*/ 113532 w 588142"/>
                    <a:gd name="connsiteY73" fmla="*/ 523037 h 596042"/>
                    <a:gd name="connsiteX74" fmla="*/ 72567 w 588142"/>
                    <a:gd name="connsiteY74" fmla="*/ 482072 h 596042"/>
                    <a:gd name="connsiteX75" fmla="*/ 69348 w 588142"/>
                    <a:gd name="connsiteY75" fmla="*/ 477390 h 596042"/>
                    <a:gd name="connsiteX76" fmla="*/ 35406 w 588142"/>
                    <a:gd name="connsiteY76" fmla="*/ 480462 h 596042"/>
                    <a:gd name="connsiteX77" fmla="*/ 22531 w 588142"/>
                    <a:gd name="connsiteY77" fmla="*/ 448861 h 596042"/>
                    <a:gd name="connsiteX78" fmla="*/ 48280 w 588142"/>
                    <a:gd name="connsiteY78" fmla="*/ 427208 h 596042"/>
                    <a:gd name="connsiteX79" fmla="*/ 47256 w 588142"/>
                    <a:gd name="connsiteY79" fmla="*/ 421648 h 596042"/>
                    <a:gd name="connsiteX80" fmla="*/ 44623 w 588142"/>
                    <a:gd name="connsiteY80" fmla="*/ 394582 h 596042"/>
                    <a:gd name="connsiteX81" fmla="*/ 44623 w 588142"/>
                    <a:gd name="connsiteY81" fmla="*/ 394582 h 596042"/>
                    <a:gd name="connsiteX82" fmla="*/ 44623 w 588142"/>
                    <a:gd name="connsiteY82" fmla="*/ 394436 h 596042"/>
                    <a:gd name="connsiteX83" fmla="*/ 47256 w 588142"/>
                    <a:gd name="connsiteY83" fmla="*/ 367369 h 596042"/>
                    <a:gd name="connsiteX84" fmla="*/ 48280 w 588142"/>
                    <a:gd name="connsiteY84" fmla="*/ 361810 h 596042"/>
                    <a:gd name="connsiteX85" fmla="*/ 22238 w 588142"/>
                    <a:gd name="connsiteY85" fmla="*/ 340157 h 596042"/>
                    <a:gd name="connsiteX86" fmla="*/ 35113 w 588142"/>
                    <a:gd name="connsiteY86" fmla="*/ 308555 h 596042"/>
                    <a:gd name="connsiteX87" fmla="*/ 69055 w 588142"/>
                    <a:gd name="connsiteY87" fmla="*/ 311628 h 596042"/>
                    <a:gd name="connsiteX88" fmla="*/ 72274 w 588142"/>
                    <a:gd name="connsiteY88" fmla="*/ 306946 h 596042"/>
                    <a:gd name="connsiteX89" fmla="*/ 113239 w 588142"/>
                    <a:gd name="connsiteY89" fmla="*/ 265981 h 596042"/>
                    <a:gd name="connsiteX90" fmla="*/ 117921 w 588142"/>
                    <a:gd name="connsiteY90" fmla="*/ 262762 h 596042"/>
                    <a:gd name="connsiteX91" fmla="*/ 114702 w 588142"/>
                    <a:gd name="connsiteY91" fmla="*/ 228381 h 596042"/>
                    <a:gd name="connsiteX92" fmla="*/ 145865 w 588142"/>
                    <a:gd name="connsiteY92" fmla="*/ 215360 h 596042"/>
                    <a:gd name="connsiteX93" fmla="*/ 167957 w 588142"/>
                    <a:gd name="connsiteY93" fmla="*/ 241987 h 596042"/>
                    <a:gd name="connsiteX94" fmla="*/ 173517 w 588142"/>
                    <a:gd name="connsiteY94" fmla="*/ 240963 h 596042"/>
                    <a:gd name="connsiteX95" fmla="*/ 221358 w 588142"/>
                    <a:gd name="connsiteY95" fmla="*/ 239353 h 596042"/>
                    <a:gd name="connsiteX96" fmla="*/ 220334 w 588142"/>
                    <a:gd name="connsiteY96" fmla="*/ 258665 h 596042"/>
                    <a:gd name="connsiteX97" fmla="*/ 223991 w 588142"/>
                    <a:gd name="connsiteY97" fmla="*/ 295388 h 596042"/>
                    <a:gd name="connsiteX98" fmla="*/ 202485 w 588142"/>
                    <a:gd name="connsiteY98" fmla="*/ 293047 h 596042"/>
                    <a:gd name="connsiteX99" fmla="*/ 100365 w 588142"/>
                    <a:gd name="connsiteY99" fmla="*/ 393704 h 596042"/>
                    <a:gd name="connsiteX100" fmla="*/ 100365 w 588142"/>
                    <a:gd name="connsiteY100" fmla="*/ 393704 h 596042"/>
                    <a:gd name="connsiteX101" fmla="*/ 100365 w 588142"/>
                    <a:gd name="connsiteY101" fmla="*/ 394436 h 596042"/>
                    <a:gd name="connsiteX102" fmla="*/ 100365 w 588142"/>
                    <a:gd name="connsiteY102" fmla="*/ 395167 h 596042"/>
                    <a:gd name="connsiteX103" fmla="*/ 100365 w 588142"/>
                    <a:gd name="connsiteY103" fmla="*/ 395167 h 596042"/>
                    <a:gd name="connsiteX104" fmla="*/ 202485 w 588142"/>
                    <a:gd name="connsiteY104" fmla="*/ 495824 h 596042"/>
                    <a:gd name="connsiteX105" fmla="*/ 302996 w 588142"/>
                    <a:gd name="connsiteY105" fmla="*/ 411992 h 596042"/>
                    <a:gd name="connsiteX106" fmla="*/ 371905 w 588142"/>
                    <a:gd name="connsiteY106" fmla="*/ 439644 h 596042"/>
                    <a:gd name="connsiteX107" fmla="*/ 383024 w 588142"/>
                    <a:gd name="connsiteY107" fmla="*/ 448861 h 596042"/>
                    <a:gd name="connsiteX108" fmla="*/ 370149 w 588142"/>
                    <a:gd name="connsiteY108" fmla="*/ 480462 h 596042"/>
                    <a:gd name="connsiteX109" fmla="*/ 404238 w 588142"/>
                    <a:gd name="connsiteY109" fmla="*/ 422965 h 596042"/>
                    <a:gd name="connsiteX110" fmla="*/ 239792 w 588142"/>
                    <a:gd name="connsiteY110" fmla="*/ 258519 h 596042"/>
                    <a:gd name="connsiteX111" fmla="*/ 404238 w 588142"/>
                    <a:gd name="connsiteY111" fmla="*/ 94073 h 596042"/>
                    <a:gd name="connsiteX112" fmla="*/ 568684 w 588142"/>
                    <a:gd name="connsiteY112" fmla="*/ 258519 h 596042"/>
                    <a:gd name="connsiteX113" fmla="*/ 404238 w 588142"/>
                    <a:gd name="connsiteY113" fmla="*/ 422965 h 596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</a:cxnLst>
                  <a:rect l="l" t="t" r="r" b="b"/>
                  <a:pathLst>
                    <a:path w="588142" h="596042">
                      <a:moveTo>
                        <a:pt x="588142" y="258519"/>
                      </a:moveTo>
                      <a:cubicBezTo>
                        <a:pt x="588142" y="160349"/>
                        <a:pt x="510894" y="80028"/>
                        <a:pt x="414040" y="74908"/>
                      </a:cubicBezTo>
                      <a:lnTo>
                        <a:pt x="414040" y="19312"/>
                      </a:lnTo>
                      <a:lnTo>
                        <a:pt x="449592" y="19312"/>
                      </a:lnTo>
                      <a:lnTo>
                        <a:pt x="449592" y="0"/>
                      </a:lnTo>
                      <a:lnTo>
                        <a:pt x="359176" y="0"/>
                      </a:lnTo>
                      <a:lnTo>
                        <a:pt x="359176" y="19458"/>
                      </a:lnTo>
                      <a:lnTo>
                        <a:pt x="394728" y="19458"/>
                      </a:lnTo>
                      <a:lnTo>
                        <a:pt x="394728" y="75054"/>
                      </a:lnTo>
                      <a:cubicBezTo>
                        <a:pt x="310896" y="79443"/>
                        <a:pt x="241694" y="140306"/>
                        <a:pt x="224723" y="220188"/>
                      </a:cubicBezTo>
                      <a:cubicBezTo>
                        <a:pt x="208191" y="217993"/>
                        <a:pt x="192682" y="218286"/>
                        <a:pt x="176004" y="220919"/>
                      </a:cubicBezTo>
                      <a:lnTo>
                        <a:pt x="153034" y="193268"/>
                      </a:lnTo>
                      <a:lnTo>
                        <a:pt x="147036" y="195023"/>
                      </a:lnTo>
                      <a:cubicBezTo>
                        <a:pt x="130503" y="199705"/>
                        <a:pt x="114702" y="206289"/>
                        <a:pt x="99926" y="214628"/>
                      </a:cubicBezTo>
                      <a:lnTo>
                        <a:pt x="94512" y="217700"/>
                      </a:lnTo>
                      <a:lnTo>
                        <a:pt x="97731" y="253399"/>
                      </a:lnTo>
                      <a:cubicBezTo>
                        <a:pt x="83101" y="264079"/>
                        <a:pt x="70372" y="276807"/>
                        <a:pt x="59692" y="291438"/>
                      </a:cubicBezTo>
                      <a:lnTo>
                        <a:pt x="24286" y="288219"/>
                      </a:lnTo>
                      <a:lnTo>
                        <a:pt x="21214" y="293778"/>
                      </a:lnTo>
                      <a:cubicBezTo>
                        <a:pt x="12875" y="308409"/>
                        <a:pt x="6437" y="324502"/>
                        <a:pt x="1902" y="341327"/>
                      </a:cubicBezTo>
                      <a:lnTo>
                        <a:pt x="293" y="347326"/>
                      </a:lnTo>
                      <a:lnTo>
                        <a:pt x="27359" y="369857"/>
                      </a:lnTo>
                      <a:cubicBezTo>
                        <a:pt x="26627" y="374392"/>
                        <a:pt x="26188" y="378781"/>
                        <a:pt x="25896" y="383316"/>
                      </a:cubicBezTo>
                      <a:lnTo>
                        <a:pt x="25311" y="383316"/>
                      </a:lnTo>
                      <a:lnTo>
                        <a:pt x="25311" y="393411"/>
                      </a:lnTo>
                      <a:lnTo>
                        <a:pt x="25311" y="394582"/>
                      </a:lnTo>
                      <a:lnTo>
                        <a:pt x="25311" y="394728"/>
                      </a:lnTo>
                      <a:lnTo>
                        <a:pt x="25311" y="404823"/>
                      </a:lnTo>
                      <a:lnTo>
                        <a:pt x="25750" y="404823"/>
                      </a:lnTo>
                      <a:cubicBezTo>
                        <a:pt x="26042" y="409798"/>
                        <a:pt x="26627" y="414918"/>
                        <a:pt x="27359" y="419892"/>
                      </a:cubicBezTo>
                      <a:lnTo>
                        <a:pt x="0" y="441984"/>
                      </a:lnTo>
                      <a:lnTo>
                        <a:pt x="1609" y="447983"/>
                      </a:lnTo>
                      <a:cubicBezTo>
                        <a:pt x="6145" y="464808"/>
                        <a:pt x="12728" y="480901"/>
                        <a:pt x="20921" y="495532"/>
                      </a:cubicBezTo>
                      <a:lnTo>
                        <a:pt x="23994" y="501091"/>
                      </a:lnTo>
                      <a:lnTo>
                        <a:pt x="59399" y="497873"/>
                      </a:lnTo>
                      <a:cubicBezTo>
                        <a:pt x="70080" y="512503"/>
                        <a:pt x="82808" y="525231"/>
                        <a:pt x="97438" y="535912"/>
                      </a:cubicBezTo>
                      <a:lnTo>
                        <a:pt x="94073" y="571610"/>
                      </a:lnTo>
                      <a:lnTo>
                        <a:pt x="99487" y="574682"/>
                      </a:lnTo>
                      <a:cubicBezTo>
                        <a:pt x="114117" y="583021"/>
                        <a:pt x="129918" y="589605"/>
                        <a:pt x="146597" y="594287"/>
                      </a:cubicBezTo>
                      <a:lnTo>
                        <a:pt x="152595" y="596043"/>
                      </a:lnTo>
                      <a:lnTo>
                        <a:pt x="175565" y="568391"/>
                      </a:lnTo>
                      <a:cubicBezTo>
                        <a:pt x="193999" y="571317"/>
                        <a:pt x="210824" y="571317"/>
                        <a:pt x="229258" y="568391"/>
                      </a:cubicBezTo>
                      <a:lnTo>
                        <a:pt x="252228" y="596043"/>
                      </a:lnTo>
                      <a:lnTo>
                        <a:pt x="258227" y="594287"/>
                      </a:lnTo>
                      <a:cubicBezTo>
                        <a:pt x="274759" y="589751"/>
                        <a:pt x="290560" y="583168"/>
                        <a:pt x="305336" y="574682"/>
                      </a:cubicBezTo>
                      <a:lnTo>
                        <a:pt x="310750" y="571610"/>
                      </a:lnTo>
                      <a:lnTo>
                        <a:pt x="307531" y="535912"/>
                      </a:lnTo>
                      <a:cubicBezTo>
                        <a:pt x="322161" y="525231"/>
                        <a:pt x="334890" y="512503"/>
                        <a:pt x="345570" y="497873"/>
                      </a:cubicBezTo>
                      <a:lnTo>
                        <a:pt x="380976" y="501091"/>
                      </a:lnTo>
                      <a:lnTo>
                        <a:pt x="384048" y="495532"/>
                      </a:lnTo>
                      <a:cubicBezTo>
                        <a:pt x="392387" y="480755"/>
                        <a:pt x="398825" y="464808"/>
                        <a:pt x="403360" y="447983"/>
                      </a:cubicBezTo>
                      <a:lnTo>
                        <a:pt x="404823" y="442423"/>
                      </a:lnTo>
                      <a:cubicBezTo>
                        <a:pt x="506066" y="441984"/>
                        <a:pt x="588142" y="359762"/>
                        <a:pt x="588142" y="258519"/>
                      </a:cubicBezTo>
                      <a:close/>
                      <a:moveTo>
                        <a:pt x="285147" y="398532"/>
                      </a:moveTo>
                      <a:cubicBezTo>
                        <a:pt x="282659" y="441838"/>
                        <a:pt x="246522" y="476366"/>
                        <a:pt x="202631" y="476366"/>
                      </a:cubicBezTo>
                      <a:cubicBezTo>
                        <a:pt x="157277" y="476366"/>
                        <a:pt x="120408" y="439644"/>
                        <a:pt x="119969" y="394436"/>
                      </a:cubicBezTo>
                      <a:cubicBezTo>
                        <a:pt x="120408" y="349228"/>
                        <a:pt x="157277" y="312505"/>
                        <a:pt x="202631" y="312505"/>
                      </a:cubicBezTo>
                      <a:cubicBezTo>
                        <a:pt x="212287" y="312505"/>
                        <a:pt x="221358" y="314115"/>
                        <a:pt x="229990" y="317187"/>
                      </a:cubicBezTo>
                      <a:cubicBezTo>
                        <a:pt x="240670" y="349081"/>
                        <a:pt x="259982" y="377172"/>
                        <a:pt x="285147" y="398532"/>
                      </a:cubicBezTo>
                      <a:close/>
                      <a:moveTo>
                        <a:pt x="370149" y="480462"/>
                      </a:moveTo>
                      <a:lnTo>
                        <a:pt x="336207" y="477390"/>
                      </a:lnTo>
                      <a:lnTo>
                        <a:pt x="332988" y="482072"/>
                      </a:lnTo>
                      <a:cubicBezTo>
                        <a:pt x="321869" y="498165"/>
                        <a:pt x="308116" y="512064"/>
                        <a:pt x="292023" y="523037"/>
                      </a:cubicBezTo>
                      <a:lnTo>
                        <a:pt x="287341" y="526256"/>
                      </a:lnTo>
                      <a:lnTo>
                        <a:pt x="290560" y="560637"/>
                      </a:lnTo>
                      <a:cubicBezTo>
                        <a:pt x="280611" y="565904"/>
                        <a:pt x="270223" y="570147"/>
                        <a:pt x="259397" y="573658"/>
                      </a:cubicBezTo>
                      <a:lnTo>
                        <a:pt x="237305" y="547031"/>
                      </a:lnTo>
                      <a:lnTo>
                        <a:pt x="231746" y="548055"/>
                      </a:lnTo>
                      <a:cubicBezTo>
                        <a:pt x="211556" y="551859"/>
                        <a:pt x="193999" y="551859"/>
                        <a:pt x="173809" y="548055"/>
                      </a:cubicBezTo>
                      <a:lnTo>
                        <a:pt x="168250" y="547031"/>
                      </a:lnTo>
                      <a:lnTo>
                        <a:pt x="146158" y="573658"/>
                      </a:lnTo>
                      <a:cubicBezTo>
                        <a:pt x="135331" y="570293"/>
                        <a:pt x="124944" y="565904"/>
                        <a:pt x="114995" y="560637"/>
                      </a:cubicBezTo>
                      <a:lnTo>
                        <a:pt x="118214" y="526256"/>
                      </a:lnTo>
                      <a:lnTo>
                        <a:pt x="113532" y="523037"/>
                      </a:lnTo>
                      <a:cubicBezTo>
                        <a:pt x="97438" y="511918"/>
                        <a:pt x="83540" y="498165"/>
                        <a:pt x="72567" y="482072"/>
                      </a:cubicBezTo>
                      <a:lnTo>
                        <a:pt x="69348" y="477390"/>
                      </a:lnTo>
                      <a:lnTo>
                        <a:pt x="35406" y="480462"/>
                      </a:lnTo>
                      <a:cubicBezTo>
                        <a:pt x="30285" y="470514"/>
                        <a:pt x="25896" y="459834"/>
                        <a:pt x="22531" y="448861"/>
                      </a:cubicBezTo>
                      <a:lnTo>
                        <a:pt x="48280" y="427208"/>
                      </a:lnTo>
                      <a:lnTo>
                        <a:pt x="47256" y="421648"/>
                      </a:lnTo>
                      <a:cubicBezTo>
                        <a:pt x="45647" y="412724"/>
                        <a:pt x="44769" y="403653"/>
                        <a:pt x="44623" y="394582"/>
                      </a:cubicBezTo>
                      <a:lnTo>
                        <a:pt x="44623" y="394582"/>
                      </a:lnTo>
                      <a:lnTo>
                        <a:pt x="44623" y="394436"/>
                      </a:lnTo>
                      <a:cubicBezTo>
                        <a:pt x="44769" y="385511"/>
                        <a:pt x="45647" y="376294"/>
                        <a:pt x="47256" y="367369"/>
                      </a:cubicBezTo>
                      <a:lnTo>
                        <a:pt x="48280" y="361810"/>
                      </a:lnTo>
                      <a:lnTo>
                        <a:pt x="22238" y="340157"/>
                      </a:lnTo>
                      <a:cubicBezTo>
                        <a:pt x="25603" y="329038"/>
                        <a:pt x="29846" y="318504"/>
                        <a:pt x="35113" y="308555"/>
                      </a:cubicBezTo>
                      <a:lnTo>
                        <a:pt x="69055" y="311628"/>
                      </a:lnTo>
                      <a:lnTo>
                        <a:pt x="72274" y="306946"/>
                      </a:lnTo>
                      <a:cubicBezTo>
                        <a:pt x="83393" y="290852"/>
                        <a:pt x="97146" y="276953"/>
                        <a:pt x="113239" y="265981"/>
                      </a:cubicBezTo>
                      <a:lnTo>
                        <a:pt x="117921" y="262762"/>
                      </a:lnTo>
                      <a:lnTo>
                        <a:pt x="114702" y="228381"/>
                      </a:lnTo>
                      <a:cubicBezTo>
                        <a:pt x="124651" y="223114"/>
                        <a:pt x="135039" y="218871"/>
                        <a:pt x="145865" y="215360"/>
                      </a:cubicBezTo>
                      <a:lnTo>
                        <a:pt x="167957" y="241987"/>
                      </a:lnTo>
                      <a:lnTo>
                        <a:pt x="173517" y="240963"/>
                      </a:lnTo>
                      <a:cubicBezTo>
                        <a:pt x="190195" y="237890"/>
                        <a:pt x="205118" y="237305"/>
                        <a:pt x="221358" y="239353"/>
                      </a:cubicBezTo>
                      <a:cubicBezTo>
                        <a:pt x="220626" y="245644"/>
                        <a:pt x="220334" y="252228"/>
                        <a:pt x="220334" y="258665"/>
                      </a:cubicBezTo>
                      <a:cubicBezTo>
                        <a:pt x="220334" y="271248"/>
                        <a:pt x="221651" y="283537"/>
                        <a:pt x="223991" y="295388"/>
                      </a:cubicBezTo>
                      <a:cubicBezTo>
                        <a:pt x="217115" y="293925"/>
                        <a:pt x="209946" y="293047"/>
                        <a:pt x="202485" y="293047"/>
                      </a:cubicBezTo>
                      <a:cubicBezTo>
                        <a:pt x="146743" y="293047"/>
                        <a:pt x="101242" y="337962"/>
                        <a:pt x="100365" y="393704"/>
                      </a:cubicBezTo>
                      <a:lnTo>
                        <a:pt x="100365" y="393704"/>
                      </a:lnTo>
                      <a:cubicBezTo>
                        <a:pt x="100365" y="393997"/>
                        <a:pt x="100365" y="394289"/>
                        <a:pt x="100365" y="394436"/>
                      </a:cubicBezTo>
                      <a:cubicBezTo>
                        <a:pt x="100365" y="394728"/>
                        <a:pt x="100365" y="395021"/>
                        <a:pt x="100365" y="395167"/>
                      </a:cubicBezTo>
                      <a:lnTo>
                        <a:pt x="100365" y="395167"/>
                      </a:lnTo>
                      <a:cubicBezTo>
                        <a:pt x="101242" y="450763"/>
                        <a:pt x="146743" y="495824"/>
                        <a:pt x="202485" y="495824"/>
                      </a:cubicBezTo>
                      <a:cubicBezTo>
                        <a:pt x="252521" y="495824"/>
                        <a:pt x="294217" y="459541"/>
                        <a:pt x="302996" y="411992"/>
                      </a:cubicBezTo>
                      <a:cubicBezTo>
                        <a:pt x="323478" y="425598"/>
                        <a:pt x="346740" y="435108"/>
                        <a:pt x="371905" y="439644"/>
                      </a:cubicBezTo>
                      <a:lnTo>
                        <a:pt x="383024" y="448861"/>
                      </a:lnTo>
                      <a:cubicBezTo>
                        <a:pt x="379659" y="459834"/>
                        <a:pt x="375416" y="470514"/>
                        <a:pt x="370149" y="480462"/>
                      </a:cubicBezTo>
                      <a:close/>
                      <a:moveTo>
                        <a:pt x="404238" y="422965"/>
                      </a:moveTo>
                      <a:cubicBezTo>
                        <a:pt x="313529" y="422965"/>
                        <a:pt x="239792" y="349228"/>
                        <a:pt x="239792" y="258519"/>
                      </a:cubicBezTo>
                      <a:cubicBezTo>
                        <a:pt x="239792" y="167811"/>
                        <a:pt x="313529" y="94073"/>
                        <a:pt x="404238" y="94073"/>
                      </a:cubicBezTo>
                      <a:cubicBezTo>
                        <a:pt x="494946" y="94073"/>
                        <a:pt x="568684" y="167811"/>
                        <a:pt x="568684" y="258519"/>
                      </a:cubicBezTo>
                      <a:cubicBezTo>
                        <a:pt x="568684" y="349228"/>
                        <a:pt x="494946" y="422965"/>
                        <a:pt x="404238" y="422965"/>
                      </a:cubicBezTo>
                      <a:close/>
                    </a:path>
                  </a:pathLst>
                </a:custGeom>
                <a:grpFill/>
                <a:ln w="14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3AB3E9B8-17F5-1799-0F74-202C960BD399}"/>
                    </a:ext>
                  </a:extLst>
                </p:cNvPr>
                <p:cNvSpPr/>
                <p:nvPr/>
              </p:nvSpPr>
              <p:spPr>
                <a:xfrm>
                  <a:off x="8306788" y="2434407"/>
                  <a:ext cx="113949" cy="166347"/>
                </a:xfrm>
                <a:custGeom>
                  <a:avLst/>
                  <a:gdLst>
                    <a:gd name="connsiteX0" fmla="*/ 65669 w 113949"/>
                    <a:gd name="connsiteY0" fmla="*/ 62911 h 166347"/>
                    <a:gd name="connsiteX1" fmla="*/ 50600 w 113949"/>
                    <a:gd name="connsiteY1" fmla="*/ 88807 h 166347"/>
                    <a:gd name="connsiteX2" fmla="*/ 29532 w 113949"/>
                    <a:gd name="connsiteY2" fmla="*/ 88514 h 166347"/>
                    <a:gd name="connsiteX3" fmla="*/ 5392 w 113949"/>
                    <a:gd name="connsiteY3" fmla="*/ 106802 h 166347"/>
                    <a:gd name="connsiteX4" fmla="*/ 19583 w 113949"/>
                    <a:gd name="connsiteY4" fmla="*/ 160934 h 166347"/>
                    <a:gd name="connsiteX5" fmla="*/ 39480 w 113949"/>
                    <a:gd name="connsiteY5" fmla="*/ 166348 h 166347"/>
                    <a:gd name="connsiteX6" fmla="*/ 49575 w 113949"/>
                    <a:gd name="connsiteY6" fmla="*/ 165031 h 166347"/>
                    <a:gd name="connsiteX7" fmla="*/ 73716 w 113949"/>
                    <a:gd name="connsiteY7" fmla="*/ 146743 h 166347"/>
                    <a:gd name="connsiteX8" fmla="*/ 67278 w 113949"/>
                    <a:gd name="connsiteY8" fmla="*/ 98463 h 166347"/>
                    <a:gd name="connsiteX9" fmla="*/ 82347 w 113949"/>
                    <a:gd name="connsiteY9" fmla="*/ 72713 h 166347"/>
                    <a:gd name="connsiteX10" fmla="*/ 113071 w 113949"/>
                    <a:gd name="connsiteY10" fmla="*/ 90855 h 166347"/>
                    <a:gd name="connsiteX11" fmla="*/ 113949 w 113949"/>
                    <a:gd name="connsiteY11" fmla="*/ 0 h 166347"/>
                    <a:gd name="connsiteX12" fmla="*/ 34799 w 113949"/>
                    <a:gd name="connsiteY12" fmla="*/ 44623 h 166347"/>
                    <a:gd name="connsiteX13" fmla="*/ 65669 w 113949"/>
                    <a:gd name="connsiteY13" fmla="*/ 62911 h 166347"/>
                    <a:gd name="connsiteX14" fmla="*/ 57037 w 113949"/>
                    <a:gd name="connsiteY14" fmla="*/ 136941 h 166347"/>
                    <a:gd name="connsiteX15" fmla="*/ 44747 w 113949"/>
                    <a:gd name="connsiteY15" fmla="*/ 146304 h 166347"/>
                    <a:gd name="connsiteX16" fmla="*/ 29385 w 113949"/>
                    <a:gd name="connsiteY16" fmla="*/ 144256 h 166347"/>
                    <a:gd name="connsiteX17" fmla="*/ 22217 w 113949"/>
                    <a:gd name="connsiteY17" fmla="*/ 116604 h 166347"/>
                    <a:gd name="connsiteX18" fmla="*/ 39627 w 113949"/>
                    <a:gd name="connsiteY18" fmla="*/ 106656 h 166347"/>
                    <a:gd name="connsiteX19" fmla="*/ 49722 w 113949"/>
                    <a:gd name="connsiteY19" fmla="*/ 109435 h 166347"/>
                    <a:gd name="connsiteX20" fmla="*/ 57037 w 113949"/>
                    <a:gd name="connsiteY20" fmla="*/ 136941 h 166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13949" h="166347">
                      <a:moveTo>
                        <a:pt x="65669" y="62911"/>
                      </a:moveTo>
                      <a:lnTo>
                        <a:pt x="50600" y="88807"/>
                      </a:lnTo>
                      <a:cubicBezTo>
                        <a:pt x="43870" y="86758"/>
                        <a:pt x="36554" y="86758"/>
                        <a:pt x="29532" y="88514"/>
                      </a:cubicBezTo>
                      <a:cubicBezTo>
                        <a:pt x="19290" y="91147"/>
                        <a:pt x="10658" y="97731"/>
                        <a:pt x="5392" y="106802"/>
                      </a:cubicBezTo>
                      <a:cubicBezTo>
                        <a:pt x="-5581" y="125675"/>
                        <a:pt x="710" y="149962"/>
                        <a:pt x="19583" y="160934"/>
                      </a:cubicBezTo>
                      <a:cubicBezTo>
                        <a:pt x="25728" y="164592"/>
                        <a:pt x="32604" y="166348"/>
                        <a:pt x="39480" y="166348"/>
                      </a:cubicBezTo>
                      <a:cubicBezTo>
                        <a:pt x="42845" y="166348"/>
                        <a:pt x="46210" y="165909"/>
                        <a:pt x="49575" y="165031"/>
                      </a:cubicBezTo>
                      <a:cubicBezTo>
                        <a:pt x="59817" y="162397"/>
                        <a:pt x="68449" y="155814"/>
                        <a:pt x="73716" y="146743"/>
                      </a:cubicBezTo>
                      <a:cubicBezTo>
                        <a:pt x="83079" y="130796"/>
                        <a:pt x="79860" y="110898"/>
                        <a:pt x="67278" y="98463"/>
                      </a:cubicBezTo>
                      <a:lnTo>
                        <a:pt x="82347" y="72713"/>
                      </a:lnTo>
                      <a:lnTo>
                        <a:pt x="113071" y="90855"/>
                      </a:lnTo>
                      <a:lnTo>
                        <a:pt x="113949" y="0"/>
                      </a:lnTo>
                      <a:lnTo>
                        <a:pt x="34799" y="44623"/>
                      </a:lnTo>
                      <a:lnTo>
                        <a:pt x="65669" y="62911"/>
                      </a:lnTo>
                      <a:close/>
                      <a:moveTo>
                        <a:pt x="57037" y="136941"/>
                      </a:moveTo>
                      <a:cubicBezTo>
                        <a:pt x="54257" y="141622"/>
                        <a:pt x="50014" y="144987"/>
                        <a:pt x="44747" y="146304"/>
                      </a:cubicBezTo>
                      <a:cubicBezTo>
                        <a:pt x="39480" y="147621"/>
                        <a:pt x="34067" y="146889"/>
                        <a:pt x="29385" y="144256"/>
                      </a:cubicBezTo>
                      <a:cubicBezTo>
                        <a:pt x="19729" y="138696"/>
                        <a:pt x="16511" y="126260"/>
                        <a:pt x="22217" y="116604"/>
                      </a:cubicBezTo>
                      <a:cubicBezTo>
                        <a:pt x="26020" y="110167"/>
                        <a:pt x="32750" y="106656"/>
                        <a:pt x="39627" y="106656"/>
                      </a:cubicBezTo>
                      <a:cubicBezTo>
                        <a:pt x="43138" y="106656"/>
                        <a:pt x="46649" y="107533"/>
                        <a:pt x="49722" y="109435"/>
                      </a:cubicBezTo>
                      <a:cubicBezTo>
                        <a:pt x="59378" y="114995"/>
                        <a:pt x="62596" y="127431"/>
                        <a:pt x="57037" y="136941"/>
                      </a:cubicBezTo>
                      <a:close/>
                    </a:path>
                  </a:pathLst>
                </a:custGeom>
                <a:grpFill/>
                <a:ln w="14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847956F-9868-5C7A-4722-48E9757002A9}"/>
                </a:ext>
              </a:extLst>
            </p:cNvPr>
            <p:cNvGrpSpPr/>
            <p:nvPr userDrawn="1"/>
          </p:nvGrpSpPr>
          <p:grpSpPr>
            <a:xfrm>
              <a:off x="7640138" y="3289199"/>
              <a:ext cx="352594" cy="352594"/>
              <a:chOff x="7030339" y="2623896"/>
              <a:chExt cx="352594" cy="352594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4831AC5-FBE4-7707-E9BA-3AF26D6E01F6}"/>
                  </a:ext>
                </a:extLst>
              </p:cNvPr>
              <p:cNvSpPr/>
              <p:nvPr userDrawn="1"/>
            </p:nvSpPr>
            <p:spPr>
              <a:xfrm>
                <a:off x="7030339" y="2623896"/>
                <a:ext cx="352594" cy="352594"/>
              </a:xfrm>
              <a:prstGeom prst="ellips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60958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grpSp>
            <p:nvGrpSpPr>
              <p:cNvPr id="31" name="Graphic 48">
                <a:extLst>
                  <a:ext uri="{FF2B5EF4-FFF2-40B4-BE49-F238E27FC236}">
                    <a16:creationId xmlns:a16="http://schemas.microsoft.com/office/drawing/2014/main" id="{A8457C67-B59F-25C7-7945-8977548CCA4E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7086653" y="2680767"/>
                <a:ext cx="239967" cy="238853"/>
                <a:chOff x="3407719" y="1447758"/>
                <a:chExt cx="471618" cy="469428"/>
              </a:xfrm>
              <a:solidFill>
                <a:schemeClr val="accent1"/>
              </a:solidFill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3002F0F-54EE-36C4-3757-A0A55275D062}"/>
                    </a:ext>
                  </a:extLst>
                </p:cNvPr>
                <p:cNvSpPr/>
                <p:nvPr/>
              </p:nvSpPr>
              <p:spPr>
                <a:xfrm>
                  <a:off x="3407719" y="1532591"/>
                  <a:ext cx="123234" cy="91695"/>
                </a:xfrm>
                <a:custGeom>
                  <a:avLst/>
                  <a:gdLst>
                    <a:gd name="connsiteX0" fmla="*/ 123234 w 123234"/>
                    <a:gd name="connsiteY0" fmla="*/ 83811 h 91695"/>
                    <a:gd name="connsiteX1" fmla="*/ 123234 w 123234"/>
                    <a:gd name="connsiteY1" fmla="*/ 46432 h 91695"/>
                    <a:gd name="connsiteX2" fmla="*/ 76802 w 123234"/>
                    <a:gd name="connsiteY2" fmla="*/ 0 h 91695"/>
                    <a:gd name="connsiteX3" fmla="*/ 46432 w 123234"/>
                    <a:gd name="connsiteY3" fmla="*/ 0 h 91695"/>
                    <a:gd name="connsiteX4" fmla="*/ 0 w 123234"/>
                    <a:gd name="connsiteY4" fmla="*/ 46432 h 91695"/>
                    <a:gd name="connsiteX5" fmla="*/ 0 w 123234"/>
                    <a:gd name="connsiteY5" fmla="*/ 83811 h 91695"/>
                    <a:gd name="connsiteX6" fmla="*/ 7885 w 123234"/>
                    <a:gd name="connsiteY6" fmla="*/ 91696 h 91695"/>
                    <a:gd name="connsiteX7" fmla="*/ 115349 w 123234"/>
                    <a:gd name="connsiteY7" fmla="*/ 91696 h 91695"/>
                    <a:gd name="connsiteX8" fmla="*/ 123234 w 123234"/>
                    <a:gd name="connsiteY8" fmla="*/ 83811 h 91695"/>
                    <a:gd name="connsiteX9" fmla="*/ 107465 w 123234"/>
                    <a:gd name="connsiteY9" fmla="*/ 75926 h 91695"/>
                    <a:gd name="connsiteX10" fmla="*/ 15769 w 123234"/>
                    <a:gd name="connsiteY10" fmla="*/ 75926 h 91695"/>
                    <a:gd name="connsiteX11" fmla="*/ 15769 w 123234"/>
                    <a:gd name="connsiteY11" fmla="*/ 46432 h 91695"/>
                    <a:gd name="connsiteX12" fmla="*/ 46432 w 123234"/>
                    <a:gd name="connsiteY12" fmla="*/ 15769 h 91695"/>
                    <a:gd name="connsiteX13" fmla="*/ 76802 w 123234"/>
                    <a:gd name="connsiteY13" fmla="*/ 15769 h 91695"/>
                    <a:gd name="connsiteX14" fmla="*/ 107465 w 123234"/>
                    <a:gd name="connsiteY14" fmla="*/ 46432 h 91695"/>
                    <a:gd name="connsiteX15" fmla="*/ 107465 w 123234"/>
                    <a:gd name="connsiteY15" fmla="*/ 75926 h 91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23234" h="91695">
                      <a:moveTo>
                        <a:pt x="123234" y="83811"/>
                      </a:moveTo>
                      <a:lnTo>
                        <a:pt x="123234" y="46432"/>
                      </a:lnTo>
                      <a:cubicBezTo>
                        <a:pt x="123234" y="20880"/>
                        <a:pt x="102500" y="0"/>
                        <a:pt x="76802" y="0"/>
                      </a:cubicBezTo>
                      <a:lnTo>
                        <a:pt x="46432" y="0"/>
                      </a:lnTo>
                      <a:cubicBezTo>
                        <a:pt x="20880" y="0"/>
                        <a:pt x="0" y="20734"/>
                        <a:pt x="0" y="46432"/>
                      </a:cubicBezTo>
                      <a:lnTo>
                        <a:pt x="0" y="83811"/>
                      </a:lnTo>
                      <a:cubicBezTo>
                        <a:pt x="0" y="88191"/>
                        <a:pt x="3504" y="91696"/>
                        <a:pt x="7885" y="91696"/>
                      </a:cubicBezTo>
                      <a:lnTo>
                        <a:pt x="115349" y="91696"/>
                      </a:lnTo>
                      <a:cubicBezTo>
                        <a:pt x="119730" y="91696"/>
                        <a:pt x="123234" y="88191"/>
                        <a:pt x="123234" y="83811"/>
                      </a:cubicBezTo>
                      <a:close/>
                      <a:moveTo>
                        <a:pt x="107465" y="75926"/>
                      </a:moveTo>
                      <a:lnTo>
                        <a:pt x="15769" y="75926"/>
                      </a:lnTo>
                      <a:lnTo>
                        <a:pt x="15769" y="46432"/>
                      </a:lnTo>
                      <a:cubicBezTo>
                        <a:pt x="15769" y="29494"/>
                        <a:pt x="29494" y="15769"/>
                        <a:pt x="46432" y="15769"/>
                      </a:cubicBezTo>
                      <a:lnTo>
                        <a:pt x="76802" y="15769"/>
                      </a:lnTo>
                      <a:cubicBezTo>
                        <a:pt x="93740" y="15769"/>
                        <a:pt x="107465" y="29494"/>
                        <a:pt x="107465" y="46432"/>
                      </a:cubicBezTo>
                      <a:lnTo>
                        <a:pt x="107465" y="75926"/>
                      </a:ln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051248B1-99FA-5E7C-E673-9EF6876A909D}"/>
                    </a:ext>
                  </a:extLst>
                </p:cNvPr>
                <p:cNvSpPr/>
                <p:nvPr/>
              </p:nvSpPr>
              <p:spPr>
                <a:xfrm>
                  <a:off x="3436046" y="1462652"/>
                  <a:ext cx="66581" cy="66581"/>
                </a:xfrm>
                <a:custGeom>
                  <a:avLst/>
                  <a:gdLst>
                    <a:gd name="connsiteX0" fmla="*/ 33291 w 66581"/>
                    <a:gd name="connsiteY0" fmla="*/ 66581 h 66581"/>
                    <a:gd name="connsiteX1" fmla="*/ 66581 w 66581"/>
                    <a:gd name="connsiteY1" fmla="*/ 33291 h 66581"/>
                    <a:gd name="connsiteX2" fmla="*/ 33291 w 66581"/>
                    <a:gd name="connsiteY2" fmla="*/ 0 h 66581"/>
                    <a:gd name="connsiteX3" fmla="*/ 0 w 66581"/>
                    <a:gd name="connsiteY3" fmla="*/ 33291 h 66581"/>
                    <a:gd name="connsiteX4" fmla="*/ 33291 w 66581"/>
                    <a:gd name="connsiteY4" fmla="*/ 66581 h 66581"/>
                    <a:gd name="connsiteX5" fmla="*/ 33291 w 66581"/>
                    <a:gd name="connsiteY5" fmla="*/ 15769 h 66581"/>
                    <a:gd name="connsiteX6" fmla="*/ 50812 w 66581"/>
                    <a:gd name="connsiteY6" fmla="*/ 33291 h 66581"/>
                    <a:gd name="connsiteX7" fmla="*/ 33291 w 66581"/>
                    <a:gd name="connsiteY7" fmla="*/ 50812 h 66581"/>
                    <a:gd name="connsiteX8" fmla="*/ 15769 w 66581"/>
                    <a:gd name="connsiteY8" fmla="*/ 33291 h 66581"/>
                    <a:gd name="connsiteX9" fmla="*/ 33291 w 66581"/>
                    <a:gd name="connsiteY9" fmla="*/ 15769 h 66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81" h="66581">
                      <a:moveTo>
                        <a:pt x="33291" y="66581"/>
                      </a:moveTo>
                      <a:cubicBezTo>
                        <a:pt x="51688" y="66581"/>
                        <a:pt x="66581" y="51688"/>
                        <a:pt x="66581" y="33291"/>
                      </a:cubicBezTo>
                      <a:cubicBezTo>
                        <a:pt x="66581" y="14893"/>
                        <a:pt x="51688" y="0"/>
                        <a:pt x="33291" y="0"/>
                      </a:cubicBezTo>
                      <a:cubicBezTo>
                        <a:pt x="14893" y="0"/>
                        <a:pt x="0" y="14893"/>
                        <a:pt x="0" y="33291"/>
                      </a:cubicBezTo>
                      <a:cubicBezTo>
                        <a:pt x="0" y="51688"/>
                        <a:pt x="14893" y="66581"/>
                        <a:pt x="33291" y="66581"/>
                      </a:cubicBezTo>
                      <a:close/>
                      <a:moveTo>
                        <a:pt x="33291" y="15769"/>
                      </a:moveTo>
                      <a:cubicBezTo>
                        <a:pt x="42928" y="15769"/>
                        <a:pt x="50812" y="23654"/>
                        <a:pt x="50812" y="33291"/>
                      </a:cubicBezTo>
                      <a:cubicBezTo>
                        <a:pt x="50812" y="42928"/>
                        <a:pt x="42928" y="50812"/>
                        <a:pt x="33291" y="50812"/>
                      </a:cubicBezTo>
                      <a:cubicBezTo>
                        <a:pt x="23654" y="50812"/>
                        <a:pt x="15769" y="42928"/>
                        <a:pt x="15769" y="33291"/>
                      </a:cubicBezTo>
                      <a:cubicBezTo>
                        <a:pt x="15769" y="23654"/>
                        <a:pt x="23654" y="15769"/>
                        <a:pt x="33291" y="15769"/>
                      </a:cubicBez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266A6E0E-36F6-0C9F-F7B6-D1EA166D4EC9}"/>
                    </a:ext>
                  </a:extLst>
                </p:cNvPr>
                <p:cNvSpPr/>
                <p:nvPr/>
              </p:nvSpPr>
              <p:spPr>
                <a:xfrm>
                  <a:off x="3756104" y="1536972"/>
                  <a:ext cx="123234" cy="91695"/>
                </a:xfrm>
                <a:custGeom>
                  <a:avLst/>
                  <a:gdLst>
                    <a:gd name="connsiteX0" fmla="*/ 109801 w 123234"/>
                    <a:gd name="connsiteY0" fmla="*/ 13725 h 91695"/>
                    <a:gd name="connsiteX1" fmla="*/ 76948 w 123234"/>
                    <a:gd name="connsiteY1" fmla="*/ 0 h 91695"/>
                    <a:gd name="connsiteX2" fmla="*/ 46432 w 123234"/>
                    <a:gd name="connsiteY2" fmla="*/ 0 h 91695"/>
                    <a:gd name="connsiteX3" fmla="*/ 0 w 123234"/>
                    <a:gd name="connsiteY3" fmla="*/ 46432 h 91695"/>
                    <a:gd name="connsiteX4" fmla="*/ 0 w 123234"/>
                    <a:gd name="connsiteY4" fmla="*/ 83811 h 91695"/>
                    <a:gd name="connsiteX5" fmla="*/ 7885 w 123234"/>
                    <a:gd name="connsiteY5" fmla="*/ 91696 h 91695"/>
                    <a:gd name="connsiteX6" fmla="*/ 115349 w 123234"/>
                    <a:gd name="connsiteY6" fmla="*/ 91696 h 91695"/>
                    <a:gd name="connsiteX7" fmla="*/ 123234 w 123234"/>
                    <a:gd name="connsiteY7" fmla="*/ 83811 h 91695"/>
                    <a:gd name="connsiteX8" fmla="*/ 123234 w 123234"/>
                    <a:gd name="connsiteY8" fmla="*/ 46432 h 91695"/>
                    <a:gd name="connsiteX9" fmla="*/ 109801 w 123234"/>
                    <a:gd name="connsiteY9" fmla="*/ 13725 h 91695"/>
                    <a:gd name="connsiteX10" fmla="*/ 107465 w 123234"/>
                    <a:gd name="connsiteY10" fmla="*/ 75926 h 91695"/>
                    <a:gd name="connsiteX11" fmla="*/ 15769 w 123234"/>
                    <a:gd name="connsiteY11" fmla="*/ 75926 h 91695"/>
                    <a:gd name="connsiteX12" fmla="*/ 15769 w 123234"/>
                    <a:gd name="connsiteY12" fmla="*/ 46432 h 91695"/>
                    <a:gd name="connsiteX13" fmla="*/ 46432 w 123234"/>
                    <a:gd name="connsiteY13" fmla="*/ 15769 h 91695"/>
                    <a:gd name="connsiteX14" fmla="*/ 76948 w 123234"/>
                    <a:gd name="connsiteY14" fmla="*/ 15769 h 91695"/>
                    <a:gd name="connsiteX15" fmla="*/ 98704 w 123234"/>
                    <a:gd name="connsiteY15" fmla="*/ 24822 h 91695"/>
                    <a:gd name="connsiteX16" fmla="*/ 107611 w 123234"/>
                    <a:gd name="connsiteY16" fmla="*/ 46432 h 91695"/>
                    <a:gd name="connsiteX17" fmla="*/ 107611 w 123234"/>
                    <a:gd name="connsiteY17" fmla="*/ 75926 h 91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23234" h="91695">
                      <a:moveTo>
                        <a:pt x="109801" y="13725"/>
                      </a:moveTo>
                      <a:cubicBezTo>
                        <a:pt x="101040" y="4964"/>
                        <a:pt x="89359" y="0"/>
                        <a:pt x="76948" y="0"/>
                      </a:cubicBezTo>
                      <a:lnTo>
                        <a:pt x="46432" y="0"/>
                      </a:lnTo>
                      <a:cubicBezTo>
                        <a:pt x="20880" y="0"/>
                        <a:pt x="0" y="20734"/>
                        <a:pt x="0" y="46432"/>
                      </a:cubicBezTo>
                      <a:lnTo>
                        <a:pt x="0" y="83811"/>
                      </a:lnTo>
                      <a:cubicBezTo>
                        <a:pt x="0" y="88191"/>
                        <a:pt x="3504" y="91696"/>
                        <a:pt x="7885" y="91696"/>
                      </a:cubicBezTo>
                      <a:lnTo>
                        <a:pt x="115349" y="91696"/>
                      </a:lnTo>
                      <a:cubicBezTo>
                        <a:pt x="119730" y="91696"/>
                        <a:pt x="123234" y="88191"/>
                        <a:pt x="123234" y="83811"/>
                      </a:cubicBezTo>
                      <a:lnTo>
                        <a:pt x="123234" y="46432"/>
                      </a:lnTo>
                      <a:cubicBezTo>
                        <a:pt x="123234" y="34167"/>
                        <a:pt x="118562" y="22486"/>
                        <a:pt x="109801" y="13725"/>
                      </a:cubicBezTo>
                      <a:close/>
                      <a:moveTo>
                        <a:pt x="107465" y="75926"/>
                      </a:moveTo>
                      <a:lnTo>
                        <a:pt x="15769" y="75926"/>
                      </a:lnTo>
                      <a:lnTo>
                        <a:pt x="15769" y="46432"/>
                      </a:lnTo>
                      <a:cubicBezTo>
                        <a:pt x="15769" y="29494"/>
                        <a:pt x="29494" y="15769"/>
                        <a:pt x="46432" y="15769"/>
                      </a:cubicBezTo>
                      <a:lnTo>
                        <a:pt x="76948" y="15769"/>
                      </a:lnTo>
                      <a:cubicBezTo>
                        <a:pt x="85125" y="15769"/>
                        <a:pt x="92864" y="18982"/>
                        <a:pt x="98704" y="24822"/>
                      </a:cubicBezTo>
                      <a:cubicBezTo>
                        <a:pt x="104399" y="30663"/>
                        <a:pt x="107611" y="38255"/>
                        <a:pt x="107611" y="46432"/>
                      </a:cubicBezTo>
                      <a:lnTo>
                        <a:pt x="107611" y="75926"/>
                      </a:ln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96A8C6DB-9E15-9056-B1C0-8C21ADCE0876}"/>
                    </a:ext>
                  </a:extLst>
                </p:cNvPr>
                <p:cNvSpPr/>
                <p:nvPr/>
              </p:nvSpPr>
              <p:spPr>
                <a:xfrm>
                  <a:off x="3784576" y="1466886"/>
                  <a:ext cx="66581" cy="66581"/>
                </a:xfrm>
                <a:custGeom>
                  <a:avLst/>
                  <a:gdLst>
                    <a:gd name="connsiteX0" fmla="*/ 33291 w 66581"/>
                    <a:gd name="connsiteY0" fmla="*/ 66581 h 66581"/>
                    <a:gd name="connsiteX1" fmla="*/ 66581 w 66581"/>
                    <a:gd name="connsiteY1" fmla="*/ 33291 h 66581"/>
                    <a:gd name="connsiteX2" fmla="*/ 33291 w 66581"/>
                    <a:gd name="connsiteY2" fmla="*/ 0 h 66581"/>
                    <a:gd name="connsiteX3" fmla="*/ 0 w 66581"/>
                    <a:gd name="connsiteY3" fmla="*/ 33291 h 66581"/>
                    <a:gd name="connsiteX4" fmla="*/ 33291 w 66581"/>
                    <a:gd name="connsiteY4" fmla="*/ 66581 h 66581"/>
                    <a:gd name="connsiteX5" fmla="*/ 33291 w 66581"/>
                    <a:gd name="connsiteY5" fmla="*/ 15769 h 66581"/>
                    <a:gd name="connsiteX6" fmla="*/ 50812 w 66581"/>
                    <a:gd name="connsiteY6" fmla="*/ 33291 h 66581"/>
                    <a:gd name="connsiteX7" fmla="*/ 33291 w 66581"/>
                    <a:gd name="connsiteY7" fmla="*/ 50812 h 66581"/>
                    <a:gd name="connsiteX8" fmla="*/ 15769 w 66581"/>
                    <a:gd name="connsiteY8" fmla="*/ 33291 h 66581"/>
                    <a:gd name="connsiteX9" fmla="*/ 33291 w 66581"/>
                    <a:gd name="connsiteY9" fmla="*/ 15769 h 66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81" h="66581">
                      <a:moveTo>
                        <a:pt x="33291" y="66581"/>
                      </a:moveTo>
                      <a:cubicBezTo>
                        <a:pt x="51688" y="66581"/>
                        <a:pt x="66581" y="51688"/>
                        <a:pt x="66581" y="33291"/>
                      </a:cubicBezTo>
                      <a:cubicBezTo>
                        <a:pt x="66581" y="14893"/>
                        <a:pt x="51688" y="0"/>
                        <a:pt x="33291" y="0"/>
                      </a:cubicBezTo>
                      <a:cubicBezTo>
                        <a:pt x="14893" y="0"/>
                        <a:pt x="0" y="14893"/>
                        <a:pt x="0" y="33291"/>
                      </a:cubicBezTo>
                      <a:cubicBezTo>
                        <a:pt x="0" y="51688"/>
                        <a:pt x="14893" y="66581"/>
                        <a:pt x="33291" y="66581"/>
                      </a:cubicBezTo>
                      <a:close/>
                      <a:moveTo>
                        <a:pt x="33291" y="15769"/>
                      </a:moveTo>
                      <a:cubicBezTo>
                        <a:pt x="42928" y="15769"/>
                        <a:pt x="50812" y="23654"/>
                        <a:pt x="50812" y="33291"/>
                      </a:cubicBezTo>
                      <a:cubicBezTo>
                        <a:pt x="50812" y="42928"/>
                        <a:pt x="42928" y="50812"/>
                        <a:pt x="33291" y="50812"/>
                      </a:cubicBezTo>
                      <a:cubicBezTo>
                        <a:pt x="23654" y="50812"/>
                        <a:pt x="15769" y="42928"/>
                        <a:pt x="15769" y="33291"/>
                      </a:cubicBezTo>
                      <a:cubicBezTo>
                        <a:pt x="15769" y="23654"/>
                        <a:pt x="23654" y="15769"/>
                        <a:pt x="33291" y="15769"/>
                      </a:cubicBez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05AC0482-6C86-9794-1C03-B57DF2FD9086}"/>
                    </a:ext>
                  </a:extLst>
                </p:cNvPr>
                <p:cNvSpPr/>
                <p:nvPr/>
              </p:nvSpPr>
              <p:spPr>
                <a:xfrm>
                  <a:off x="3580305" y="1825491"/>
                  <a:ext cx="123234" cy="91695"/>
                </a:xfrm>
                <a:custGeom>
                  <a:avLst/>
                  <a:gdLst>
                    <a:gd name="connsiteX0" fmla="*/ 76802 w 123234"/>
                    <a:gd name="connsiteY0" fmla="*/ 0 h 91695"/>
                    <a:gd name="connsiteX1" fmla="*/ 46432 w 123234"/>
                    <a:gd name="connsiteY1" fmla="*/ 0 h 91695"/>
                    <a:gd name="connsiteX2" fmla="*/ 0 w 123234"/>
                    <a:gd name="connsiteY2" fmla="*/ 46432 h 91695"/>
                    <a:gd name="connsiteX3" fmla="*/ 0 w 123234"/>
                    <a:gd name="connsiteY3" fmla="*/ 83811 h 91695"/>
                    <a:gd name="connsiteX4" fmla="*/ 7885 w 123234"/>
                    <a:gd name="connsiteY4" fmla="*/ 91696 h 91695"/>
                    <a:gd name="connsiteX5" fmla="*/ 115349 w 123234"/>
                    <a:gd name="connsiteY5" fmla="*/ 91696 h 91695"/>
                    <a:gd name="connsiteX6" fmla="*/ 123234 w 123234"/>
                    <a:gd name="connsiteY6" fmla="*/ 83811 h 91695"/>
                    <a:gd name="connsiteX7" fmla="*/ 123234 w 123234"/>
                    <a:gd name="connsiteY7" fmla="*/ 46432 h 91695"/>
                    <a:gd name="connsiteX8" fmla="*/ 76802 w 123234"/>
                    <a:gd name="connsiteY8" fmla="*/ 0 h 91695"/>
                    <a:gd name="connsiteX9" fmla="*/ 107465 w 123234"/>
                    <a:gd name="connsiteY9" fmla="*/ 75926 h 91695"/>
                    <a:gd name="connsiteX10" fmla="*/ 15623 w 123234"/>
                    <a:gd name="connsiteY10" fmla="*/ 75926 h 91695"/>
                    <a:gd name="connsiteX11" fmla="*/ 15623 w 123234"/>
                    <a:gd name="connsiteY11" fmla="*/ 46432 h 91695"/>
                    <a:gd name="connsiteX12" fmla="*/ 46286 w 123234"/>
                    <a:gd name="connsiteY12" fmla="*/ 15769 h 91695"/>
                    <a:gd name="connsiteX13" fmla="*/ 76656 w 123234"/>
                    <a:gd name="connsiteY13" fmla="*/ 15769 h 91695"/>
                    <a:gd name="connsiteX14" fmla="*/ 107319 w 123234"/>
                    <a:gd name="connsiteY14" fmla="*/ 46432 h 91695"/>
                    <a:gd name="connsiteX15" fmla="*/ 107319 w 123234"/>
                    <a:gd name="connsiteY15" fmla="*/ 75926 h 91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23234" h="91695">
                      <a:moveTo>
                        <a:pt x="76802" y="0"/>
                      </a:moveTo>
                      <a:lnTo>
                        <a:pt x="46432" y="0"/>
                      </a:lnTo>
                      <a:cubicBezTo>
                        <a:pt x="20880" y="0"/>
                        <a:pt x="0" y="20734"/>
                        <a:pt x="0" y="46432"/>
                      </a:cubicBezTo>
                      <a:lnTo>
                        <a:pt x="0" y="83811"/>
                      </a:lnTo>
                      <a:cubicBezTo>
                        <a:pt x="0" y="88191"/>
                        <a:pt x="3504" y="91696"/>
                        <a:pt x="7885" y="91696"/>
                      </a:cubicBezTo>
                      <a:lnTo>
                        <a:pt x="115349" y="91696"/>
                      </a:lnTo>
                      <a:cubicBezTo>
                        <a:pt x="119730" y="91696"/>
                        <a:pt x="123234" y="88191"/>
                        <a:pt x="123234" y="83811"/>
                      </a:cubicBezTo>
                      <a:lnTo>
                        <a:pt x="123234" y="46432"/>
                      </a:lnTo>
                      <a:cubicBezTo>
                        <a:pt x="123234" y="20880"/>
                        <a:pt x="102354" y="0"/>
                        <a:pt x="76802" y="0"/>
                      </a:cubicBezTo>
                      <a:close/>
                      <a:moveTo>
                        <a:pt x="107465" y="75926"/>
                      </a:moveTo>
                      <a:lnTo>
                        <a:pt x="15623" y="75926"/>
                      </a:lnTo>
                      <a:lnTo>
                        <a:pt x="15623" y="46432"/>
                      </a:lnTo>
                      <a:cubicBezTo>
                        <a:pt x="15623" y="29494"/>
                        <a:pt x="29348" y="15769"/>
                        <a:pt x="46286" y="15769"/>
                      </a:cubicBezTo>
                      <a:lnTo>
                        <a:pt x="76656" y="15769"/>
                      </a:lnTo>
                      <a:cubicBezTo>
                        <a:pt x="93594" y="15769"/>
                        <a:pt x="107319" y="29494"/>
                        <a:pt x="107319" y="46432"/>
                      </a:cubicBezTo>
                      <a:lnTo>
                        <a:pt x="107319" y="75926"/>
                      </a:ln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47F92E1A-D5EA-D9D6-72A9-66F25451230D}"/>
                    </a:ext>
                  </a:extLst>
                </p:cNvPr>
                <p:cNvSpPr/>
                <p:nvPr/>
              </p:nvSpPr>
              <p:spPr>
                <a:xfrm>
                  <a:off x="3608632" y="1755552"/>
                  <a:ext cx="66581" cy="66581"/>
                </a:xfrm>
                <a:custGeom>
                  <a:avLst/>
                  <a:gdLst>
                    <a:gd name="connsiteX0" fmla="*/ 0 w 66581"/>
                    <a:gd name="connsiteY0" fmla="*/ 33291 h 66581"/>
                    <a:gd name="connsiteX1" fmla="*/ 33291 w 66581"/>
                    <a:gd name="connsiteY1" fmla="*/ 66581 h 66581"/>
                    <a:gd name="connsiteX2" fmla="*/ 66581 w 66581"/>
                    <a:gd name="connsiteY2" fmla="*/ 33291 h 66581"/>
                    <a:gd name="connsiteX3" fmla="*/ 33291 w 66581"/>
                    <a:gd name="connsiteY3" fmla="*/ 0 h 66581"/>
                    <a:gd name="connsiteX4" fmla="*/ 0 w 66581"/>
                    <a:gd name="connsiteY4" fmla="*/ 33291 h 66581"/>
                    <a:gd name="connsiteX5" fmla="*/ 50812 w 66581"/>
                    <a:gd name="connsiteY5" fmla="*/ 33291 h 66581"/>
                    <a:gd name="connsiteX6" fmla="*/ 33291 w 66581"/>
                    <a:gd name="connsiteY6" fmla="*/ 50812 h 66581"/>
                    <a:gd name="connsiteX7" fmla="*/ 15769 w 66581"/>
                    <a:gd name="connsiteY7" fmla="*/ 33291 h 66581"/>
                    <a:gd name="connsiteX8" fmla="*/ 33291 w 66581"/>
                    <a:gd name="connsiteY8" fmla="*/ 15769 h 66581"/>
                    <a:gd name="connsiteX9" fmla="*/ 50812 w 66581"/>
                    <a:gd name="connsiteY9" fmla="*/ 33291 h 66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81" h="66581">
                      <a:moveTo>
                        <a:pt x="0" y="33291"/>
                      </a:moveTo>
                      <a:cubicBezTo>
                        <a:pt x="0" y="51688"/>
                        <a:pt x="14893" y="66581"/>
                        <a:pt x="33291" y="66581"/>
                      </a:cubicBezTo>
                      <a:cubicBezTo>
                        <a:pt x="51688" y="66581"/>
                        <a:pt x="66581" y="51688"/>
                        <a:pt x="66581" y="33291"/>
                      </a:cubicBezTo>
                      <a:cubicBezTo>
                        <a:pt x="66581" y="14893"/>
                        <a:pt x="51688" y="0"/>
                        <a:pt x="33291" y="0"/>
                      </a:cubicBezTo>
                      <a:cubicBezTo>
                        <a:pt x="14893" y="0"/>
                        <a:pt x="0" y="14893"/>
                        <a:pt x="0" y="33291"/>
                      </a:cubicBezTo>
                      <a:close/>
                      <a:moveTo>
                        <a:pt x="50812" y="33291"/>
                      </a:moveTo>
                      <a:cubicBezTo>
                        <a:pt x="50812" y="42928"/>
                        <a:pt x="42928" y="50812"/>
                        <a:pt x="33291" y="50812"/>
                      </a:cubicBezTo>
                      <a:cubicBezTo>
                        <a:pt x="23654" y="50812"/>
                        <a:pt x="15769" y="42928"/>
                        <a:pt x="15769" y="33291"/>
                      </a:cubicBezTo>
                      <a:cubicBezTo>
                        <a:pt x="15769" y="23654"/>
                        <a:pt x="23654" y="15769"/>
                        <a:pt x="33291" y="15769"/>
                      </a:cubicBezTo>
                      <a:cubicBezTo>
                        <a:pt x="42928" y="15769"/>
                        <a:pt x="50812" y="23654"/>
                        <a:pt x="50812" y="33291"/>
                      </a:cubicBez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DF39F59B-8DB6-46C1-A759-EF01081F803E}"/>
                    </a:ext>
                  </a:extLst>
                </p:cNvPr>
                <p:cNvSpPr/>
                <p:nvPr/>
              </p:nvSpPr>
              <p:spPr>
                <a:xfrm>
                  <a:off x="3511680" y="1447758"/>
                  <a:ext cx="257127" cy="65851"/>
                </a:xfrm>
                <a:custGeom>
                  <a:avLst/>
                  <a:gdLst>
                    <a:gd name="connsiteX0" fmla="*/ 60449 w 257127"/>
                    <a:gd name="connsiteY0" fmla="*/ 40445 h 65851"/>
                    <a:gd name="connsiteX1" fmla="*/ 247782 w 257127"/>
                    <a:gd name="connsiteY1" fmla="*/ 65851 h 65851"/>
                    <a:gd name="connsiteX2" fmla="*/ 257127 w 257127"/>
                    <a:gd name="connsiteY2" fmla="*/ 53294 h 65851"/>
                    <a:gd name="connsiteX3" fmla="*/ 151706 w 257127"/>
                    <a:gd name="connsiteY3" fmla="*/ 12411 h 65851"/>
                    <a:gd name="connsiteX4" fmla="*/ 53440 w 257127"/>
                    <a:gd name="connsiteY4" fmla="*/ 26428 h 65851"/>
                    <a:gd name="connsiteX5" fmla="*/ 40299 w 257127"/>
                    <a:gd name="connsiteY5" fmla="*/ 0 h 65851"/>
                    <a:gd name="connsiteX6" fmla="*/ 0 w 257127"/>
                    <a:gd name="connsiteY6" fmla="*/ 60887 h 65851"/>
                    <a:gd name="connsiteX7" fmla="*/ 72860 w 257127"/>
                    <a:gd name="connsiteY7" fmla="*/ 65267 h 65851"/>
                    <a:gd name="connsiteX8" fmla="*/ 60449 w 257127"/>
                    <a:gd name="connsiteY8" fmla="*/ 40445 h 658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57127" h="65851">
                      <a:moveTo>
                        <a:pt x="60449" y="40445"/>
                      </a:moveTo>
                      <a:cubicBezTo>
                        <a:pt x="122942" y="15915"/>
                        <a:pt x="193174" y="24968"/>
                        <a:pt x="247782" y="65851"/>
                      </a:cubicBezTo>
                      <a:lnTo>
                        <a:pt x="257127" y="53294"/>
                      </a:lnTo>
                      <a:cubicBezTo>
                        <a:pt x="226465" y="30370"/>
                        <a:pt x="189962" y="16207"/>
                        <a:pt x="151706" y="12411"/>
                      </a:cubicBezTo>
                      <a:cubicBezTo>
                        <a:pt x="118270" y="9053"/>
                        <a:pt x="84541" y="14017"/>
                        <a:pt x="53440" y="26428"/>
                      </a:cubicBezTo>
                      <a:lnTo>
                        <a:pt x="40299" y="0"/>
                      </a:lnTo>
                      <a:lnTo>
                        <a:pt x="0" y="60887"/>
                      </a:lnTo>
                      <a:lnTo>
                        <a:pt x="72860" y="65267"/>
                      </a:lnTo>
                      <a:lnTo>
                        <a:pt x="60449" y="40445"/>
                      </a:ln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01A76966-FBAD-425B-5EF1-D4E7578438F6}"/>
                    </a:ext>
                  </a:extLst>
                </p:cNvPr>
                <p:cNvSpPr/>
                <p:nvPr/>
              </p:nvSpPr>
              <p:spPr>
                <a:xfrm>
                  <a:off x="3716973" y="1645897"/>
                  <a:ext cx="160321" cy="217557"/>
                </a:xfrm>
                <a:custGeom>
                  <a:avLst/>
                  <a:gdLst>
                    <a:gd name="connsiteX0" fmla="*/ 128929 w 160321"/>
                    <a:gd name="connsiteY0" fmla="*/ 0 h 217557"/>
                    <a:gd name="connsiteX1" fmla="*/ 87607 w 160321"/>
                    <a:gd name="connsiteY1" fmla="*/ 60157 h 217557"/>
                    <a:gd name="connsiteX2" fmla="*/ 116518 w 160321"/>
                    <a:gd name="connsiteY2" fmla="*/ 62493 h 217557"/>
                    <a:gd name="connsiteX3" fmla="*/ 0 w 160321"/>
                    <a:gd name="connsiteY3" fmla="*/ 203103 h 217557"/>
                    <a:gd name="connsiteX4" fmla="*/ 5987 w 160321"/>
                    <a:gd name="connsiteY4" fmla="*/ 217558 h 217557"/>
                    <a:gd name="connsiteX5" fmla="*/ 94908 w 160321"/>
                    <a:gd name="connsiteY5" fmla="*/ 148348 h 217557"/>
                    <a:gd name="connsiteX6" fmla="*/ 132141 w 160321"/>
                    <a:gd name="connsiteY6" fmla="*/ 63661 h 217557"/>
                    <a:gd name="connsiteX7" fmla="*/ 160321 w 160321"/>
                    <a:gd name="connsiteY7" fmla="*/ 65851 h 217557"/>
                    <a:gd name="connsiteX8" fmla="*/ 128929 w 160321"/>
                    <a:gd name="connsiteY8" fmla="*/ 0 h 217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0321" h="217557">
                      <a:moveTo>
                        <a:pt x="128929" y="0"/>
                      </a:moveTo>
                      <a:lnTo>
                        <a:pt x="87607" y="60157"/>
                      </a:lnTo>
                      <a:lnTo>
                        <a:pt x="116518" y="62493"/>
                      </a:lnTo>
                      <a:cubicBezTo>
                        <a:pt x="103669" y="125570"/>
                        <a:pt x="60741" y="178281"/>
                        <a:pt x="0" y="203103"/>
                      </a:cubicBezTo>
                      <a:lnTo>
                        <a:pt x="5987" y="217558"/>
                      </a:lnTo>
                      <a:cubicBezTo>
                        <a:pt x="41321" y="203103"/>
                        <a:pt x="72130" y="179157"/>
                        <a:pt x="94908" y="148348"/>
                      </a:cubicBezTo>
                      <a:cubicBezTo>
                        <a:pt x="113597" y="123234"/>
                        <a:pt x="126154" y="94324"/>
                        <a:pt x="132141" y="63661"/>
                      </a:cubicBezTo>
                      <a:lnTo>
                        <a:pt x="160321" y="65851"/>
                      </a:lnTo>
                      <a:lnTo>
                        <a:pt x="128929" y="0"/>
                      </a:ln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705B003E-52C4-4089-2987-ACBD5B04C46E}"/>
                    </a:ext>
                  </a:extLst>
                </p:cNvPr>
                <p:cNvSpPr/>
                <p:nvPr/>
              </p:nvSpPr>
              <p:spPr>
                <a:xfrm>
                  <a:off x="3431608" y="1642684"/>
                  <a:ext cx="132782" cy="217995"/>
                </a:xfrm>
                <a:custGeom>
                  <a:avLst/>
                  <a:gdLst>
                    <a:gd name="connsiteX0" fmla="*/ 85182 w 132782"/>
                    <a:gd name="connsiteY0" fmla="*/ 175506 h 217995"/>
                    <a:gd name="connsiteX1" fmla="*/ 17141 w 132782"/>
                    <a:gd name="connsiteY1" fmla="*/ 2044 h 217995"/>
                    <a:gd name="connsiteX2" fmla="*/ 1663 w 132782"/>
                    <a:gd name="connsiteY2" fmla="*/ 0 h 217995"/>
                    <a:gd name="connsiteX3" fmla="*/ 18163 w 132782"/>
                    <a:gd name="connsiteY3" fmla="*/ 111845 h 217995"/>
                    <a:gd name="connsiteX4" fmla="*/ 76568 w 132782"/>
                    <a:gd name="connsiteY4" fmla="*/ 188501 h 217995"/>
                    <a:gd name="connsiteX5" fmla="*/ 59922 w 132782"/>
                    <a:gd name="connsiteY5" fmla="*/ 213177 h 217995"/>
                    <a:gd name="connsiteX6" fmla="*/ 132782 w 132782"/>
                    <a:gd name="connsiteY6" fmla="*/ 217996 h 217995"/>
                    <a:gd name="connsiteX7" fmla="*/ 100514 w 132782"/>
                    <a:gd name="connsiteY7" fmla="*/ 152437 h 217995"/>
                    <a:gd name="connsiteX8" fmla="*/ 85182 w 132782"/>
                    <a:gd name="connsiteY8" fmla="*/ 175506 h 217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2782" h="217995">
                      <a:moveTo>
                        <a:pt x="85182" y="175506"/>
                      </a:moveTo>
                      <a:cubicBezTo>
                        <a:pt x="34516" y="133163"/>
                        <a:pt x="8672" y="68480"/>
                        <a:pt x="17141" y="2044"/>
                      </a:cubicBezTo>
                      <a:lnTo>
                        <a:pt x="1663" y="0"/>
                      </a:lnTo>
                      <a:cubicBezTo>
                        <a:pt x="-3155" y="38109"/>
                        <a:pt x="2539" y="76802"/>
                        <a:pt x="18163" y="111845"/>
                      </a:cubicBezTo>
                      <a:cubicBezTo>
                        <a:pt x="31450" y="141632"/>
                        <a:pt x="51454" y="167768"/>
                        <a:pt x="76568" y="188501"/>
                      </a:cubicBezTo>
                      <a:lnTo>
                        <a:pt x="59922" y="213177"/>
                      </a:lnTo>
                      <a:lnTo>
                        <a:pt x="132782" y="217996"/>
                      </a:lnTo>
                      <a:lnTo>
                        <a:pt x="100514" y="152437"/>
                      </a:lnTo>
                      <a:lnTo>
                        <a:pt x="85182" y="175506"/>
                      </a:lnTo>
                      <a:close/>
                    </a:path>
                  </a:pathLst>
                </a:custGeom>
                <a:grpFill/>
                <a:ln w="144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527956B-E779-E4DE-8195-FF3718D604A1}"/>
                </a:ext>
              </a:extLst>
            </p:cNvPr>
            <p:cNvGrpSpPr/>
            <p:nvPr userDrawn="1"/>
          </p:nvGrpSpPr>
          <p:grpSpPr>
            <a:xfrm>
              <a:off x="8058010" y="1847389"/>
              <a:ext cx="352594" cy="352594"/>
              <a:chOff x="7355056" y="1458941"/>
              <a:chExt cx="352594" cy="35259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B4652AF-CE5B-CAEB-0D12-55DEE9905E04}"/>
                  </a:ext>
                </a:extLst>
              </p:cNvPr>
              <p:cNvSpPr/>
              <p:nvPr userDrawn="1"/>
            </p:nvSpPr>
            <p:spPr>
              <a:xfrm>
                <a:off x="7355056" y="1458941"/>
                <a:ext cx="352594" cy="352594"/>
              </a:xfrm>
              <a:prstGeom prst="ellips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round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ctr">
                <a:noAutofit/>
              </a:bodyPr>
              <a:lstStyle/>
              <a:p>
                <a:pPr marL="0" marR="0" indent="0" algn="l" defTabSz="60958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spc="0" normalizeH="0" baseline="-2500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+mn-lt"/>
                  <a:ea typeface="+mn-ea"/>
                  <a:cs typeface="+mn-cs"/>
                  <a:sym typeface="Calibri"/>
                </a:endParaRPr>
              </a:p>
            </p:txBody>
          </p:sp>
          <p:grpSp>
            <p:nvGrpSpPr>
              <p:cNvPr id="45" name="Graphic 34">
                <a:extLst>
                  <a:ext uri="{FF2B5EF4-FFF2-40B4-BE49-F238E27FC236}">
                    <a16:creationId xmlns:a16="http://schemas.microsoft.com/office/drawing/2014/main" id="{D7D44DA1-68C6-BBF9-66F8-45C19E7C1298}"/>
                  </a:ext>
                </a:extLst>
              </p:cNvPr>
              <p:cNvGrpSpPr>
                <a:grpSpLocks noChangeAspect="1"/>
              </p:cNvGrpSpPr>
              <p:nvPr userDrawn="1"/>
            </p:nvGrpSpPr>
            <p:grpSpPr>
              <a:xfrm>
                <a:off x="7414367" y="1540221"/>
                <a:ext cx="233973" cy="190034"/>
                <a:chOff x="2463646" y="2314256"/>
                <a:chExt cx="604559" cy="491027"/>
              </a:xfrm>
              <a:solidFill>
                <a:schemeClr val="accent1"/>
              </a:solidFill>
            </p:grpSpPr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27FF9B41-C3CC-3237-2A23-6BB948773E34}"/>
                    </a:ext>
                  </a:extLst>
                </p:cNvPr>
                <p:cNvSpPr/>
                <p:nvPr/>
              </p:nvSpPr>
              <p:spPr>
                <a:xfrm>
                  <a:off x="2463646" y="2314256"/>
                  <a:ext cx="604559" cy="491027"/>
                </a:xfrm>
                <a:custGeom>
                  <a:avLst/>
                  <a:gdLst>
                    <a:gd name="connsiteX0" fmla="*/ 541210 w 604559"/>
                    <a:gd name="connsiteY0" fmla="*/ 406903 h 491027"/>
                    <a:gd name="connsiteX1" fmla="*/ 604559 w 604559"/>
                    <a:gd name="connsiteY1" fmla="*/ 341944 h 491027"/>
                    <a:gd name="connsiteX2" fmla="*/ 516631 w 604559"/>
                    <a:gd name="connsiteY2" fmla="*/ 319559 h 491027"/>
                    <a:gd name="connsiteX3" fmla="*/ 526140 w 604559"/>
                    <a:gd name="connsiteY3" fmla="*/ 353355 h 491027"/>
                    <a:gd name="connsiteX4" fmla="*/ 241140 w 604559"/>
                    <a:gd name="connsiteY4" fmla="*/ 429726 h 491027"/>
                    <a:gd name="connsiteX5" fmla="*/ 217000 w 604559"/>
                    <a:gd name="connsiteY5" fmla="*/ 409829 h 491027"/>
                    <a:gd name="connsiteX6" fmla="*/ 206759 w 604559"/>
                    <a:gd name="connsiteY6" fmla="*/ 407927 h 491027"/>
                    <a:gd name="connsiteX7" fmla="*/ 111369 w 604559"/>
                    <a:gd name="connsiteY7" fmla="*/ 51969 h 491027"/>
                    <a:gd name="connsiteX8" fmla="*/ 105955 w 604559"/>
                    <a:gd name="connsiteY8" fmla="*/ 45532 h 491027"/>
                    <a:gd name="connsiteX9" fmla="*/ 14662 w 604559"/>
                    <a:gd name="connsiteY9" fmla="*/ 1055 h 491027"/>
                    <a:gd name="connsiteX10" fmla="*/ 1055 w 604559"/>
                    <a:gd name="connsiteY10" fmla="*/ 5737 h 491027"/>
                    <a:gd name="connsiteX11" fmla="*/ 5737 w 604559"/>
                    <a:gd name="connsiteY11" fmla="*/ 19343 h 491027"/>
                    <a:gd name="connsiteX12" fmla="*/ 92934 w 604559"/>
                    <a:gd name="connsiteY12" fmla="*/ 61918 h 491027"/>
                    <a:gd name="connsiteX13" fmla="*/ 186861 w 604559"/>
                    <a:gd name="connsiteY13" fmla="*/ 412170 h 491027"/>
                    <a:gd name="connsiteX14" fmla="*/ 185545 w 604559"/>
                    <a:gd name="connsiteY14" fmla="*/ 412901 h 491027"/>
                    <a:gd name="connsiteX15" fmla="*/ 165208 w 604559"/>
                    <a:gd name="connsiteY15" fmla="*/ 437188 h 491027"/>
                    <a:gd name="connsiteX16" fmla="*/ 167988 w 604559"/>
                    <a:gd name="connsiteY16" fmla="*/ 468789 h 491027"/>
                    <a:gd name="connsiteX17" fmla="*/ 192275 w 604559"/>
                    <a:gd name="connsiteY17" fmla="*/ 489125 h 491027"/>
                    <a:gd name="connsiteX18" fmla="*/ 204710 w 604559"/>
                    <a:gd name="connsiteY18" fmla="*/ 491027 h 491027"/>
                    <a:gd name="connsiteX19" fmla="*/ 223876 w 604559"/>
                    <a:gd name="connsiteY19" fmla="*/ 486346 h 491027"/>
                    <a:gd name="connsiteX20" fmla="*/ 246115 w 604559"/>
                    <a:gd name="connsiteY20" fmla="*/ 449770 h 491027"/>
                    <a:gd name="connsiteX21" fmla="*/ 531700 w 604559"/>
                    <a:gd name="connsiteY21" fmla="*/ 373253 h 491027"/>
                    <a:gd name="connsiteX22" fmla="*/ 541210 w 604559"/>
                    <a:gd name="connsiteY22" fmla="*/ 406903 h 491027"/>
                    <a:gd name="connsiteX23" fmla="*/ 214367 w 604559"/>
                    <a:gd name="connsiteY23" fmla="*/ 468058 h 491027"/>
                    <a:gd name="connsiteX24" fmla="*/ 198273 w 604559"/>
                    <a:gd name="connsiteY24" fmla="*/ 469521 h 491027"/>
                    <a:gd name="connsiteX25" fmla="*/ 185837 w 604559"/>
                    <a:gd name="connsiteY25" fmla="*/ 459133 h 491027"/>
                    <a:gd name="connsiteX26" fmla="*/ 184374 w 604559"/>
                    <a:gd name="connsiteY26" fmla="*/ 443040 h 491027"/>
                    <a:gd name="connsiteX27" fmla="*/ 194762 w 604559"/>
                    <a:gd name="connsiteY27" fmla="*/ 430604 h 491027"/>
                    <a:gd name="connsiteX28" fmla="*/ 204564 w 604559"/>
                    <a:gd name="connsiteY28" fmla="*/ 428263 h 491027"/>
                    <a:gd name="connsiteX29" fmla="*/ 210855 w 604559"/>
                    <a:gd name="connsiteY29" fmla="*/ 429287 h 491027"/>
                    <a:gd name="connsiteX30" fmla="*/ 223291 w 604559"/>
                    <a:gd name="connsiteY30" fmla="*/ 439675 h 491027"/>
                    <a:gd name="connsiteX31" fmla="*/ 214367 w 604559"/>
                    <a:gd name="connsiteY31" fmla="*/ 468058 h 491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604559" h="491027">
                      <a:moveTo>
                        <a:pt x="541210" y="406903"/>
                      </a:moveTo>
                      <a:lnTo>
                        <a:pt x="604559" y="341944"/>
                      </a:lnTo>
                      <a:lnTo>
                        <a:pt x="516631" y="319559"/>
                      </a:lnTo>
                      <a:lnTo>
                        <a:pt x="526140" y="353355"/>
                      </a:lnTo>
                      <a:lnTo>
                        <a:pt x="241140" y="429726"/>
                      </a:lnTo>
                      <a:cubicBezTo>
                        <a:pt x="236020" y="420070"/>
                        <a:pt x="227534" y="413047"/>
                        <a:pt x="217000" y="409829"/>
                      </a:cubicBezTo>
                      <a:cubicBezTo>
                        <a:pt x="213635" y="408805"/>
                        <a:pt x="210270" y="408219"/>
                        <a:pt x="206759" y="407927"/>
                      </a:cubicBezTo>
                      <a:lnTo>
                        <a:pt x="111369" y="51969"/>
                      </a:lnTo>
                      <a:cubicBezTo>
                        <a:pt x="110637" y="49189"/>
                        <a:pt x="108589" y="46702"/>
                        <a:pt x="105955" y="45532"/>
                      </a:cubicBezTo>
                      <a:lnTo>
                        <a:pt x="14662" y="1055"/>
                      </a:lnTo>
                      <a:cubicBezTo>
                        <a:pt x="9541" y="-1432"/>
                        <a:pt x="3542" y="616"/>
                        <a:pt x="1055" y="5737"/>
                      </a:cubicBezTo>
                      <a:cubicBezTo>
                        <a:pt x="-1432" y="10711"/>
                        <a:pt x="616" y="16856"/>
                        <a:pt x="5737" y="19343"/>
                      </a:cubicBezTo>
                      <a:lnTo>
                        <a:pt x="92934" y="61918"/>
                      </a:lnTo>
                      <a:lnTo>
                        <a:pt x="186861" y="412170"/>
                      </a:lnTo>
                      <a:cubicBezTo>
                        <a:pt x="186422" y="412316"/>
                        <a:pt x="185984" y="412608"/>
                        <a:pt x="185545" y="412901"/>
                      </a:cubicBezTo>
                      <a:cubicBezTo>
                        <a:pt x="175742" y="418022"/>
                        <a:pt x="168573" y="426654"/>
                        <a:pt x="165208" y="437188"/>
                      </a:cubicBezTo>
                      <a:cubicBezTo>
                        <a:pt x="161843" y="447721"/>
                        <a:pt x="162868" y="458987"/>
                        <a:pt x="167988" y="468789"/>
                      </a:cubicBezTo>
                      <a:cubicBezTo>
                        <a:pt x="173109" y="478592"/>
                        <a:pt x="181741" y="485760"/>
                        <a:pt x="192275" y="489125"/>
                      </a:cubicBezTo>
                      <a:cubicBezTo>
                        <a:pt x="196371" y="490442"/>
                        <a:pt x="200468" y="491027"/>
                        <a:pt x="204710" y="491027"/>
                      </a:cubicBezTo>
                      <a:cubicBezTo>
                        <a:pt x="211294" y="491027"/>
                        <a:pt x="217878" y="489418"/>
                        <a:pt x="223876" y="486346"/>
                      </a:cubicBezTo>
                      <a:cubicBezTo>
                        <a:pt x="237921" y="479031"/>
                        <a:pt x="245968" y="464693"/>
                        <a:pt x="246115" y="449770"/>
                      </a:cubicBezTo>
                      <a:lnTo>
                        <a:pt x="531700" y="373253"/>
                      </a:lnTo>
                      <a:lnTo>
                        <a:pt x="541210" y="406903"/>
                      </a:lnTo>
                      <a:close/>
                      <a:moveTo>
                        <a:pt x="214367" y="468058"/>
                      </a:moveTo>
                      <a:cubicBezTo>
                        <a:pt x="209392" y="470691"/>
                        <a:pt x="203686" y="471130"/>
                        <a:pt x="198273" y="469521"/>
                      </a:cubicBezTo>
                      <a:cubicBezTo>
                        <a:pt x="192860" y="467911"/>
                        <a:pt x="188471" y="464107"/>
                        <a:pt x="185837" y="459133"/>
                      </a:cubicBezTo>
                      <a:cubicBezTo>
                        <a:pt x="183204" y="454159"/>
                        <a:pt x="182765" y="448453"/>
                        <a:pt x="184374" y="443040"/>
                      </a:cubicBezTo>
                      <a:cubicBezTo>
                        <a:pt x="185984" y="437626"/>
                        <a:pt x="189787" y="433237"/>
                        <a:pt x="194762" y="430604"/>
                      </a:cubicBezTo>
                      <a:cubicBezTo>
                        <a:pt x="197834" y="428995"/>
                        <a:pt x="201199" y="428263"/>
                        <a:pt x="204564" y="428263"/>
                      </a:cubicBezTo>
                      <a:cubicBezTo>
                        <a:pt x="206612" y="428263"/>
                        <a:pt x="208807" y="428556"/>
                        <a:pt x="210855" y="429287"/>
                      </a:cubicBezTo>
                      <a:cubicBezTo>
                        <a:pt x="216268" y="431043"/>
                        <a:pt x="220658" y="434700"/>
                        <a:pt x="223291" y="439675"/>
                      </a:cubicBezTo>
                      <a:cubicBezTo>
                        <a:pt x="228704" y="449916"/>
                        <a:pt x="224608" y="462644"/>
                        <a:pt x="214367" y="468058"/>
                      </a:cubicBezTo>
                      <a:close/>
                    </a:path>
                  </a:pathLst>
                </a:custGeom>
                <a:grpFill/>
                <a:ln w="14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5FFE4EA6-FE78-51D3-37F3-256C0CA0626A}"/>
                    </a:ext>
                  </a:extLst>
                </p:cNvPr>
                <p:cNvSpPr/>
                <p:nvPr/>
              </p:nvSpPr>
              <p:spPr>
                <a:xfrm>
                  <a:off x="2646936" y="2396888"/>
                  <a:ext cx="301507" cy="301446"/>
                </a:xfrm>
                <a:custGeom>
                  <a:avLst/>
                  <a:gdLst>
                    <a:gd name="connsiteX0" fmla="*/ 59606 w 301507"/>
                    <a:gd name="connsiteY0" fmla="*/ 293985 h 301446"/>
                    <a:gd name="connsiteX1" fmla="*/ 69409 w 301507"/>
                    <a:gd name="connsiteY1" fmla="*/ 301447 h 301446"/>
                    <a:gd name="connsiteX2" fmla="*/ 72042 w 301507"/>
                    <a:gd name="connsiteY2" fmla="*/ 301154 h 301446"/>
                    <a:gd name="connsiteX3" fmla="*/ 293985 w 301507"/>
                    <a:gd name="connsiteY3" fmla="*/ 241755 h 301446"/>
                    <a:gd name="connsiteX4" fmla="*/ 301154 w 301507"/>
                    <a:gd name="connsiteY4" fmla="*/ 229319 h 301446"/>
                    <a:gd name="connsiteX5" fmla="*/ 241755 w 301507"/>
                    <a:gd name="connsiteY5" fmla="*/ 7522 h 301446"/>
                    <a:gd name="connsiteX6" fmla="*/ 229319 w 301507"/>
                    <a:gd name="connsiteY6" fmla="*/ 353 h 301446"/>
                    <a:gd name="connsiteX7" fmla="*/ 7522 w 301507"/>
                    <a:gd name="connsiteY7" fmla="*/ 59752 h 301446"/>
                    <a:gd name="connsiteX8" fmla="*/ 353 w 301507"/>
                    <a:gd name="connsiteY8" fmla="*/ 72188 h 301446"/>
                    <a:gd name="connsiteX9" fmla="*/ 59606 w 301507"/>
                    <a:gd name="connsiteY9" fmla="*/ 293985 h 301446"/>
                    <a:gd name="connsiteX10" fmla="*/ 224637 w 301507"/>
                    <a:gd name="connsiteY10" fmla="*/ 22445 h 301446"/>
                    <a:gd name="connsiteX11" fmla="*/ 278916 w 301507"/>
                    <a:gd name="connsiteY11" fmla="*/ 224637 h 301446"/>
                    <a:gd name="connsiteX12" fmla="*/ 76577 w 301507"/>
                    <a:gd name="connsiteY12" fmla="*/ 278916 h 301446"/>
                    <a:gd name="connsiteX13" fmla="*/ 22445 w 301507"/>
                    <a:gd name="connsiteY13" fmla="*/ 76724 h 301446"/>
                    <a:gd name="connsiteX14" fmla="*/ 224637 w 301507"/>
                    <a:gd name="connsiteY14" fmla="*/ 22445 h 3014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1507" h="301446">
                      <a:moveTo>
                        <a:pt x="59606" y="293985"/>
                      </a:moveTo>
                      <a:cubicBezTo>
                        <a:pt x="60777" y="298521"/>
                        <a:pt x="64873" y="301447"/>
                        <a:pt x="69409" y="301447"/>
                      </a:cubicBezTo>
                      <a:cubicBezTo>
                        <a:pt x="70286" y="301447"/>
                        <a:pt x="71164" y="301300"/>
                        <a:pt x="72042" y="301154"/>
                      </a:cubicBezTo>
                      <a:lnTo>
                        <a:pt x="293985" y="241755"/>
                      </a:lnTo>
                      <a:cubicBezTo>
                        <a:pt x="299398" y="240292"/>
                        <a:pt x="302617" y="234732"/>
                        <a:pt x="301154" y="229319"/>
                      </a:cubicBezTo>
                      <a:lnTo>
                        <a:pt x="241755" y="7522"/>
                      </a:lnTo>
                      <a:cubicBezTo>
                        <a:pt x="240292" y="2109"/>
                        <a:pt x="234732" y="-1110"/>
                        <a:pt x="229319" y="353"/>
                      </a:cubicBezTo>
                      <a:lnTo>
                        <a:pt x="7522" y="59752"/>
                      </a:lnTo>
                      <a:cubicBezTo>
                        <a:pt x="2109" y="61216"/>
                        <a:pt x="-1110" y="66775"/>
                        <a:pt x="353" y="72188"/>
                      </a:cubicBezTo>
                      <a:lnTo>
                        <a:pt x="59606" y="293985"/>
                      </a:lnTo>
                      <a:close/>
                      <a:moveTo>
                        <a:pt x="224637" y="22445"/>
                      </a:moveTo>
                      <a:lnTo>
                        <a:pt x="278916" y="224637"/>
                      </a:lnTo>
                      <a:lnTo>
                        <a:pt x="76577" y="278916"/>
                      </a:lnTo>
                      <a:lnTo>
                        <a:pt x="22445" y="76724"/>
                      </a:lnTo>
                      <a:lnTo>
                        <a:pt x="224637" y="22445"/>
                      </a:lnTo>
                      <a:close/>
                    </a:path>
                  </a:pathLst>
                </a:custGeom>
                <a:grpFill/>
                <a:ln w="144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2400"/>
                </a:p>
              </p:txBody>
            </p:sp>
          </p:grp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9897409-275E-D58B-5883-559CB8E563C6}"/>
                </a:ext>
              </a:extLst>
            </p:cNvPr>
            <p:cNvSpPr/>
            <p:nvPr userDrawn="1"/>
          </p:nvSpPr>
          <p:spPr>
            <a:xfrm>
              <a:off x="6570860" y="792428"/>
              <a:ext cx="108688" cy="458381"/>
            </a:xfrm>
            <a:custGeom>
              <a:avLst/>
              <a:gdLst>
                <a:gd name="connsiteX0" fmla="*/ 0 w 108688"/>
                <a:gd name="connsiteY0" fmla="*/ 0 h 458381"/>
                <a:gd name="connsiteX1" fmla="*/ 0 w 108688"/>
                <a:gd name="connsiteY1" fmla="*/ 132316 h 458381"/>
                <a:gd name="connsiteX2" fmla="*/ 108688 w 108688"/>
                <a:gd name="connsiteY2" fmla="*/ 241004 h 458381"/>
                <a:gd name="connsiteX3" fmla="*/ 108688 w 108688"/>
                <a:gd name="connsiteY3" fmla="*/ 458381 h 45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688" h="458381">
                  <a:moveTo>
                    <a:pt x="0" y="0"/>
                  </a:moveTo>
                  <a:lnTo>
                    <a:pt x="0" y="132316"/>
                  </a:lnTo>
                  <a:lnTo>
                    <a:pt x="108688" y="241004"/>
                  </a:lnTo>
                  <a:lnTo>
                    <a:pt x="108688" y="458381"/>
                  </a:lnTo>
                </a:path>
              </a:pathLst>
            </a:custGeom>
            <a:noFill/>
            <a:ln w="22225" cap="flat">
              <a:gradFill>
                <a:gsLst>
                  <a:gs pos="100000">
                    <a:schemeClr val="bg1">
                      <a:alpha val="0"/>
                    </a:schemeClr>
                  </a:gs>
                  <a:gs pos="47000">
                    <a:schemeClr val="bg1"/>
                  </a:gs>
                </a:gsLst>
                <a:lin ang="5400000" scaled="1"/>
              </a:gra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lvl="0" defTabSz="1219170" latinLnBrk="1"/>
              <a:endParaRPr lang="en-US" sz="24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7626F32-6406-F6D6-E248-99DE038F2E71}"/>
                </a:ext>
              </a:extLst>
            </p:cNvPr>
            <p:cNvSpPr/>
            <p:nvPr userDrawn="1"/>
          </p:nvSpPr>
          <p:spPr>
            <a:xfrm>
              <a:off x="7633839" y="2044338"/>
              <a:ext cx="444205" cy="61433"/>
            </a:xfrm>
            <a:custGeom>
              <a:avLst/>
              <a:gdLst>
                <a:gd name="connsiteX0" fmla="*/ 444205 w 444205"/>
                <a:gd name="connsiteY0" fmla="*/ 0 h 61433"/>
                <a:gd name="connsiteX1" fmla="*/ 207926 w 444205"/>
                <a:gd name="connsiteY1" fmla="*/ 0 h 61433"/>
                <a:gd name="connsiteX2" fmla="*/ 146493 w 444205"/>
                <a:gd name="connsiteY2" fmla="*/ 61433 h 61433"/>
                <a:gd name="connsiteX3" fmla="*/ 0 w 444205"/>
                <a:gd name="connsiteY3" fmla="*/ 61433 h 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205" h="61433">
                  <a:moveTo>
                    <a:pt x="444205" y="0"/>
                  </a:moveTo>
                  <a:lnTo>
                    <a:pt x="207926" y="0"/>
                  </a:lnTo>
                  <a:lnTo>
                    <a:pt x="146493" y="61433"/>
                  </a:lnTo>
                  <a:lnTo>
                    <a:pt x="0" y="61433"/>
                  </a:lnTo>
                </a:path>
              </a:pathLst>
            </a:custGeom>
            <a:noFill/>
            <a:ln w="22225" cap="flat">
              <a:gradFill>
                <a:gsLst>
                  <a:gs pos="7000">
                    <a:schemeClr val="bg1">
                      <a:alpha val="0"/>
                    </a:schemeClr>
                  </a:gs>
                  <a:gs pos="58000">
                    <a:schemeClr val="bg1"/>
                  </a:gs>
                </a:gsLst>
                <a:lin ang="0" scaled="0"/>
              </a:gra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lvl="0" defTabSz="1219170" latinLnBrk="1"/>
              <a:endParaRPr lang="en-US" sz="24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15BFCCA-C174-2B79-B20E-A6BF4757C6B8}"/>
                </a:ext>
              </a:extLst>
            </p:cNvPr>
            <p:cNvSpPr/>
            <p:nvPr userDrawn="1"/>
          </p:nvSpPr>
          <p:spPr>
            <a:xfrm>
              <a:off x="7397780" y="2873886"/>
              <a:ext cx="321600" cy="470400"/>
            </a:xfrm>
            <a:custGeom>
              <a:avLst/>
              <a:gdLst>
                <a:gd name="connsiteX0" fmla="*/ 321600 w 321600"/>
                <a:gd name="connsiteY0" fmla="*/ 470400 h 470400"/>
                <a:gd name="connsiteX1" fmla="*/ 254400 w 321600"/>
                <a:gd name="connsiteY1" fmla="*/ 398400 h 470400"/>
                <a:gd name="connsiteX2" fmla="*/ 98400 w 321600"/>
                <a:gd name="connsiteY2" fmla="*/ 398400 h 470400"/>
                <a:gd name="connsiteX3" fmla="*/ 0 w 321600"/>
                <a:gd name="connsiteY3" fmla="*/ 300000 h 470400"/>
                <a:gd name="connsiteX4" fmla="*/ 0 w 321600"/>
                <a:gd name="connsiteY4" fmla="*/ 0 h 47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1600" h="470400">
                  <a:moveTo>
                    <a:pt x="321600" y="470400"/>
                  </a:moveTo>
                  <a:lnTo>
                    <a:pt x="254400" y="398400"/>
                  </a:lnTo>
                  <a:lnTo>
                    <a:pt x="98400" y="398400"/>
                  </a:lnTo>
                  <a:lnTo>
                    <a:pt x="0" y="30000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gradFill>
                <a:gsLst>
                  <a:gs pos="0">
                    <a:schemeClr val="bg1">
                      <a:alpha val="0"/>
                    </a:schemeClr>
                  </a:gs>
                  <a:gs pos="47000">
                    <a:schemeClr val="bg1"/>
                  </a:gs>
                </a:gsLst>
                <a:lin ang="5400000" scaled="1"/>
              </a:gra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lvl="0" defTabSz="1219170" latinLnBrk="1"/>
              <a:endParaRPr lang="en-US" sz="24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F4398B3-49A4-ED5A-6227-2C1156112D54}"/>
                </a:ext>
              </a:extLst>
            </p:cNvPr>
            <p:cNvSpPr/>
            <p:nvPr userDrawn="1"/>
          </p:nvSpPr>
          <p:spPr>
            <a:xfrm>
              <a:off x="5108468" y="1466811"/>
              <a:ext cx="350400" cy="489600"/>
            </a:xfrm>
            <a:custGeom>
              <a:avLst/>
              <a:gdLst>
                <a:gd name="connsiteX0" fmla="*/ 0 w 350400"/>
                <a:gd name="connsiteY0" fmla="*/ 0 h 489600"/>
                <a:gd name="connsiteX1" fmla="*/ 81600 w 350400"/>
                <a:gd name="connsiteY1" fmla="*/ 93600 h 489600"/>
                <a:gd name="connsiteX2" fmla="*/ 242400 w 350400"/>
                <a:gd name="connsiteY2" fmla="*/ 93600 h 489600"/>
                <a:gd name="connsiteX3" fmla="*/ 350400 w 350400"/>
                <a:gd name="connsiteY3" fmla="*/ 201600 h 489600"/>
                <a:gd name="connsiteX4" fmla="*/ 350400 w 350400"/>
                <a:gd name="connsiteY4" fmla="*/ 489600 h 48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400" h="489600">
                  <a:moveTo>
                    <a:pt x="0" y="0"/>
                  </a:moveTo>
                  <a:lnTo>
                    <a:pt x="81600" y="93600"/>
                  </a:lnTo>
                  <a:lnTo>
                    <a:pt x="242400" y="93600"/>
                  </a:lnTo>
                  <a:lnTo>
                    <a:pt x="350400" y="201600"/>
                  </a:lnTo>
                  <a:lnTo>
                    <a:pt x="350400" y="489600"/>
                  </a:lnTo>
                </a:path>
              </a:pathLst>
            </a:custGeom>
            <a:noFill/>
            <a:ln w="22225" cap="flat">
              <a:gradFill>
                <a:gsLst>
                  <a:gs pos="100000">
                    <a:schemeClr val="bg1">
                      <a:alpha val="0"/>
                    </a:schemeClr>
                  </a:gs>
                  <a:gs pos="12000">
                    <a:schemeClr val="bg1"/>
                  </a:gs>
                </a:gsLst>
                <a:lin ang="5400000" scaled="1"/>
              </a:gra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lvl="0" defTabSz="1219170" latinLnBrk="1"/>
              <a:endParaRPr lang="en-US" sz="2400"/>
            </a:p>
          </p:txBody>
        </p:sp>
      </p:grpSp>
      <p:pic>
        <p:nvPicPr>
          <p:cNvPr id="46" name="Graphic 45">
            <a:extLst>
              <a:ext uri="{FF2B5EF4-FFF2-40B4-BE49-F238E27FC236}">
                <a16:creationId xmlns:a16="http://schemas.microsoft.com/office/drawing/2014/main" id="{B93F8A5C-C86F-A05D-D664-923E058487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70" t="57158" r="93500" b="37042"/>
          <a:stretch>
            <a:fillRect/>
          </a:stretch>
        </p:blipFill>
        <p:spPr>
          <a:xfrm>
            <a:off x="1" y="0"/>
            <a:ext cx="7567531" cy="1258856"/>
          </a:xfrm>
          <a:custGeom>
            <a:avLst/>
            <a:gdLst>
              <a:gd name="connsiteX0" fmla="*/ 0 w 6138054"/>
              <a:gd name="connsiteY0" fmla="*/ 0 h 1021064"/>
              <a:gd name="connsiteX1" fmla="*/ 6138054 w 6138054"/>
              <a:gd name="connsiteY1" fmla="*/ 0 h 1021064"/>
              <a:gd name="connsiteX2" fmla="*/ 6138054 w 6138054"/>
              <a:gd name="connsiteY2" fmla="*/ 616767 h 1021064"/>
              <a:gd name="connsiteX3" fmla="*/ 5344226 w 6138054"/>
              <a:gd name="connsiteY3" fmla="*/ 1021064 h 1021064"/>
              <a:gd name="connsiteX4" fmla="*/ 1240395 w 6138054"/>
              <a:gd name="connsiteY4" fmla="*/ 1021064 h 1021064"/>
              <a:gd name="connsiteX5" fmla="*/ 17291 w 6138054"/>
              <a:gd name="connsiteY5" fmla="*/ 710394 h 1021064"/>
              <a:gd name="connsiteX6" fmla="*/ 34436 w 6138054"/>
              <a:gd name="connsiteY6" fmla="*/ 1021064 h 1021064"/>
              <a:gd name="connsiteX7" fmla="*/ 0 w 6138054"/>
              <a:gd name="connsiteY7" fmla="*/ 1021064 h 1021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38054" h="1021064">
                <a:moveTo>
                  <a:pt x="0" y="0"/>
                </a:moveTo>
                <a:lnTo>
                  <a:pt x="6138054" y="0"/>
                </a:lnTo>
                <a:lnTo>
                  <a:pt x="6138054" y="616767"/>
                </a:lnTo>
                <a:lnTo>
                  <a:pt x="5344226" y="1021064"/>
                </a:lnTo>
                <a:lnTo>
                  <a:pt x="1240395" y="1021064"/>
                </a:lnTo>
                <a:lnTo>
                  <a:pt x="17291" y="710394"/>
                </a:lnTo>
                <a:lnTo>
                  <a:pt x="34436" y="1021064"/>
                </a:lnTo>
                <a:lnTo>
                  <a:pt x="0" y="1021064"/>
                </a:lnTo>
                <a:close/>
              </a:path>
            </a:pathLst>
          </a:custGeom>
          <a:effectLst/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7BC1D2F-2CBE-FAD2-7DE2-4AC4F1EC87FA}"/>
              </a:ext>
            </a:extLst>
          </p:cNvPr>
          <p:cNvSpPr/>
          <p:nvPr userDrawn="1"/>
        </p:nvSpPr>
        <p:spPr>
          <a:xfrm>
            <a:off x="272143" y="-10884"/>
            <a:ext cx="6640285" cy="763608"/>
          </a:xfrm>
          <a:custGeom>
            <a:avLst/>
            <a:gdLst>
              <a:gd name="connsiteX0" fmla="*/ 0 w 4963886"/>
              <a:gd name="connsiteY0" fmla="*/ 0 h 710293"/>
              <a:gd name="connsiteX1" fmla="*/ 4963886 w 4963886"/>
              <a:gd name="connsiteY1" fmla="*/ 710293 h 710293"/>
              <a:gd name="connsiteX0" fmla="*/ 0 w 4963886"/>
              <a:gd name="connsiteY0" fmla="*/ 0 h 710293"/>
              <a:gd name="connsiteX1" fmla="*/ 4963886 w 4963886"/>
              <a:gd name="connsiteY1" fmla="*/ 710293 h 710293"/>
              <a:gd name="connsiteX0" fmla="*/ 0 w 4980214"/>
              <a:gd name="connsiteY0" fmla="*/ 25138 h 381895"/>
              <a:gd name="connsiteX1" fmla="*/ 4980214 w 4980214"/>
              <a:gd name="connsiteY1" fmla="*/ 33302 h 381895"/>
              <a:gd name="connsiteX0" fmla="*/ 0 w 4980214"/>
              <a:gd name="connsiteY0" fmla="*/ 0 h 572706"/>
              <a:gd name="connsiteX1" fmla="*/ 4980214 w 4980214"/>
              <a:gd name="connsiteY1" fmla="*/ 8164 h 572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0214" h="572706">
                <a:moveTo>
                  <a:pt x="0" y="0"/>
                </a:moveTo>
                <a:cubicBezTo>
                  <a:pt x="1099458" y="906235"/>
                  <a:pt x="2941863" y="604157"/>
                  <a:pt x="4980214" y="8164"/>
                </a:cubicBezTo>
              </a:path>
            </a:pathLst>
          </a:custGeom>
          <a:noFill/>
          <a:ln w="6350" cap="flat">
            <a:gradFill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0"/>
            </a:gra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1919" tIns="60959" rIns="121919" bIns="60959" numCol="1" spcCol="38100" rtlCol="0" anchor="t">
            <a:noAutofit/>
          </a:bodyPr>
          <a:lstStyle/>
          <a:p>
            <a:pPr defTabSz="1219170" latinLnBrk="1"/>
            <a:endParaRPr lang="en-US" sz="240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21F99E26-BC11-346F-D361-9E371921F9F9}"/>
              </a:ext>
            </a:extLst>
          </p:cNvPr>
          <p:cNvSpPr/>
          <p:nvPr userDrawn="1"/>
        </p:nvSpPr>
        <p:spPr>
          <a:xfrm rot="6529639">
            <a:off x="1253821" y="500524"/>
            <a:ext cx="102396" cy="88272"/>
          </a:xfrm>
          <a:prstGeom prst="triangle">
            <a:avLst/>
          </a:prstGeom>
          <a:solidFill>
            <a:schemeClr val="bg1"/>
          </a:solidFill>
          <a:ln w="6350" cap="flat">
            <a:solidFill>
              <a:srgbClr val="9034E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indent="0" algn="l" defTabSz="60958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749830C-8382-9ED4-CC90-4F02B04FBD24}"/>
              </a:ext>
            </a:extLst>
          </p:cNvPr>
          <p:cNvSpPr/>
          <p:nvPr userDrawn="1"/>
        </p:nvSpPr>
        <p:spPr>
          <a:xfrm rot="4575291">
            <a:off x="5365182" y="353599"/>
            <a:ext cx="102396" cy="88272"/>
          </a:xfrm>
          <a:prstGeom prst="triangle">
            <a:avLst/>
          </a:prstGeom>
          <a:solidFill>
            <a:schemeClr val="bg1"/>
          </a:solidFill>
          <a:ln w="6350" cap="flat">
            <a:solidFill>
              <a:srgbClr val="3277CE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indent="0" algn="l" defTabSz="60958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C70A23-30D3-C43C-EF35-8B47E811D80D}"/>
              </a:ext>
            </a:extLst>
          </p:cNvPr>
          <p:cNvGrpSpPr/>
          <p:nvPr userDrawn="1"/>
        </p:nvGrpSpPr>
        <p:grpSpPr>
          <a:xfrm>
            <a:off x="1254522" y="1744317"/>
            <a:ext cx="2015495" cy="330151"/>
            <a:chOff x="496302" y="842794"/>
            <a:chExt cx="1287744" cy="21094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DD2CDDD-CAB1-DAA3-173B-5408DFA367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lum bright="100000"/>
            </a:blip>
            <a:srcRect b="26883"/>
            <a:stretch>
              <a:fillRect/>
            </a:stretch>
          </p:blipFill>
          <p:spPr>
            <a:xfrm>
              <a:off x="1238619" y="846280"/>
              <a:ext cx="545427" cy="203968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CD11BB1-A5CB-B5B6-7805-F43019883C5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50581" y="846280"/>
              <a:ext cx="0" cy="203968"/>
            </a:xfrm>
            <a:prstGeom prst="line">
              <a:avLst/>
            </a:prstGeom>
            <a:noFill/>
            <a:ln w="6350" cap="flat">
              <a:solidFill>
                <a:srgbClr val="E7BCFC">
                  <a:alpha val="43000"/>
                </a:srgb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1D6B391-2B57-9BD6-8D96-F6A84298FC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r="53577"/>
            <a:stretch>
              <a:fillRect/>
            </a:stretch>
          </p:blipFill>
          <p:spPr>
            <a:xfrm>
              <a:off x="496302" y="842794"/>
              <a:ext cx="566241" cy="2109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528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025D1-52D9-1F58-F6C4-BF71ADF56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22">
            <a:extLst>
              <a:ext uri="{FF2B5EF4-FFF2-40B4-BE49-F238E27FC236}">
                <a16:creationId xmlns:a16="http://schemas.microsoft.com/office/drawing/2014/main" id="{348A125F-853F-96A4-2E03-89093767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31570"/>
            <a:ext cx="11578681" cy="3635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690591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7B0A-D19B-CADC-3583-3A417288A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0D77-D9ED-8CA3-79BE-7381E1E11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AB6B-197C-1357-9C08-95AB2781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E3AA1-F03B-492A-B741-0223680F8D66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2C200-EE30-C857-58E6-C5551BFF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3B22C-0801-0AE9-3D28-FC1EAE85D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9C1E2-C814-4231-8C47-04148724FA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030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3549F6-29A7-F330-B847-9B82FA87AFC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407150"/>
            <a:ext cx="12192000" cy="450849"/>
          </a:xfrm>
          <a:prstGeom prst="rect">
            <a:avLst/>
          </a:prstGeom>
        </p:spPr>
      </p:pic>
      <p:sp>
        <p:nvSpPr>
          <p:cNvPr id="3" name="Shape 42">
            <a:extLst>
              <a:ext uri="{FF2B5EF4-FFF2-40B4-BE49-F238E27FC236}">
                <a16:creationId xmlns:a16="http://schemas.microsoft.com/office/drawing/2014/main" id="{529F27D8-FF36-46C7-5B99-CDD299ED9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82642" y="6535276"/>
            <a:ext cx="426717" cy="18466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DCB73BEA-615E-1502-24A9-2337342962B0}"/>
              </a:ext>
            </a:extLst>
          </p:cNvPr>
          <p:cNvSpPr/>
          <p:nvPr userDrawn="1"/>
        </p:nvSpPr>
        <p:spPr>
          <a:xfrm>
            <a:off x="12053066" y="2852046"/>
            <a:ext cx="138935" cy="1153909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rgbClr val="F7ECFD"/>
          </a:solidFill>
          <a:ln>
            <a:noFill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6017092D-F042-0D9B-721B-037BE2F999FD}"/>
              </a:ext>
            </a:extLst>
          </p:cNvPr>
          <p:cNvSpPr/>
          <p:nvPr userDrawn="1"/>
        </p:nvSpPr>
        <p:spPr>
          <a:xfrm>
            <a:off x="1" y="2852046"/>
            <a:ext cx="138935" cy="1153909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rgbClr val="F7ECFD"/>
          </a:solidFill>
          <a:ln>
            <a:noFill/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Title Placeholder 22">
            <a:extLst>
              <a:ext uri="{FF2B5EF4-FFF2-40B4-BE49-F238E27FC236}">
                <a16:creationId xmlns:a16="http://schemas.microsoft.com/office/drawing/2014/main" id="{079195AC-ECAB-2869-649E-FD0A3D711C2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04801" y="306986"/>
            <a:ext cx="11578681" cy="3635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B3047C-87A0-4642-F11A-B24E1A6FAF2D}"/>
              </a:ext>
            </a:extLst>
          </p:cNvPr>
          <p:cNvGrpSpPr/>
          <p:nvPr userDrawn="1"/>
        </p:nvGrpSpPr>
        <p:grpSpPr>
          <a:xfrm>
            <a:off x="10811011" y="6534562"/>
            <a:ext cx="1196703" cy="196028"/>
            <a:chOff x="496302" y="842794"/>
            <a:chExt cx="1287744" cy="21094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34876BB-B982-2645-84B9-85BA30736F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</a:blip>
            <a:srcRect b="26883"/>
            <a:stretch>
              <a:fillRect/>
            </a:stretch>
          </p:blipFill>
          <p:spPr>
            <a:xfrm>
              <a:off x="1238619" y="846280"/>
              <a:ext cx="545427" cy="203968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BF44CDC-D976-D78C-303D-9418CC855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50581" y="846280"/>
              <a:ext cx="0" cy="203968"/>
            </a:xfrm>
            <a:prstGeom prst="line">
              <a:avLst/>
            </a:prstGeom>
            <a:noFill/>
            <a:ln w="6350" cap="flat">
              <a:solidFill>
                <a:srgbClr val="E7BCFC">
                  <a:alpha val="43000"/>
                </a:srgb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A3BF309-E3A1-4DA1-9CEB-D45F116407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53577"/>
            <a:stretch>
              <a:fillRect/>
            </a:stretch>
          </p:blipFill>
          <p:spPr>
            <a:xfrm>
              <a:off x="496302" y="842794"/>
              <a:ext cx="566241" cy="210941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87ACAAF-297E-DE5A-05A9-540898445E49}"/>
              </a:ext>
            </a:extLst>
          </p:cNvPr>
          <p:cNvGrpSpPr/>
          <p:nvPr userDrawn="1"/>
        </p:nvGrpSpPr>
        <p:grpSpPr>
          <a:xfrm>
            <a:off x="304802" y="6523800"/>
            <a:ext cx="2937093" cy="229961"/>
            <a:chOff x="228600" y="4868721"/>
            <a:chExt cx="2700287" cy="211420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9F6FE07-D377-BD87-1991-4360D8654A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r="14452" b="62702"/>
            <a:stretch>
              <a:fillRect/>
            </a:stretch>
          </p:blipFill>
          <p:spPr>
            <a:xfrm>
              <a:off x="228600" y="4886786"/>
              <a:ext cx="1347951" cy="175290"/>
            </a:xfrm>
            <a:custGeom>
              <a:avLst/>
              <a:gdLst>
                <a:gd name="connsiteX0" fmla="*/ 0 w 2980158"/>
                <a:gd name="connsiteY0" fmla="*/ 0 h 387545"/>
                <a:gd name="connsiteX1" fmla="*/ 2980158 w 2980158"/>
                <a:gd name="connsiteY1" fmla="*/ 0 h 387545"/>
                <a:gd name="connsiteX2" fmla="*/ 2980158 w 2980158"/>
                <a:gd name="connsiteY2" fmla="*/ 387545 h 387545"/>
                <a:gd name="connsiteX3" fmla="*/ 0 w 2980158"/>
                <a:gd name="connsiteY3" fmla="*/ 387545 h 38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80158" h="387545">
                  <a:moveTo>
                    <a:pt x="0" y="0"/>
                  </a:moveTo>
                  <a:lnTo>
                    <a:pt x="2980158" y="0"/>
                  </a:lnTo>
                  <a:lnTo>
                    <a:pt x="2980158" y="387545"/>
                  </a:lnTo>
                  <a:lnTo>
                    <a:pt x="0" y="387545"/>
                  </a:lnTo>
                  <a:close/>
                </a:path>
              </a:pathLst>
            </a:cu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20DD6E1-CA34-1A5F-A167-73F855D7BA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rcRect t="36433" b="9165"/>
            <a:stretch>
              <a:fillRect/>
            </a:stretch>
          </p:blipFill>
          <p:spPr>
            <a:xfrm>
              <a:off x="1625955" y="4868721"/>
              <a:ext cx="1302932" cy="211420"/>
            </a:xfrm>
            <a:custGeom>
              <a:avLst/>
              <a:gdLst>
                <a:gd name="connsiteX0" fmla="*/ 3301583 w 3483589"/>
                <a:gd name="connsiteY0" fmla="*/ 0 h 565264"/>
                <a:gd name="connsiteX1" fmla="*/ 3483589 w 3483589"/>
                <a:gd name="connsiteY1" fmla="*/ 0 h 565264"/>
                <a:gd name="connsiteX2" fmla="*/ 3483589 w 3483589"/>
                <a:gd name="connsiteY2" fmla="*/ 565264 h 565264"/>
                <a:gd name="connsiteX3" fmla="*/ 0 w 3483589"/>
                <a:gd name="connsiteY3" fmla="*/ 565264 h 565264"/>
                <a:gd name="connsiteX4" fmla="*/ 0 w 3483589"/>
                <a:gd name="connsiteY4" fmla="*/ 8313 h 565264"/>
                <a:gd name="connsiteX5" fmla="*/ 3301583 w 3483589"/>
                <a:gd name="connsiteY5" fmla="*/ 8313 h 56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83589" h="565264">
                  <a:moveTo>
                    <a:pt x="3301583" y="0"/>
                  </a:moveTo>
                  <a:lnTo>
                    <a:pt x="3483589" y="0"/>
                  </a:lnTo>
                  <a:lnTo>
                    <a:pt x="3483589" y="565264"/>
                  </a:lnTo>
                  <a:lnTo>
                    <a:pt x="0" y="565264"/>
                  </a:lnTo>
                  <a:lnTo>
                    <a:pt x="0" y="8313"/>
                  </a:lnTo>
                  <a:lnTo>
                    <a:pt x="3301583" y="8313"/>
                  </a:lnTo>
                  <a:close/>
                </a:path>
              </a:pathLst>
            </a:custGeom>
          </p:spPr>
        </p:pic>
      </p:grpSp>
    </p:spTree>
    <p:extLst>
      <p:ext uri="{BB962C8B-B14F-4D97-AF65-F5344CB8AC3E}">
        <p14:creationId xmlns:p14="http://schemas.microsoft.com/office/powerpoint/2010/main" val="64458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med"/>
  <p:hf hdr="0" dt="0"/>
  <p:txStyles>
    <p:titleStyle>
      <a:lvl1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0" lang="en-US" sz="1800" b="1" i="0" u="none" strike="noStrike" cap="none" spc="0" normalizeH="0" baseline="0" smtClean="0">
          <a:ln>
            <a:noFill/>
          </a:ln>
          <a:solidFill>
            <a:srgbClr val="5D008D"/>
          </a:solidFill>
          <a:effectLst/>
          <a:uFillTx/>
          <a:latin typeface="Arial"/>
          <a:ea typeface="Arial"/>
          <a:cs typeface="Arial"/>
          <a:sym typeface="Calibri"/>
        </a:defRPr>
      </a:lvl1pPr>
      <a:lvl2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57189" marR="0" indent="-457189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kumimoji="0" lang="en-US" sz="1867" b="0" i="0" u="none" strike="noStrike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/>
        </a:defRPr>
      </a:lvl1pPr>
      <a:lvl2pPr marL="1045002" marR="0" indent="-435417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kumimoji="0" lang="en-US" sz="1600" b="0" i="0" u="none" strike="noStrike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/>
        </a:defRPr>
      </a:lvl2pPr>
      <a:lvl3pPr marL="1625559" marR="0" indent="-406390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kumimoji="0" lang="en-US" sz="1467" b="0" i="0" u="none" strike="noStrike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/>
        </a:defRPr>
      </a:lvl3pPr>
      <a:lvl4pPr marL="2316422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kumimoji="0" lang="en-US" sz="1600" b="0" i="0" u="none" strike="noStrike" cap="none" spc="0" normalizeH="0" baseline="0" smtClean="0">
          <a:ln>
            <a:noFill/>
          </a:ln>
          <a:solidFill>
            <a:schemeClr val="tx1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/>
        </a:defRPr>
      </a:lvl4pPr>
      <a:lvl5pPr marL="2926007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»"/>
        <a:tabLst/>
        <a:defRPr kumimoji="0" lang="en-US" sz="1600" b="0" i="0" u="none" strike="noStrike" cap="none" spc="0" normalizeH="0" baseline="0" smtClean="0">
          <a:ln>
            <a:noFill/>
          </a:ln>
          <a:solidFill>
            <a:srgbClr val="000000"/>
          </a:solidFill>
          <a:effectLst/>
          <a:uFillTx/>
          <a:latin typeface="Arial" panose="020B0604020202020204" pitchFamily="34" charset="0"/>
          <a:ea typeface="+mn-ea"/>
          <a:cs typeface="Arial" panose="020B0604020202020204" pitchFamily="34" charset="0"/>
          <a:sym typeface="Calibri"/>
        </a:defRPr>
      </a:lvl5pPr>
      <a:lvl6pPr marL="3535592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4145176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4754760" marR="0" indent="-487666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5364345" marR="0" indent="-487666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609585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219170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828754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2438339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3047924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3657509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4267093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4876678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144">
          <p15:clr>
            <a:srgbClr val="F26B43"/>
          </p15:clr>
        </p15:guide>
        <p15:guide id="4" pos="144">
          <p15:clr>
            <a:srgbClr val="F26B43"/>
          </p15:clr>
        </p15:guide>
        <p15:guide id="5" pos="5616">
          <p15:clr>
            <a:srgbClr val="F26B43"/>
          </p15:clr>
        </p15:guide>
        <p15:guide id="6" orient="horz" pos="29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5DC88-0CC3-B8DF-04F1-D61701835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6D3F-528D-3AE8-AF60-592626A7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829" y="3989033"/>
            <a:ext cx="5829180" cy="440768"/>
          </a:xfrm>
        </p:spPr>
        <p:txBody>
          <a:bodyPr/>
          <a:lstStyle/>
          <a:p>
            <a:r>
              <a:rPr lang="en-US" sz="1800" b="1" dirty="0"/>
              <a:t>Noora Shadow KT Playback</a:t>
            </a:r>
          </a:p>
        </p:txBody>
      </p:sp>
    </p:spTree>
    <p:extLst>
      <p:ext uri="{BB962C8B-B14F-4D97-AF65-F5344CB8AC3E}">
        <p14:creationId xmlns:p14="http://schemas.microsoft.com/office/powerpoint/2010/main" val="6566832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15B2-1913-D8C8-152E-621B023F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DD13D420-F535-3DF2-3250-051174DD8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Noora Shadow Activities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570F5-12C4-44A9-C8DC-033E47B247D1}"/>
              </a:ext>
            </a:extLst>
          </p:cNvPr>
          <p:cNvSpPr txBox="1"/>
          <p:nvPr/>
        </p:nvSpPr>
        <p:spPr>
          <a:xfrm>
            <a:off x="299871" y="685355"/>
            <a:ext cx="445198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Schedule: 12 Shadow Sessions</a:t>
            </a:r>
            <a:endParaRPr lang="en-AU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AU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lt"/>
                <a:cs typeface="+mn-lt"/>
                <a:sym typeface="Calibri"/>
              </a:rPr>
              <a:t>From 27 Ju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ly to 11 August</a:t>
            </a:r>
            <a:endParaRPr lang="en-AU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2D440-942D-5871-8575-0D7ECF04AE87}"/>
              </a:ext>
            </a:extLst>
          </p:cNvPr>
          <p:cNvSpPr txBox="1"/>
          <p:nvPr/>
        </p:nvSpPr>
        <p:spPr>
          <a:xfrm>
            <a:off x="299871" y="1379459"/>
            <a:ext cx="11578681" cy="15542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>
              <a:spcAft>
                <a:spcPts val="600"/>
              </a:spcAft>
            </a:pPr>
            <a:r>
              <a:rPr lang="en-AU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Objective</a:t>
            </a:r>
            <a:endParaRPr lang="en-AU" sz="1400" dirty="0">
              <a:ea typeface="+mn-lt"/>
              <a:cs typeface="+mn-lt"/>
            </a:endParaRP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Knowledge Transfer: Understand Noora’s integration with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, SM/O, and Neli, including device provisioning and data enrichment.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Hands-on experience: Participate in daily health checks, incident management, and problem resolution.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Reverse Shadow Preparation: Execute tasks like application operations and user provisioning under incumbent team guidance.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Knowledge Validation: Validate knowledge through tasks like device monitoring, alert management, and report rendering.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8F6F3-F3E5-40C6-C95C-312B42038398}"/>
              </a:ext>
            </a:extLst>
          </p:cNvPr>
          <p:cNvSpPr txBox="1"/>
          <p:nvPr/>
        </p:nvSpPr>
        <p:spPr>
          <a:xfrm>
            <a:off x="294941" y="3104615"/>
            <a:ext cx="11588541" cy="21390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>
              <a:spcAft>
                <a:spcPts val="600"/>
              </a:spcAft>
            </a:pPr>
            <a:r>
              <a:rPr lang="en-AU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Scope Covered</a:t>
            </a:r>
            <a:endParaRPr lang="en-AU" sz="1400" dirty="0">
              <a:ea typeface="+mn-lt"/>
              <a:cs typeface="+mn-lt"/>
            </a:endParaRP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Device provisioning: Manage device provisioning workflows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Technical support: Configure devices, monitor SNMP settings, and troubleshoot issues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Incident &amp; problem management: Identify, prioritize, and resolve incidents, and perform root cause analysis.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Application operations: Perform daily health checks, monitor system capacity, and generate SLA/KPI reports.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SLA/KPI Reporting: Generate availability and operational KPI reports using SNMP polling and system logs.</a:t>
            </a:r>
          </a:p>
          <a:p>
            <a:pPr marL="285750" indent="-285750" defTabSz="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IT Operations: Support production activities, manage incidents, and ensure governance control.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30720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718C-3B8F-4C15-6308-14C0DCCA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38A3BE03-7F66-3C16-FDF9-6C359929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>
                <a:solidFill>
                  <a:schemeClr val="tx1"/>
                </a:solidFill>
              </a:rPr>
              <a:t>About</a:t>
            </a:r>
            <a:r>
              <a:rPr lang="fi-FI" dirty="0">
                <a:solidFill>
                  <a:schemeClr val="tx1"/>
                </a:solidFill>
              </a:rPr>
              <a:t> Noora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9B54C7-1393-FDB8-E9F4-5F823066E288}"/>
              </a:ext>
            </a:extLst>
          </p:cNvPr>
          <p:cNvSpPr txBox="1"/>
          <p:nvPr/>
        </p:nvSpPr>
        <p:spPr>
          <a:xfrm>
            <a:off x="304800" y="1748870"/>
            <a:ext cx="9077803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sym typeface="Calibri"/>
              </a:rPr>
              <a:t>Noora monitors Finnish Inter-Regional, Regional, and Local-Aggregation networks, as well as SD-WAN platforms. It also collects service-related data from TV, SDN, 3G, 4G, and 5G services, including network cross points.</a:t>
            </a:r>
            <a:endParaRPr lang="en-US" sz="1400" dirty="0"/>
          </a:p>
        </p:txBody>
      </p:sp>
      <p:sp>
        <p:nvSpPr>
          <p:cNvPr id="2" name="Title 33">
            <a:extLst>
              <a:ext uri="{FF2B5EF4-FFF2-40B4-BE49-F238E27FC236}">
                <a16:creationId xmlns:a16="http://schemas.microsoft.com/office/drawing/2014/main" id="{80E27B6D-D9E5-36A1-50AA-E6A78070A1D8}"/>
              </a:ext>
            </a:extLst>
          </p:cNvPr>
          <p:cNvSpPr txBox="1">
            <a:spLocks/>
          </p:cNvSpPr>
          <p:nvPr/>
        </p:nvSpPr>
        <p:spPr>
          <a:xfrm>
            <a:off x="304801" y="1385295"/>
            <a:ext cx="11578681" cy="3635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600" b="1" i="0" u="none" strike="noStrike" cap="none" spc="0" normalizeH="0" baseline="0">
                <a:ln>
                  <a:noFill/>
                </a:ln>
                <a:solidFill>
                  <a:srgbClr val="5D008D"/>
                </a:solidFill>
                <a:effectLst/>
                <a:uFillTx/>
                <a:latin typeface="Arial"/>
                <a:ea typeface="Arial"/>
                <a:cs typeface="Arial"/>
                <a:sym typeface="Calibri"/>
              </a:defRPr>
            </a:lvl1pPr>
            <a:lvl2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i-FI" sz="1400" kern="0" dirty="0" err="1">
                <a:solidFill>
                  <a:schemeClr val="tx1"/>
                </a:solidFill>
              </a:rPr>
              <a:t>Monitoring</a:t>
            </a:r>
            <a:r>
              <a:rPr lang="fi-FI" sz="1400" kern="0" dirty="0">
                <a:solidFill>
                  <a:schemeClr val="tx1"/>
                </a:solidFill>
              </a:rPr>
              <a:t> </a:t>
            </a:r>
            <a:r>
              <a:rPr lang="fi-FI" sz="1400" kern="0" dirty="0" err="1">
                <a:solidFill>
                  <a:schemeClr val="tx1"/>
                </a:solidFill>
              </a:rPr>
              <a:t>Capabilities</a:t>
            </a:r>
            <a:endParaRPr lang="fi-FI" sz="14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CA5171-6AE1-3214-F628-600C8BFFAADE}"/>
              </a:ext>
            </a:extLst>
          </p:cNvPr>
          <p:cNvSpPr txBox="1"/>
          <p:nvPr/>
        </p:nvSpPr>
        <p:spPr>
          <a:xfrm>
            <a:off x="303264" y="589157"/>
            <a:ext cx="972126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sym typeface="Calibri"/>
              </a:rPr>
              <a:t>Noora is a highly customized system initially created for IP Backbone monitoring in Finland using </a:t>
            </a:r>
            <a:r>
              <a:rPr lang="en-US" sz="1400" dirty="0" err="1">
                <a:solidFill>
                  <a:srgbClr val="000000"/>
                </a:solidFill>
                <a:sym typeface="Calibri"/>
              </a:rPr>
              <a:t>SevOne</a:t>
            </a:r>
            <a:r>
              <a:rPr lang="en-US" sz="1400" dirty="0">
                <a:solidFill>
                  <a:srgbClr val="000000"/>
                </a:solidFill>
                <a:sym typeface="Calibri"/>
              </a:rPr>
              <a:t>. It includes many custom components and automated functions, making it a separate system that uses </a:t>
            </a:r>
            <a:r>
              <a:rPr lang="en-US" sz="1400" dirty="0" err="1">
                <a:solidFill>
                  <a:srgbClr val="000000"/>
                </a:solidFill>
                <a:sym typeface="Calibri"/>
              </a:rPr>
              <a:t>SevOne</a:t>
            </a:r>
            <a:r>
              <a:rPr lang="en-US" sz="1400" dirty="0">
                <a:solidFill>
                  <a:srgbClr val="000000"/>
                </a:solidFill>
                <a:sym typeface="Calibri"/>
              </a:rPr>
              <a:t> as its core.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0AED3-9681-E3F1-F727-2B243B4180F4}"/>
              </a:ext>
            </a:extLst>
          </p:cNvPr>
          <p:cNvSpPr txBox="1"/>
          <p:nvPr/>
        </p:nvSpPr>
        <p:spPr>
          <a:xfrm>
            <a:off x="303263" y="2938907"/>
            <a:ext cx="10881204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sym typeface="Calibri"/>
              </a:rPr>
              <a:t>SA Organization Units</a:t>
            </a:r>
            <a:r>
              <a:rPr lang="en-US" sz="1400" dirty="0">
                <a:solidFill>
                  <a:srgbClr val="000000"/>
                </a:solidFill>
                <a:sym typeface="Calibri"/>
              </a:rPr>
              <a:t>: Network surveillance and threshold-based alarm handling for Finnish IP Backbone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sym typeface="Calibri"/>
              </a:rPr>
              <a:t>Operational Network Teams</a:t>
            </a:r>
            <a:r>
              <a:rPr lang="en-US" sz="1400" dirty="0">
                <a:solidFill>
                  <a:srgbClr val="000000"/>
                </a:solidFill>
                <a:sym typeface="Calibri"/>
              </a:rPr>
              <a:t>: Graphical user interfaces for real-time troubleshooting and data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0000"/>
                </a:solidFill>
                <a:sym typeface="Calibri"/>
              </a:rPr>
              <a:t>Business and Planning Units</a:t>
            </a:r>
            <a:r>
              <a:rPr lang="en-US" sz="1400" dirty="0">
                <a:solidFill>
                  <a:srgbClr val="000000"/>
                </a:solidFill>
                <a:sym typeface="Calibri"/>
              </a:rPr>
              <a:t>: Performance data and manages reporting structures and statistical data for the Qlik system. Network planning and building costs are calculated and predicted based on Noora's data.</a:t>
            </a:r>
            <a:endParaRPr lang="en-US" sz="1400" dirty="0"/>
          </a:p>
        </p:txBody>
      </p:sp>
      <p:sp>
        <p:nvSpPr>
          <p:cNvPr id="10" name="Title 33">
            <a:extLst>
              <a:ext uri="{FF2B5EF4-FFF2-40B4-BE49-F238E27FC236}">
                <a16:creationId xmlns:a16="http://schemas.microsoft.com/office/drawing/2014/main" id="{ECF3A296-CAD6-FBAD-12B0-230D552A15C9}"/>
              </a:ext>
            </a:extLst>
          </p:cNvPr>
          <p:cNvSpPr txBox="1">
            <a:spLocks/>
          </p:cNvSpPr>
          <p:nvPr/>
        </p:nvSpPr>
        <p:spPr>
          <a:xfrm>
            <a:off x="303264" y="2575332"/>
            <a:ext cx="11578681" cy="36357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600" b="1" i="0" u="none" strike="noStrike" cap="none" spc="0" normalizeH="0" baseline="0">
                <a:ln>
                  <a:noFill/>
                </a:ln>
                <a:solidFill>
                  <a:srgbClr val="5D008D"/>
                </a:solidFill>
                <a:effectLst/>
                <a:uFillTx/>
                <a:latin typeface="Arial"/>
                <a:ea typeface="Arial"/>
                <a:cs typeface="Arial"/>
                <a:sym typeface="Calibri"/>
              </a:defRPr>
            </a:lvl1pPr>
            <a:lvl2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0" algn="l" defTabSz="609585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2670C3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i-FI" sz="1400" kern="0" dirty="0" err="1">
                <a:solidFill>
                  <a:schemeClr val="tx1"/>
                </a:solidFill>
              </a:rPr>
              <a:t>Users</a:t>
            </a:r>
            <a:r>
              <a:rPr lang="fi-FI" sz="1400" kern="0" dirty="0">
                <a:solidFill>
                  <a:schemeClr val="tx1"/>
                </a:solidFill>
              </a:rPr>
              <a:t> of Noora</a:t>
            </a:r>
            <a:endParaRPr lang="fi-FI" sz="140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74119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6F424-5B3A-8C6F-91D8-7386BF15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0AEF26E2-05DB-2BF3-B4AC-787DE500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>
                <a:solidFill>
                  <a:schemeClr val="tx1"/>
                </a:solidFill>
              </a:rPr>
              <a:t>Relevant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Integration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Endpoints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B2B6BF8-164A-F7A0-A299-E12A39D69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756333"/>
              </p:ext>
            </p:extLst>
          </p:nvPr>
        </p:nvGraphicFramePr>
        <p:xfrm>
          <a:off x="304801" y="1269999"/>
          <a:ext cx="10811931" cy="222504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603977">
                  <a:extLst>
                    <a:ext uri="{9D8B030D-6E8A-4147-A177-3AD203B41FA5}">
                      <a16:colId xmlns:a16="http://schemas.microsoft.com/office/drawing/2014/main" val="2289108582"/>
                    </a:ext>
                  </a:extLst>
                </a:gridCol>
                <a:gridCol w="3603977">
                  <a:extLst>
                    <a:ext uri="{9D8B030D-6E8A-4147-A177-3AD203B41FA5}">
                      <a16:colId xmlns:a16="http://schemas.microsoft.com/office/drawing/2014/main" val="1011350042"/>
                    </a:ext>
                  </a:extLst>
                </a:gridCol>
                <a:gridCol w="3603977">
                  <a:extLst>
                    <a:ext uri="{9D8B030D-6E8A-4147-A177-3AD203B41FA5}">
                      <a16:colId xmlns:a16="http://schemas.microsoft.com/office/drawing/2014/main" val="19985953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>
                          <a:solidFill>
                            <a:schemeClr val="tx1"/>
                          </a:solidFill>
                        </a:rPr>
                        <a:t>Endpoint</a:t>
                      </a:r>
                      <a:r>
                        <a:rPr lang="fi-FI" sz="1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>
                          <a:solidFill>
                            <a:schemeClr val="tx1"/>
                          </a:solidFill>
                        </a:rPr>
                        <a:t>Primary</a:t>
                      </a:r>
                      <a:r>
                        <a:rPr lang="fi-FI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i-FI" sz="1400" dirty="0" err="1">
                          <a:solidFill>
                            <a:schemeClr val="tx1"/>
                          </a:solidFill>
                        </a:rPr>
                        <a:t>Role</a:t>
                      </a:r>
                      <a:r>
                        <a:rPr lang="fi-FI" sz="14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>
                          <a:solidFill>
                            <a:schemeClr val="tx1"/>
                          </a:solidFill>
                        </a:rPr>
                        <a:t>Key Focus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160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SevOne </a:t>
                      </a:r>
                      <a:r>
                        <a:rPr lang="fi-FI" sz="1400" dirty="0" err="1"/>
                        <a:t>Dashboards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/>
                        <a:t>Core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monitoring</a:t>
                      </a:r>
                      <a:r>
                        <a:rPr lang="fi-FI" sz="1400" dirty="0"/>
                        <a:t> and </a:t>
                      </a:r>
                      <a:r>
                        <a:rPr lang="fi-FI" sz="1400" dirty="0" err="1"/>
                        <a:t>reporting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Technical </a:t>
                      </a:r>
                      <a:r>
                        <a:rPr lang="fi-FI" sz="1400" dirty="0" err="1"/>
                        <a:t>monitoring</a:t>
                      </a:r>
                      <a:r>
                        <a:rPr lang="fi-FI" sz="1400" dirty="0"/>
                        <a:t>, data </a:t>
                      </a:r>
                      <a:r>
                        <a:rPr lang="fi-FI" sz="1400" dirty="0" err="1"/>
                        <a:t>collection</a:t>
                      </a:r>
                      <a:endParaRPr lang="fi-FI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172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Noora Health </a:t>
                      </a:r>
                      <a:r>
                        <a:rPr lang="fi-FI" sz="1400" dirty="0" err="1"/>
                        <a:t>Portal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/>
                        <a:t>Operational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health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monitoring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Real-</a:t>
                      </a:r>
                      <a:r>
                        <a:rPr lang="fi-FI" sz="1400" dirty="0" err="1"/>
                        <a:t>time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monitoring</a:t>
                      </a:r>
                      <a:r>
                        <a:rPr lang="fi-FI" sz="1400" dirty="0"/>
                        <a:t>, </a:t>
                      </a:r>
                      <a:r>
                        <a:rPr lang="fi-FI" sz="1400" dirty="0" err="1"/>
                        <a:t>health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checks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00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Rasmus </a:t>
                      </a:r>
                      <a:r>
                        <a:rPr lang="fi-FI" sz="1400" dirty="0" err="1"/>
                        <a:t>Portal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Device management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/>
                        <a:t>Alert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handling</a:t>
                      </a:r>
                      <a:r>
                        <a:rPr lang="fi-FI" sz="1400" dirty="0"/>
                        <a:t>, </a:t>
                      </a:r>
                      <a:r>
                        <a:rPr lang="fi-FI" sz="1400" dirty="0" err="1"/>
                        <a:t>device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configuration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719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/>
                        <a:t>Qlik</a:t>
                      </a:r>
                      <a:r>
                        <a:rPr lang="fi-FI" sz="1400" dirty="0"/>
                        <a:t>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Business </a:t>
                      </a:r>
                      <a:r>
                        <a:rPr lang="fi-FI" sz="1400" dirty="0" err="1"/>
                        <a:t>intelligence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Long-</a:t>
                      </a:r>
                      <a:r>
                        <a:rPr lang="fi-FI" sz="1400" dirty="0" err="1"/>
                        <a:t>term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analysis</a:t>
                      </a:r>
                      <a:r>
                        <a:rPr lang="fi-FI" sz="1400" dirty="0"/>
                        <a:t>, </a:t>
                      </a:r>
                      <a:r>
                        <a:rPr lang="fi-FI" sz="1400" dirty="0" err="1"/>
                        <a:t>strategic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planning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970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fi-FI" sz="1400" dirty="0"/>
                        <a:t>Nelli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/>
                        <a:t>Alarm</a:t>
                      </a:r>
                      <a:r>
                        <a:rPr lang="fi-FI" sz="1400" dirty="0"/>
                        <a:t> management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1400" dirty="0" err="1"/>
                        <a:t>Incident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handling</a:t>
                      </a:r>
                      <a:r>
                        <a:rPr lang="fi-FI" sz="1400" dirty="0"/>
                        <a:t>, </a:t>
                      </a:r>
                      <a:r>
                        <a:rPr lang="fi-FI" sz="1400" dirty="0" err="1"/>
                        <a:t>real-time</a:t>
                      </a:r>
                      <a:r>
                        <a:rPr lang="fi-FI" sz="1400" dirty="0"/>
                        <a:t> </a:t>
                      </a:r>
                      <a:r>
                        <a:rPr lang="fi-FI" sz="1400" dirty="0" err="1"/>
                        <a:t>alerts</a:t>
                      </a:r>
                      <a:r>
                        <a:rPr lang="fi-FI" sz="1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889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7451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504E7-EAD0-7D50-29F9-2D1CBE7B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08D836F7-FCE3-C448-EF2D-4FF0327E9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>
                <a:solidFill>
                  <a:schemeClr val="tx1"/>
                </a:solidFill>
              </a:rPr>
              <a:t>Noora System Architecture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DDC3B0-4E73-39BF-59B5-D19AD46BAA57}"/>
              </a:ext>
            </a:extLst>
          </p:cNvPr>
          <p:cNvSpPr txBox="1"/>
          <p:nvPr/>
        </p:nvSpPr>
        <p:spPr>
          <a:xfrm>
            <a:off x="303265" y="745905"/>
            <a:ext cx="4502415" cy="16158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/>
              <a:t>Noora is integrated with multiple systems: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Primarily receiving input from </a:t>
            </a:r>
            <a:r>
              <a:rPr lang="en-US" sz="1400" dirty="0" err="1"/>
              <a:t>SurfManager</a:t>
            </a:r>
            <a:r>
              <a:rPr lang="en-US" sz="1400" dirty="0"/>
              <a:t> &amp; Operator (SM/O), a network orchestrator that automates device provisioning.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Additional information from other BSS &amp; OSS systems, such as Satellite Systems and </a:t>
            </a:r>
            <a:r>
              <a:rPr lang="en-US" sz="1400" dirty="0" err="1"/>
              <a:t>Tomaatti</a:t>
            </a:r>
            <a:r>
              <a:rPr lang="en-US" sz="1400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86CE5-0679-FC79-2ECE-CCC949C6A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0" t="17926" r="1334"/>
          <a:stretch>
            <a:fillRect/>
          </a:stretch>
        </p:blipFill>
        <p:spPr>
          <a:xfrm>
            <a:off x="4876800" y="99490"/>
            <a:ext cx="7294880" cy="557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42070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69E05-B48D-DBC9-DF7F-B3272C0B9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AAB40EE3-C60B-F8D5-8FC1-889BAA4CE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prstClr val="black"/>
                </a:solidFill>
              </a:rPr>
              <a:t>SevOne</a:t>
            </a:r>
            <a:r>
              <a:rPr lang="en-US" dirty="0">
                <a:solidFill>
                  <a:prstClr val="black"/>
                </a:solidFill>
              </a:rPr>
              <a:t>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5439AF-9F93-030E-F13B-9031A535697E}"/>
              </a:ext>
            </a:extLst>
          </p:cNvPr>
          <p:cNvSpPr txBox="1"/>
          <p:nvPr/>
        </p:nvSpPr>
        <p:spPr>
          <a:xfrm>
            <a:off x="312471" y="880088"/>
            <a:ext cx="8913825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 Topics for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Dashboard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VeHa LDAP and Authentication Processes 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Real-time monitoring and troubleshooting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Historical data and capacity trends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Performance metrics collection and analysis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Customizable dashboards for network surveillance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Integration with SM/O and Neli systems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SNMP polling for data collection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Data processing and storage workflows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Data visualization through dashboards and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and object management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Alert management and threshold-based notifications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Key Learnings for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Dashboard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Understanding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SevOne's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role in Noora's monitoring architecture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Utilizing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SevOne's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dashboards for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83829409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D26E2-636C-D58E-51BE-119A6ACA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C7AF81A2-BA1E-C1AB-68E2-3DC23261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Noora Health Portal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F9CC2-E32F-2B08-6E48-66C2B41B0C4F}"/>
              </a:ext>
            </a:extLst>
          </p:cNvPr>
          <p:cNvSpPr txBox="1"/>
          <p:nvPr/>
        </p:nvSpPr>
        <p:spPr>
          <a:xfrm>
            <a:off x="312471" y="880088"/>
            <a:ext cx="8913825" cy="375487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Observed Topics for Noora Health Portal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VeHa LDAP and Authentication Processes 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Status and Reachability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Discovery Failures and Issue Identification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External Data Tab for CSV File Management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Dashboard for Device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Provisioning Control for Failing Devices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Health Portal Reports and Location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Provisioning Issues and Troubleshooting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Admin and End-User Procedures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Network Engineer Workflows</a:t>
            </a: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</a:t>
            </a: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Learnings for Noora Health Portal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Understanding Noora Health Portal's role in operational health and real-time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Utilizing Noora Health Portal's dashboards for troubleshooting and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4367377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4882-F990-6145-0916-CF08EE389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C823BDF0-D265-0CA7-09CF-C576BB48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Noora Health Portal -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88D65-90AF-D595-29F2-954C4BA963A6}"/>
              </a:ext>
            </a:extLst>
          </p:cNvPr>
          <p:cNvSpPr txBox="1"/>
          <p:nvPr/>
        </p:nvSpPr>
        <p:spPr>
          <a:xfrm>
            <a:off x="304802" y="682125"/>
            <a:ext cx="6331667" cy="5478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Home dashboard 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Surfaces devices needing manual intervention due to automation failures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Categories: SNMP failures, missing OS support, missing control grouping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Provisioning Control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Live view of auto-provisioning pipeline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Tracks in-flight, completed, and failed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provisionings</a:t>
            </a:r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Provides re-provisioning options for errors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System Tools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Data Query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Raw Data Query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OID Validator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Deviations Dashboard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System Anomalies Dashboard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OG (Object Group) Tree Viewer</a:t>
            </a:r>
          </a:p>
          <a:p>
            <a:pPr defTabSz="457200"/>
            <a:endParaRPr lang="en-US" sz="1400" b="1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System Control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System Statistics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Statistics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Control Groups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Constants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Rules Generic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Rules Advanced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Rules Enable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851EC-D7C5-17EF-6397-91FFE96883E0}"/>
              </a:ext>
            </a:extLst>
          </p:cNvPr>
          <p:cNvSpPr txBox="1"/>
          <p:nvPr/>
        </p:nvSpPr>
        <p:spPr>
          <a:xfrm>
            <a:off x="6905136" y="595145"/>
            <a:ext cx="4435309" cy="54784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Change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Compares changes in devices, objects, and groups between dates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Provides audit trail for modifications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System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Pre-built reports for cross-checking device categorization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Validates install-base and hardware inventory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Identifies duplicate devices and stale exporter groups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External Data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External Data Overview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External Data Validation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Tracks health of external data feeds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Validates file existence, readability, and parsing status</a:t>
            </a:r>
          </a:p>
          <a:p>
            <a:pPr defTabSz="457200"/>
            <a:endParaRPr lang="en-US" sz="1400" b="1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Device Dashboard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Single-device real-time and historical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Displays device health, performance metrics, and active alerts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Provides links to other systems (Splunk, Sense, Rasmus, Horizon, Health)</a:t>
            </a:r>
          </a:p>
        </p:txBody>
      </p:sp>
    </p:spTree>
    <p:extLst>
      <p:ext uri="{BB962C8B-B14F-4D97-AF65-F5344CB8AC3E}">
        <p14:creationId xmlns:p14="http://schemas.microsoft.com/office/powerpoint/2010/main" val="226303056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57E6-6B6A-6EC8-D52D-C7422D773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8FB94DF1-9FBD-1D21-D7AB-B86B4743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Noora Health Portal – Features (continue)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7B9FD6-4CD9-03A4-B052-D308B4870AE3}"/>
              </a:ext>
            </a:extLst>
          </p:cNvPr>
          <p:cNvSpPr txBox="1"/>
          <p:nvPr/>
        </p:nvSpPr>
        <p:spPr>
          <a:xfrm>
            <a:off x="304803" y="682125"/>
            <a:ext cx="9159708" cy="28930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Summary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Noora Health Portal is the admin/operations console for Noora's provisioning-to-monitoring pipeline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Triage newly-discovered devices that automation couldn't fully onboard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Monitor live and historical state of the auto-provisioning pipeline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Query raw device/object/group/alert data on demand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Audit data quality at device and group levels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Explore object group hierarchy directly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Inspect system-wide capacity and statistics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Trace device pinning and provisioning rules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Audit changes over time for devices, objects, and groups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Run pre-built cross-check reports against external inventory systems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Verify health of external data feeds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Drill into single device's live/historical monitoring data</a:t>
            </a:r>
          </a:p>
        </p:txBody>
      </p:sp>
    </p:spTree>
    <p:extLst>
      <p:ext uri="{BB962C8B-B14F-4D97-AF65-F5344CB8AC3E}">
        <p14:creationId xmlns:p14="http://schemas.microsoft.com/office/powerpoint/2010/main" val="37026197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CD55-2126-C78B-DB88-50FE5695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14840116-9F91-0E2A-F057-5D01E086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Rasmus Admin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495742-67DB-78E5-B335-E9837E050EF9}"/>
              </a:ext>
            </a:extLst>
          </p:cNvPr>
          <p:cNvSpPr txBox="1"/>
          <p:nvPr/>
        </p:nvSpPr>
        <p:spPr>
          <a:xfrm>
            <a:off x="312471" y="880088"/>
            <a:ext cx="8913825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Observed Topics for Rasmus Portal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VeHa LDAP and Authentication Processes  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Management and Configuration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Real-Time Device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Alert Management and Escalation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Troubleshooting and Performance Analysis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Device Search and Summary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SNMP Walk Function for Device Testing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Error Message Analysis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Server Access and Troubleshooting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Disk Space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Server OS Verification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Key Learnings for Rasmus Portal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Understanding Rasmus Portal's role in device management and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Utilizing Rasmus Portal for troubleshooting and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2279392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53BCF-6F61-9B2F-1E26-AC7768418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348DAC92-E016-07C0-FCA6-04D14219A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Noora Health Portal - Features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D7582-B35F-9E1B-B1A3-3FF2230DA257}"/>
              </a:ext>
            </a:extLst>
          </p:cNvPr>
          <p:cNvSpPr txBox="1"/>
          <p:nvPr/>
        </p:nvSpPr>
        <p:spPr>
          <a:xfrm>
            <a:off x="304802" y="682125"/>
            <a:ext cx="7114093" cy="41857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Run Device Report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Pulls performance data for a single device or specific interface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Search by device name or interface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Quick-access shortcuts for personal and org-wide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Run Group Report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Pulls aggregated performance data across a group of devices/objects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Search by report category and object group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Enable filters for group members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Quick-access shortcuts for personal and org-wide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Report configuration fields for name, description, time frame, and display options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Save and reset options for report configurations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Run Alert Report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Pulls filtered view of active/historical alerts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Select alert view and severity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Report configuration fields for name, description, time frame, and alert state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Results table with start, latest, severity, category, device name, object name, object description, alert name, alert description, and clear message</a:t>
            </a:r>
          </a:p>
        </p:txBody>
      </p:sp>
    </p:spTree>
    <p:extLst>
      <p:ext uri="{BB962C8B-B14F-4D97-AF65-F5344CB8AC3E}">
        <p14:creationId xmlns:p14="http://schemas.microsoft.com/office/powerpoint/2010/main" val="40791786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FF27-7BBF-098E-369C-33DA4201C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8FD10B91-2DD7-57E3-B746-8A1DD6E7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Noora Health Portal – Features (Continue)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67D6E-7D10-CAFA-33C5-80F8CB41E054}"/>
              </a:ext>
            </a:extLst>
          </p:cNvPr>
          <p:cNvSpPr txBox="1"/>
          <p:nvPr/>
        </p:nvSpPr>
        <p:spPr>
          <a:xfrm>
            <a:off x="304802" y="682125"/>
            <a:ext cx="7114093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My Group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Lists group reports with saved settings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Personal library of pre-configured, reusable group reports</a:t>
            </a:r>
          </a:p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Support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Dedicated support tab for assistance and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C13796-E663-9BF7-0268-A74E9C409974}"/>
              </a:ext>
            </a:extLst>
          </p:cNvPr>
          <p:cNvSpPr txBox="1"/>
          <p:nvPr/>
        </p:nvSpPr>
        <p:spPr>
          <a:xfrm>
            <a:off x="304802" y="4383782"/>
            <a:ext cx="7114093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endParaRPr lang="en-US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r>
              <a:rPr lang="en-US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</a:t>
            </a:r>
            <a:r>
              <a:rPr lang="en-US" sz="1400" b="1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takeways</a:t>
            </a:r>
            <a:endParaRPr lang="en-US" sz="1400" b="1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Rasmus is the operator-facing performance and alert reporting front-end for Noora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Single-device/single-interface performance lookups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Group-level performance reporting with fine-grained configurability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Alert/alarm reporting filterable by severity and alert state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Personal report library for recurring reports</a:t>
            </a:r>
          </a:p>
        </p:txBody>
      </p:sp>
    </p:spTree>
    <p:extLst>
      <p:ext uri="{BB962C8B-B14F-4D97-AF65-F5344CB8AC3E}">
        <p14:creationId xmlns:p14="http://schemas.microsoft.com/office/powerpoint/2010/main" val="128614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3AF4-0032-CB2B-8B3A-5617B933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5C5E9466-74C4-1AD1-0BAE-01E05EB9B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Application Operations Shadowing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9B94A-B1AA-24A2-1912-5EBE4C2F86E0}"/>
              </a:ext>
            </a:extLst>
          </p:cNvPr>
          <p:cNvSpPr txBox="1"/>
          <p:nvPr/>
        </p:nvSpPr>
        <p:spPr>
          <a:xfrm>
            <a:off x="302575" y="701958"/>
            <a:ext cx="8923721" cy="35394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 Daily Activities</a:t>
            </a: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endParaRPr lang="en-AU" sz="140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>
                <a:latin typeface="Arial"/>
              </a:rPr>
              <a:t>Ensure the availability of </a:t>
            </a:r>
            <a:r>
              <a:rPr lang="en-US" sz="1400" dirty="0" err="1">
                <a:latin typeface="Arial"/>
              </a:rPr>
              <a:t>SevOne</a:t>
            </a:r>
            <a:r>
              <a:rPr lang="en-US" sz="1400" dirty="0">
                <a:latin typeface="Arial"/>
              </a:rPr>
              <a:t> DDC to devices and end users.</a:t>
            </a:r>
            <a:endParaRPr lang="en-US" dirty="0"/>
          </a:p>
          <a:p>
            <a:pPr marL="285750" indent="-285750" defTabSz="457200">
              <a:buFont typeface="Arial,Sans-Serif" panose="020B0604020202020204" pitchFamily="34" charset="0"/>
              <a:buChar char="•"/>
            </a:pPr>
            <a:r>
              <a:rPr lang="en-US" sz="1400" dirty="0">
                <a:cs typeface="Arial"/>
              </a:rPr>
              <a:t>Provisioning the user(adding/removing) using Tiga and </a:t>
            </a:r>
            <a:r>
              <a:rPr lang="en-US" sz="1400" dirty="0" err="1">
                <a:cs typeface="Arial"/>
              </a:rPr>
              <a:t>SevOne</a:t>
            </a:r>
            <a:r>
              <a:rPr lang="en-US" sz="1400" dirty="0">
                <a:cs typeface="Arial"/>
              </a:rPr>
              <a:t> user manager.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 err="1"/>
              <a:t>SevOne</a:t>
            </a:r>
            <a:r>
              <a:rPr lang="en-US" sz="1400" dirty="0"/>
              <a:t> login using TCAD account.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/>
              <a:t>Check the amount of devices and license status for the systems and per controller.</a:t>
            </a:r>
          </a:p>
          <a:p>
            <a:pPr marL="285750" indent="-285750" defTabSz="457200">
              <a:buFont typeface="Arial,Sans-Serif" panose="020B0604020202020204" pitchFamily="34" charset="0"/>
              <a:buChar char="•"/>
            </a:pPr>
            <a:r>
              <a:rPr lang="en-US" sz="1400" dirty="0">
                <a:cs typeface="Arial"/>
              </a:rPr>
              <a:t>Check if there are new devices created in </a:t>
            </a:r>
            <a:r>
              <a:rPr lang="en-US" sz="1400" dirty="0" err="1">
                <a:cs typeface="Arial"/>
              </a:rPr>
              <a:t>SevOne</a:t>
            </a:r>
            <a:r>
              <a:rPr lang="en-US" sz="1400" dirty="0">
                <a:cs typeface="Arial"/>
              </a:rPr>
              <a:t> DDC.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Monitor the cluster status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/>
              <a:t>Check the status of the alerts coming to </a:t>
            </a:r>
            <a:r>
              <a:rPr lang="en-US" sz="1400" dirty="0" err="1"/>
              <a:t>SevOne</a:t>
            </a:r>
            <a:r>
              <a:rPr lang="en-US" sz="1400" dirty="0"/>
              <a:t> as per the current </a:t>
            </a:r>
            <a:r>
              <a:rPr lang="en-US" sz="1400" dirty="0" err="1"/>
              <a:t>timestampd</a:t>
            </a:r>
            <a:r>
              <a:rPr lang="en-US" sz="1400" dirty="0"/>
              <a:t>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/>
              <a:t>Check the rendering graph from the report manager for </a:t>
            </a:r>
            <a:r>
              <a:rPr lang="en-US" sz="1400" dirty="0" err="1"/>
              <a:t>SevOne</a:t>
            </a:r>
            <a:r>
              <a:rPr lang="en-US" sz="1400" dirty="0"/>
              <a:t> system.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/>
              <a:t>CPU, memory, disk storage </a:t>
            </a:r>
            <a:r>
              <a:rPr lang="en-US" sz="1400" dirty="0" err="1"/>
              <a:t>capacity,disk</a:t>
            </a:r>
            <a:r>
              <a:rPr lang="en-US" sz="1400" dirty="0"/>
              <a:t> I/O  from the cluster nodes.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/>
              <a:t>Dashboard rendering and alert processing monitoring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System log analysis for errors and warnings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Structured troubleshooting methodology with RCA.</a:t>
            </a:r>
          </a:p>
          <a:p>
            <a:pPr defTabSz="457200"/>
            <a:endParaRPr lang="en-AU" sz="1400"/>
          </a:p>
          <a:p>
            <a:pPr defTabSz="457200"/>
            <a:endParaRPr lang="en-AU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C70F-9150-E3A1-6C76-B0F736ECFC04}"/>
              </a:ext>
            </a:extLst>
          </p:cNvPr>
          <p:cNvSpPr txBox="1"/>
          <p:nvPr/>
        </p:nvSpPr>
        <p:spPr>
          <a:xfrm>
            <a:off x="317221" y="4256281"/>
            <a:ext cx="8913825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Understanding Gained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Daily operational checklist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Common operational issues</a:t>
            </a:r>
            <a:endParaRPr lang="en-US" sz="1400"/>
          </a:p>
          <a:p>
            <a:pPr defTabSz="457200"/>
            <a:endParaRPr lang="en-AU" sz="1400"/>
          </a:p>
          <a:p>
            <a:pPr defTabSz="457200"/>
            <a:endParaRPr lang="en-AU" sz="1400"/>
          </a:p>
        </p:txBody>
      </p:sp>
    </p:spTree>
    <p:extLst>
      <p:ext uri="{BB962C8B-B14F-4D97-AF65-F5344CB8AC3E}">
        <p14:creationId xmlns:p14="http://schemas.microsoft.com/office/powerpoint/2010/main" val="425540027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F791-6550-B56D-D496-59C2DB52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BC62E7D9-A4E4-2B90-2FD8-7080090B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Application Code Walkthrough of </a:t>
            </a:r>
            <a:r>
              <a:rPr lang="en-US" dirty="0" err="1">
                <a:solidFill>
                  <a:prstClr val="black"/>
                </a:solidFill>
              </a:rPr>
              <a:t>SevOne</a:t>
            </a:r>
            <a:r>
              <a:rPr lang="en-US" dirty="0">
                <a:solidFill>
                  <a:prstClr val="black"/>
                </a:solidFill>
              </a:rPr>
              <a:t> DDC appliance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B123D-8CDC-3A88-A4B8-EFB094C4DB3A}"/>
              </a:ext>
            </a:extLst>
          </p:cNvPr>
          <p:cNvSpPr txBox="1"/>
          <p:nvPr/>
        </p:nvSpPr>
        <p:spPr>
          <a:xfrm>
            <a:off x="312471" y="880088"/>
            <a:ext cx="8913825" cy="1169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Application modules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Configurations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support-related areas</a:t>
            </a:r>
            <a:endParaRPr 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537F0-B70C-8A80-8579-346BD4F41986}"/>
              </a:ext>
            </a:extLst>
          </p:cNvPr>
          <p:cNvSpPr txBox="1"/>
          <p:nvPr/>
        </p:nvSpPr>
        <p:spPr>
          <a:xfrm>
            <a:off x="221031" y="2377407"/>
            <a:ext cx="8913825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Learning outcome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Application flow understanding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Troubleshooting touchpoints</a:t>
            </a:r>
            <a:endParaRPr lang="en-US" sz="1400"/>
          </a:p>
          <a:p>
            <a:pPr defTabSz="457200"/>
            <a:endParaRPr lang="en-AU" sz="1400"/>
          </a:p>
          <a:p>
            <a:pPr defTabSz="457200"/>
            <a:endParaRPr lang="en-AU" sz="1400"/>
          </a:p>
        </p:txBody>
      </p:sp>
    </p:spTree>
    <p:extLst>
      <p:ext uri="{BB962C8B-B14F-4D97-AF65-F5344CB8AC3E}">
        <p14:creationId xmlns:p14="http://schemas.microsoft.com/office/powerpoint/2010/main" val="2675837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3292-0888-71C8-68A5-98048D0E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6079656B-1E0B-8852-3BD8-87531F0F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Data Management shadowing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1FABA3-898C-1521-0A7F-6EEBAF2FE2D7}"/>
              </a:ext>
            </a:extLst>
          </p:cNvPr>
          <p:cNvSpPr txBox="1"/>
          <p:nvPr/>
        </p:nvSpPr>
        <p:spPr>
          <a:xfrm>
            <a:off x="312471" y="880088"/>
            <a:ext cx="8913825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Data flow process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Database interactions</a:t>
            </a:r>
          </a:p>
        </p:txBody>
      </p:sp>
    </p:spTree>
    <p:extLst>
      <p:ext uri="{BB962C8B-B14F-4D97-AF65-F5344CB8AC3E}">
        <p14:creationId xmlns:p14="http://schemas.microsoft.com/office/powerpoint/2010/main" val="298911716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EFE6-D12F-E883-07DC-6171B26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6CC2B4D7-062E-365E-36BB-9702D6DC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Incident Management Shadowing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A001A-DACF-7767-F184-0C93484D016C}"/>
              </a:ext>
            </a:extLst>
          </p:cNvPr>
          <p:cNvSpPr txBox="1"/>
          <p:nvPr/>
        </p:nvSpPr>
        <p:spPr>
          <a:xfrm>
            <a:off x="312471" y="880088"/>
            <a:ext cx="8913825" cy="26776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 Activities</a:t>
            </a:r>
            <a:endParaRPr lang="en-AU" sz="1400">
              <a:ea typeface="+mn-lt"/>
              <a:cs typeface="+mn-lt"/>
            </a:endParaRPr>
          </a:p>
          <a:p>
            <a:pPr defTabSz="457200"/>
            <a:endParaRPr lang="en-AU" sz="1400" b="1" dirty="0">
              <a:cs typeface="Arial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Multi-channel communication (Tickets, Teams, Email)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Severity assessment.</a:t>
            </a:r>
            <a:endParaRPr lang="en-US" sz="1400" dirty="0"/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/>
              <a:t>Contact relevant teams for addressing/</a:t>
            </a:r>
            <a:r>
              <a:rPr lang="en-US" sz="1400" dirty="0" err="1"/>
              <a:t>analysing</a:t>
            </a:r>
            <a:r>
              <a:rPr lang="en-US" sz="1400" dirty="0"/>
              <a:t> the issues.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Stakeholder communication and documentation requirements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Contact Resource Manager as primary escalation point and create ticket as per the severity of the issue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 dirty="0" err="1"/>
              <a:t>TeliaNow</a:t>
            </a:r>
            <a:r>
              <a:rPr lang="en-US" sz="1400" dirty="0"/>
              <a:t> ticket-based incident and problem management workflow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Contact IT Ops for server/database issues and create ticket as per the severity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Step-by-step investigation and resolution process</a:t>
            </a:r>
          </a:p>
          <a:p>
            <a:pPr defTabSz="457200"/>
            <a:endParaRPr lang="en-AU" sz="1400"/>
          </a:p>
          <a:p>
            <a:pPr defTabSz="457200"/>
            <a:endParaRPr lang="en-AU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C9985-3563-CA42-52F9-0B3E54204C4A}"/>
              </a:ext>
            </a:extLst>
          </p:cNvPr>
          <p:cNvSpPr txBox="1"/>
          <p:nvPr/>
        </p:nvSpPr>
        <p:spPr>
          <a:xfrm>
            <a:off x="310333" y="3417739"/>
            <a:ext cx="8913825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Learnings</a:t>
            </a:r>
            <a:br>
              <a:rPr lang="en-AU" sz="1400" dirty="0">
                <a:ea typeface="+mn-lt"/>
                <a:cs typeface="+mn-lt"/>
              </a:rPr>
            </a:br>
            <a:endParaRPr lang="en-AU" sz="1400" dirty="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Incident prioritization criteria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Stakeholder communication process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Resolution workflow</a:t>
            </a:r>
            <a:endParaRPr lang="en-US" sz="1400" dirty="0"/>
          </a:p>
          <a:p>
            <a:pPr defTabSz="457200"/>
            <a:endParaRPr lang="en-AU" sz="1400" dirty="0"/>
          </a:p>
          <a:p>
            <a:pPr defTabSz="457200"/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412815219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AE1D-0906-18F6-7AE3-E5BA8C5F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70296580-224E-1E58-AEB9-64597B1D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Problem Management &amp; RCA Shadowing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D7E74-4A37-F3D9-56B4-ACE52953AD0D}"/>
              </a:ext>
            </a:extLst>
          </p:cNvPr>
          <p:cNvSpPr txBox="1"/>
          <p:nvPr/>
        </p:nvSpPr>
        <p:spPr>
          <a:xfrm>
            <a:off x="312471" y="880088"/>
            <a:ext cx="8913825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 Activities</a:t>
            </a:r>
            <a:br>
              <a:rPr lang="en-AU" sz="1400" dirty="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Problem Ticket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RCA </a:t>
            </a: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Preparation</a:t>
            </a:r>
            <a:endParaRPr lang="en-AU" sz="1400">
              <a:cs typeface="Arial"/>
            </a:endParaRPr>
          </a:p>
          <a:p>
            <a:pPr marL="285750" indent="-285750" defTabSz="457200">
              <a:buFont typeface="Arial,Sans-Serif" panose="020B0604020202020204" pitchFamily="34" charset="0"/>
              <a:buChar char="•"/>
            </a:pPr>
            <a:r>
              <a:rPr lang="en-US" sz="1400">
                <a:cs typeface="Arial"/>
              </a:rPr>
              <a:t>12 months</a:t>
            </a:r>
            <a:r>
              <a:rPr lang="en-US" sz="1400" dirty="0">
                <a:cs typeface="Arial"/>
              </a:rPr>
              <a:t> summary of known issues</a:t>
            </a:r>
          </a:p>
          <a:p>
            <a:pPr defTabSz="457200"/>
            <a:r>
              <a:rPr lang="en-US" sz="1400">
                <a:cs typeface="Arial"/>
              </a:rPr>
              <a:t>         - Required indicator missing for specific device. (Fixed by manually creating rule to enable the indicator for selected device)</a:t>
            </a:r>
          </a:p>
          <a:p>
            <a:pPr defTabSz="457200"/>
            <a:r>
              <a:rPr lang="en-US" sz="1400">
                <a:cs typeface="Arial"/>
              </a:rPr>
              <a:t>         - DNS resolving issue for specific device: Ticket number RITMSE0024780</a:t>
            </a:r>
            <a:endParaRPr lang="en-US"/>
          </a:p>
          <a:p>
            <a:pPr defTabSz="457200"/>
            <a:r>
              <a:rPr lang="en-US" sz="1400">
                <a:cs typeface="Arial"/>
              </a:rPr>
              <a:t>         - Incident happened due to electrical power cut in Sweden</a:t>
            </a:r>
            <a:r>
              <a:rPr lang="en-US" sz="1400" dirty="0">
                <a:cs typeface="Arial"/>
              </a:rPr>
              <a:t> for a while.</a:t>
            </a:r>
          </a:p>
          <a:p>
            <a:pPr defTabSz="457200"/>
            <a:endParaRPr lang="en-AU" sz="140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A387C0-DAE0-80FF-E7C0-A2BDCD80E047}"/>
              </a:ext>
            </a:extLst>
          </p:cNvPr>
          <p:cNvSpPr txBox="1"/>
          <p:nvPr/>
        </p:nvSpPr>
        <p:spPr>
          <a:xfrm>
            <a:off x="332145" y="3277795"/>
            <a:ext cx="8913825" cy="1815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Learnings</a:t>
            </a:r>
            <a:br>
              <a:rPr lang="en-AU" sz="1400" dirty="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Root cause identification approach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Prevention action planning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Documentation standards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endParaRPr lang="en-AU" sz="140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defTabSz="457200"/>
            <a:endParaRPr lang="en-AU" sz="1400"/>
          </a:p>
          <a:p>
            <a:pPr defTabSz="457200"/>
            <a:endParaRPr lang="en-AU" sz="1400"/>
          </a:p>
        </p:txBody>
      </p:sp>
    </p:spTree>
    <p:extLst>
      <p:ext uri="{BB962C8B-B14F-4D97-AF65-F5344CB8AC3E}">
        <p14:creationId xmlns:p14="http://schemas.microsoft.com/office/powerpoint/2010/main" val="29482378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C815-4B56-D098-3F74-A1C3B873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7ADBE2BB-DE3B-7DC6-CF18-E32DE753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SLA, KPI &amp; Reporting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5451B-6E9E-2820-F4AE-31EBFB105E36}"/>
              </a:ext>
            </a:extLst>
          </p:cNvPr>
          <p:cNvSpPr txBox="1"/>
          <p:nvPr/>
        </p:nvSpPr>
        <p:spPr>
          <a:xfrm>
            <a:off x="312471" y="880088"/>
            <a:ext cx="8913825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 Reports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Availability Reports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Operational KPIs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6A739-3516-F541-D62E-D4D284652D4E}"/>
              </a:ext>
            </a:extLst>
          </p:cNvPr>
          <p:cNvSpPr txBox="1"/>
          <p:nvPr/>
        </p:nvSpPr>
        <p:spPr>
          <a:xfrm>
            <a:off x="304801" y="2257784"/>
            <a:ext cx="8913825" cy="1169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Learnings</a:t>
            </a:r>
            <a:br>
              <a:rPr lang="en-AU" sz="1400" dirty="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Reporting in 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  <a:sym typeface="Calibri"/>
              </a:rPr>
              <a:t> DDC</a:t>
            </a: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Data collection methods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Stakeholder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316634534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C10A-C760-D503-3387-8AEB5036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A5394164-2956-D466-E551-4613F1E17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IT Operations Readiness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827D5-E9BD-1680-02FB-ED5C340F3416}"/>
              </a:ext>
            </a:extLst>
          </p:cNvPr>
          <p:cNvSpPr txBox="1"/>
          <p:nvPr/>
        </p:nvSpPr>
        <p:spPr>
          <a:xfrm>
            <a:off x="312471" y="880088"/>
            <a:ext cx="8913825" cy="11695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Production Support Activities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Incident and Problem management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GRC Control. ( Gone through by Telia Resource Manager)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Escalation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D2404-C297-845B-23CE-E3432176BCB2}"/>
              </a:ext>
            </a:extLst>
          </p:cNvPr>
          <p:cNvSpPr txBox="1"/>
          <p:nvPr/>
        </p:nvSpPr>
        <p:spPr>
          <a:xfrm>
            <a:off x="304801" y="2257784"/>
            <a:ext cx="8913825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Key Learnings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Operational governance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Daily Health Check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Support model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Major incident procedures</a:t>
            </a:r>
          </a:p>
        </p:txBody>
      </p:sp>
    </p:spTree>
    <p:extLst>
      <p:ext uri="{BB962C8B-B14F-4D97-AF65-F5344CB8AC3E}">
        <p14:creationId xmlns:p14="http://schemas.microsoft.com/office/powerpoint/2010/main" val="98185954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91EFC-EEA1-87E4-5657-6FD69D698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67760587-3E5A-CEB4-91CD-013F14A8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Daily Health Check Protocol at A Glance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383C5D-450A-34A9-05FF-4FD00D265C4B}"/>
              </a:ext>
            </a:extLst>
          </p:cNvPr>
          <p:cNvSpPr txBox="1"/>
          <p:nvPr/>
        </p:nvSpPr>
        <p:spPr>
          <a:xfrm>
            <a:off x="302575" y="880088"/>
            <a:ext cx="8834657" cy="532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endParaRPr lang="en-AU" sz="140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sz="14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This protocol outlines the steps for performing a daily health check on the 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SevOne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 DDC application, an instance of IBM 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SevOne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. The goal is to ensure the system is operational, alerts are functioning, capacity is stable, and server resources are monitored.</a:t>
            </a:r>
            <a:endParaRPr lang="en-AU" dirty="0"/>
          </a:p>
          <a:p>
            <a:pPr defTabSz="457200"/>
            <a:endParaRPr lang="en-AU"/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Steps: </a:t>
            </a:r>
            <a:endParaRPr lang="en-AU"/>
          </a:p>
          <a:p>
            <a:pPr defTabSz="457200"/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1. Login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Log in to 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SevOneDDC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 using TCAD (Telia Central Authentication Directory).</a:t>
            </a:r>
            <a:endParaRPr lang="en-AU" dirty="0"/>
          </a:p>
          <a:p>
            <a:pPr marL="285750" indent="-285750" defTabSz="457200">
              <a:buFont typeface="Arial"/>
              <a:buChar char="•"/>
            </a:pP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2. Cluster Manager</a:t>
            </a:r>
            <a:endParaRPr lang="en-AU"/>
          </a:p>
          <a:p>
            <a:pPr defTabSz="457200"/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Navigate to the Cluster Manager.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Verify the number of devices. Look for drastic changes that could affect capacity.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Check the overall capacity. Ensure it has not changed significantly since the last check.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Monitor specific clusters: c1, c2, p3, p4 (update)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Note: Device mover processes are handled separately if capacity is exceeded.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3. Alerts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Verify that alerts are flowing in.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Check the timestamp of the topmost/latest alert to ensure it is recent.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If no alerts are present, manually check the Policy Browser to confirm that alert rules are still active.</a:t>
            </a:r>
            <a:endParaRPr lang="en-AU"/>
          </a:p>
          <a:p>
            <a:pPr defTabSz="457200"/>
            <a:endParaRPr lang="en-AU" sz="1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616352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03AD6-7061-1CAC-F7B2-E49EE42A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EC8AEFE3-DEFE-2C70-6F18-0519798D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Daily Health Check Protocol at A Glance cont..</a:t>
            </a:r>
            <a:endParaRPr lang="en-US" b="0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7E72A-2234-7DAD-EF6E-5CDC0395628D}"/>
              </a:ext>
            </a:extLst>
          </p:cNvPr>
          <p:cNvSpPr txBox="1"/>
          <p:nvPr/>
        </p:nvSpPr>
        <p:spPr>
          <a:xfrm>
            <a:off x="302575" y="593101"/>
            <a:ext cx="11585772" cy="5724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endParaRPr lang="en-AU" sz="140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sz="14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4. Device Managers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,Sans-Serif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Open the Device Manager.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,Sans-Serif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Check for any changes in devices or configurations.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,Sans-Serif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Add a column for "Date Added" and sort it to identify recent additions.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,Sans-Serif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If there is a large influx of new devices (e.g., 100 devices), notify the Resource Manager (RM) about </a:t>
            </a: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the increased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 activity.</a:t>
            </a:r>
            <a:endParaRPr lang="en-US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,Sans-Serif"/>
              <a:buChar char="•"/>
            </a:pP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5. Reports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Navigate to the Report Manager.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Verify that </a:t>
            </a: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favourite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 reports are accessible and their graphs are functioning correctly.</a:t>
            </a:r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6. User Provisioning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Check emails for user provisioning requests.</a:t>
            </a:r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Check Tiga for any new user provisioning requests. (Tiga could be automated with the requests, the </a:t>
            </a: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requests could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 be fulfilled before getting resolved)</a:t>
            </a:r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Go to User Manager in 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SevOne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 DDC, verify status of user account before doing any action</a:t>
            </a:r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Verify that user creation requests are legitimate (e.g., valid Telia email).</a:t>
            </a:r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Low number of user provisioning requests is typical, but large teams joining may require 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additional </a:t>
            </a: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provisioning.</a:t>
            </a:r>
            <a:endParaRPr lang="en-AU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sz="1400" b="1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883958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A13F-A5B8-9BB2-8B92-268E3F53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EBC3A4F0-B7CC-D5F8-9072-2CBCD15C5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Daily Health Check Protocol at A Glance cont..</a:t>
            </a:r>
            <a:endParaRPr lang="en-US" b="0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7215B3-A77D-C997-2F38-E26DB0CDD04D}"/>
              </a:ext>
            </a:extLst>
          </p:cNvPr>
          <p:cNvSpPr txBox="1"/>
          <p:nvPr/>
        </p:nvSpPr>
        <p:spPr>
          <a:xfrm>
            <a:off x="302575" y="721750"/>
            <a:ext cx="10497201" cy="55707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endParaRPr lang="en-AU" sz="140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sz="14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7. Check, Verify and Investigate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Search for specific devices by name.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Click on the device summary.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Test device settings by performing an SNMP walk function.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Use the SNMP OID Manager to verify device activity and SNMP polling.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Regularly check for admin error messages and investigate new alerts as needed.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Use SSH to access the 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SevOne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 DDC servers with users created specifically.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Check disk space for critical partitions: /dev/sda2, /dev/sda3, and /dev/mapper/database.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Verify server OS details using commands like `cat /etc/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os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-release`.</a:t>
            </a:r>
          </a:p>
          <a:p>
            <a:pPr defTabSz="457200"/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8. Escalation Procedures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If issues are identified (e.g. missing data, alert failures, disk space issues), escalate to the Resource 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Manager(RM).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For cluster issues, take screenshots (be careful with the confidentiality of the information, only use screenshot if really necessary, provide minimal data) and inform the RM.</a:t>
            </a:r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Focus on critical issues and escalate as needed.</a:t>
            </a:r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Follow the </a:t>
            </a:r>
            <a:r>
              <a:rPr lang="en-AU" sz="1400" dirty="0" err="1">
                <a:solidFill>
                  <a:srgbClr val="000000"/>
                </a:solidFill>
                <a:ea typeface="+mn-lt"/>
                <a:cs typeface="+mn-lt"/>
              </a:rPr>
              <a:t>TeliaNow</a:t>
            </a:r>
            <a:r>
              <a:rPr lang="en-AU" sz="1400" dirty="0">
                <a:solidFill>
                  <a:srgbClr val="000000"/>
                </a:solidFill>
                <a:ea typeface="+mn-lt"/>
                <a:cs typeface="+mn-lt"/>
              </a:rPr>
              <a:t> process for creating any problem and incident ticket.</a:t>
            </a: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sz="1400" b="1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822144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90A5-851C-A59C-DD40-405B9D286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82CA665F-A09F-E6F4-5A95-6E6467B1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Daily Health Check Protocol at A Glance cont..</a:t>
            </a:r>
            <a:endParaRPr lang="en-US" b="0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BD457-A3C1-0E0C-3625-7558A6E60BE3}"/>
              </a:ext>
            </a:extLst>
          </p:cNvPr>
          <p:cNvSpPr txBox="1"/>
          <p:nvPr/>
        </p:nvSpPr>
        <p:spPr>
          <a:xfrm>
            <a:off x="312471" y="880088"/>
            <a:ext cx="8913825" cy="2031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Observed</a:t>
            </a:r>
            <a:endParaRPr lang="en-AU" sz="140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endParaRPr lang="en-AU" sz="14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defTabSz="457200"/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9. Documentation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Document any anomalies or issues encountered during the health check.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Ensure all steps are logged for future reference.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Check the security/access of the sharing storage location</a:t>
            </a:r>
            <a:endParaRPr lang="en-AU"/>
          </a:p>
          <a:p>
            <a:pPr marL="285750" indent="-285750" defTabSz="457200">
              <a:buFont typeface="Arial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Document any issues and research potential resolutions.</a:t>
            </a: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,Sans-Serif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Keep documentation up-to-date for troubleshooting and auditing purposes.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 defTabSz="457200">
              <a:buFont typeface="Arial"/>
              <a:buChar char="•"/>
            </a:pPr>
            <a:endParaRPr lang="en-AU" sz="1400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931984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A105D-9195-97C5-3A6F-CCA935A2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935701EF-890F-F7A8-2A9B-69AD46D8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Reverse Shadow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9377EF-E98A-8C03-FAC7-FA0A2D19CED1}"/>
              </a:ext>
            </a:extLst>
          </p:cNvPr>
          <p:cNvSpPr txBox="1"/>
          <p:nvPr/>
        </p:nvSpPr>
        <p:spPr>
          <a:xfrm>
            <a:off x="312471" y="880088"/>
            <a:ext cx="8913825" cy="1600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Activities to be performed</a:t>
            </a: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Application operations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Daily health checks</a:t>
            </a:r>
            <a:endParaRPr lang="en-AU"/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</a:rPr>
              <a:t>User provisioning</a:t>
            </a:r>
            <a:endParaRPr lang="en-AU" sz="1400" dirty="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Incident handling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Problem investigation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Stakeholder communication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532860-08DB-E648-46BB-D39F619DE5B0}"/>
              </a:ext>
            </a:extLst>
          </p:cNvPr>
          <p:cNvSpPr txBox="1"/>
          <p:nvPr/>
        </p:nvSpPr>
        <p:spPr>
          <a:xfrm>
            <a:off x="304801" y="2574459"/>
            <a:ext cx="8913825" cy="954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Support Model</a:t>
            </a:r>
            <a:br>
              <a:rPr lang="en-AU" sz="1400">
                <a:ea typeface="+mn-lt"/>
                <a:cs typeface="+mn-lt"/>
              </a:rPr>
            </a:b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Infosys Team: Execute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Accenture Team: Observe &amp; Guide</a:t>
            </a:r>
          </a:p>
        </p:txBody>
      </p:sp>
    </p:spTree>
    <p:extLst>
      <p:ext uri="{BB962C8B-B14F-4D97-AF65-F5344CB8AC3E}">
        <p14:creationId xmlns:p14="http://schemas.microsoft.com/office/powerpoint/2010/main" val="372321885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8027-E95C-88D9-59CC-485CCB66E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25F9497F-8F04-9B8F-40CE-D39D9057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black"/>
                </a:solidFill>
              </a:rPr>
              <a:t>Shadow KT schedule activities</a:t>
            </a:r>
            <a:r>
              <a:rPr lang="en-US">
                <a:solidFill>
                  <a:prstClr val="black"/>
                </a:solidFill>
              </a:rPr>
              <a:t> summary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0C160-FAFC-7D6D-B170-527788768D44}"/>
              </a:ext>
            </a:extLst>
          </p:cNvPr>
          <p:cNvSpPr txBox="1"/>
          <p:nvPr/>
        </p:nvSpPr>
        <p:spPr>
          <a:xfrm>
            <a:off x="312471" y="880088"/>
            <a:ext cx="4451983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Shadow session-1 to 10 for </a:t>
            </a:r>
            <a:r>
              <a:rPr lang="en-AU" sz="1400" b="1" err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SevOneDDC</a:t>
            </a:r>
            <a:br>
              <a:rPr lang="en-AU" sz="1400">
                <a:ea typeface="+mn-lt"/>
                <a:cs typeface="+mn-lt"/>
              </a:rPr>
            </a:b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Start date: 23 July,2026</a:t>
            </a:r>
            <a:br>
              <a:rPr lang="en-AU" sz="1400">
                <a:ea typeface="+mn-lt"/>
                <a:cs typeface="+mn-lt"/>
              </a:rPr>
            </a:b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End date: 6 August, 2026</a:t>
            </a:r>
            <a:br>
              <a:rPr lang="en-AU" sz="1400">
                <a:ea typeface="+mn-lt"/>
                <a:cs typeface="+mn-lt"/>
              </a:rPr>
            </a:b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Status: Completed</a:t>
            </a:r>
            <a:endParaRPr lang="en-US" sz="1400"/>
          </a:p>
          <a:p>
            <a:pPr defTabSz="457200"/>
            <a:endParaRPr lang="en-AU" sz="1400"/>
          </a:p>
          <a:p>
            <a:pPr defTabSz="457200"/>
            <a:endParaRPr lang="en-AU" sz="1400"/>
          </a:p>
        </p:txBody>
      </p:sp>
    </p:spTree>
    <p:extLst>
      <p:ext uri="{BB962C8B-B14F-4D97-AF65-F5344CB8AC3E}">
        <p14:creationId xmlns:p14="http://schemas.microsoft.com/office/powerpoint/2010/main" val="361592585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25C5F-D91A-A2C9-B50A-16B19E90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10365488-36B1-0F31-58D7-2FF7384A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A1672-2C0B-9D08-A3E7-47402A7D0969}"/>
              </a:ext>
            </a:extLst>
          </p:cNvPr>
          <p:cNvSpPr txBox="1"/>
          <p:nvPr/>
        </p:nvSpPr>
        <p:spPr>
          <a:xfrm>
            <a:off x="312471" y="880088"/>
            <a:ext cx="8913825" cy="1384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Achievements</a:t>
            </a: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Shadow KT completed successfully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Major Operational process understood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Risks and gaps identified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US" sz="1400"/>
              <a:t>Pending for required Admin user and Tiga user provisioning and GRC control for Reverse Shadow</a:t>
            </a:r>
            <a:endParaRPr lang="en-AU" sz="1400">
              <a:solidFill>
                <a:srgbClr val="000000"/>
              </a:solidFill>
              <a:ea typeface="+mn-lt"/>
              <a:cs typeface="+mn-lt"/>
              <a:sym typeface="Calibri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Team prepared for Reverse Shadow phase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56870-0B9B-0927-799E-114817AA3B18}"/>
              </a:ext>
            </a:extLst>
          </p:cNvPr>
          <p:cNvSpPr txBox="1"/>
          <p:nvPr/>
        </p:nvSpPr>
        <p:spPr>
          <a:xfrm>
            <a:off x="304801" y="2544771"/>
            <a:ext cx="8913825" cy="738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defTabSz="457200"/>
            <a:r>
              <a:rPr lang="en-AU" sz="1400" b="1">
                <a:solidFill>
                  <a:srgbClr val="000000"/>
                </a:solidFill>
                <a:ea typeface="+mn-lt"/>
                <a:cs typeface="+mn-lt"/>
                <a:sym typeface="Calibri"/>
              </a:rPr>
              <a:t>Next Step – Reverse Shadow Sessions</a:t>
            </a:r>
            <a:endParaRPr lang="en-AU" sz="1400">
              <a:ea typeface="+mn-lt"/>
              <a:cs typeface="+mn-lt"/>
            </a:endParaRP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Readiness Validation</a:t>
            </a:r>
          </a:p>
          <a:p>
            <a:pPr marL="285750" indent="-285750" defTabSz="4572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rgbClr val="000000"/>
                </a:solidFill>
                <a:ea typeface="+mn-lt"/>
                <a:cs typeface="+mn-lt"/>
                <a:sym typeface="Calibri"/>
              </a:rPr>
              <a:t>Production Support Handover</a:t>
            </a:r>
          </a:p>
        </p:txBody>
      </p:sp>
    </p:spTree>
    <p:extLst>
      <p:ext uri="{BB962C8B-B14F-4D97-AF65-F5344CB8AC3E}">
        <p14:creationId xmlns:p14="http://schemas.microsoft.com/office/powerpoint/2010/main" val="157390697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8C31-6068-0466-5397-B40D6AD52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DBBBCD-11A9-F091-DB4C-5A86400CC5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8510665-F3A7-D814-DFF3-75290749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2429" y="2836742"/>
            <a:ext cx="2691442" cy="656951"/>
          </a:xfrm>
        </p:spPr>
        <p:txBody>
          <a:bodyPr/>
          <a:lstStyle/>
          <a:p>
            <a:pPr algn="just"/>
            <a:r>
              <a:rPr lang="en-GB" sz="400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2029069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lia">
  <a:themeElements>
    <a:clrScheme name="Telia">
      <a:dk1>
        <a:srgbClr val="000000"/>
      </a:dk1>
      <a:lt1>
        <a:sysClr val="window" lastClr="FFFFFF"/>
      </a:lt1>
      <a:dk2>
        <a:srgbClr val="5D008D"/>
      </a:dk2>
      <a:lt2>
        <a:srgbClr val="FFFFFF"/>
      </a:lt2>
      <a:accent1>
        <a:srgbClr val="007CC3"/>
      </a:accent1>
      <a:accent2>
        <a:srgbClr val="990AE3"/>
      </a:accent2>
      <a:accent3>
        <a:srgbClr val="29003E"/>
      </a:accent3>
      <a:accent4>
        <a:srgbClr val="F8EDE8"/>
      </a:accent4>
      <a:accent5>
        <a:srgbClr val="F4F4F9"/>
      </a:accent5>
      <a:accent6>
        <a:srgbClr val="FFFFFF"/>
      </a:accent6>
      <a:hlink>
        <a:srgbClr val="FFFFFF"/>
      </a:hlink>
      <a:folHlink>
        <a:srgbClr val="FFFFFF"/>
      </a:folHlink>
    </a:clrScheme>
    <a:fontScheme name="INFY">
      <a:majorFont>
        <a:latin typeface="Arial"/>
        <a:ea typeface="Helvetica"/>
        <a:cs typeface="Helvetica"/>
      </a:majorFont>
      <a:minorFont>
        <a:latin typeface="Arial"/>
        <a:ea typeface="Calibri"/>
        <a:cs typeface="Calibri"/>
      </a:minorFont>
    </a:fontScheme>
    <a:fmtScheme name="Infosys Template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199DD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D273499B45384896FD9ECD3FA387A7" ma:contentTypeVersion="7" ma:contentTypeDescription="Create a new document." ma:contentTypeScope="" ma:versionID="9b37689cc7e09a9181c9e73ef30f7ec8">
  <xsd:schema xmlns:xsd="http://www.w3.org/2001/XMLSchema" xmlns:xs="http://www.w3.org/2001/XMLSchema" xmlns:p="http://schemas.microsoft.com/office/2006/metadata/properties" xmlns:ns2="a2da5235-137e-47af-9cf8-f74163cd914d" targetNamespace="http://schemas.microsoft.com/office/2006/metadata/properties" ma:root="true" ma:fieldsID="b49455ca46e98a5c4c04031e2cf85773" ns2:_="">
    <xsd:import namespace="a2da5235-137e-47af-9cf8-f74163cd91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da5235-137e-47af-9cf8-f74163cd91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2437C6-FE13-45B1-A4E3-AD87DE372B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B91922-CB00-44C9-BEF1-00FE9056C8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da5235-137e-47af-9cf8-f74163cd91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21ADE2F-8E7E-40F9-B36E-CBB2C1FFA2A9}">
  <ds:schemaRefs>
    <ds:schemaRef ds:uri="7777236e-4ab7-4d10-b5a4-372091e7fe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10346</Words>
  <Application>Microsoft Office PowerPoint</Application>
  <PresentationFormat>Widescreen</PresentationFormat>
  <Paragraphs>1304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Arial,Sans-Serif</vt:lpstr>
      <vt:lpstr>Calibri</vt:lpstr>
      <vt:lpstr>Telia</vt:lpstr>
      <vt:lpstr>Noora Shadow KT Playback</vt:lpstr>
      <vt:lpstr>Noora Shadow Activities</vt:lpstr>
      <vt:lpstr>About Noora</vt:lpstr>
      <vt:lpstr>Relevant Integration Endpoints</vt:lpstr>
      <vt:lpstr>Noora System Architecture</vt:lpstr>
      <vt:lpstr>SevOne Dashboard</vt:lpstr>
      <vt:lpstr>Noora Health Portal</vt:lpstr>
      <vt:lpstr>Noora Health Portal - Features</vt:lpstr>
      <vt:lpstr>Noora Health Portal – Features (continue)</vt:lpstr>
      <vt:lpstr>Rasmus Admin</vt:lpstr>
      <vt:lpstr>Noora Health Portal - Features</vt:lpstr>
      <vt:lpstr>Noora Health Portal – Features (Continue)</vt:lpstr>
      <vt:lpstr>Application Operations Shadowing</vt:lpstr>
      <vt:lpstr>Application Code Walkthrough of SevOne DDC appliance</vt:lpstr>
      <vt:lpstr>Data Management shadowing</vt:lpstr>
      <vt:lpstr>Incident Management Shadowing</vt:lpstr>
      <vt:lpstr>Problem Management &amp; RCA Shadowing</vt:lpstr>
      <vt:lpstr>SLA, KPI &amp; Reporting</vt:lpstr>
      <vt:lpstr>IT Operations Readiness</vt:lpstr>
      <vt:lpstr>Daily Health Check Protocol at A Glance</vt:lpstr>
      <vt:lpstr>Daily Health Check Protocol at A Glance cont.. </vt:lpstr>
      <vt:lpstr>Daily Health Check Protocol at A Glance cont.. </vt:lpstr>
      <vt:lpstr>Daily Health Check Protocol at A Glance cont.. </vt:lpstr>
      <vt:lpstr>Reverse Shadow Plan</vt:lpstr>
      <vt:lpstr>Shadow KT schedule activities summary</vt:lpstr>
      <vt:lpstr>Conclusion</vt:lpstr>
      <vt:lpstr>Thank You</vt:lpstr>
    </vt:vector>
  </TitlesOfParts>
  <Company>Infosys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Vipul Mutneja</dc:creator>
  <cp:lastModifiedBy>Hien Le, Tran D. /External</cp:lastModifiedBy>
  <cp:revision>324</cp:revision>
  <dcterms:created xsi:type="dcterms:W3CDTF">2026-02-11T08:38:47Z</dcterms:created>
  <dcterms:modified xsi:type="dcterms:W3CDTF">2026-08-19T03:07:04Z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0x01010058D273499B45384896FD9ECD3FA387A7</vt:lpwstr>
  </property>
  <property fmtid="{D5CDD505-2E9C-101B-9397-08002B2CF9AE}" pid="3" name="Order">
    <vt:r8>88300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SIP_Label_59bfe634-5369-40ae-a17a-0ffc3537e7cd_Enabled">
    <vt:lpwstr>true</vt:lpwstr>
  </property>
  <property fmtid="{D5CDD505-2E9C-101B-9397-08002B2CF9AE}" pid="11" name="MSIP_Label_59bfe634-5369-40ae-a17a-0ffc3537e7cd_SetDate">
    <vt:lpwstr>2026-06-04T13:10:46Z</vt:lpwstr>
  </property>
  <property fmtid="{D5CDD505-2E9C-101B-9397-08002B2CF9AE}" pid="12" name="MSIP_Label_59bfe634-5369-40ae-a17a-0ffc3537e7cd_Method">
    <vt:lpwstr>Standard</vt:lpwstr>
  </property>
  <property fmtid="{D5CDD505-2E9C-101B-9397-08002B2CF9AE}" pid="13" name="MSIP_Label_59bfe634-5369-40ae-a17a-0ffc3537e7cd_Name">
    <vt:lpwstr>59bfe634-5369-40ae-a17a-0ffc3537e7cd</vt:lpwstr>
  </property>
  <property fmtid="{D5CDD505-2E9C-101B-9397-08002B2CF9AE}" pid="14" name="MSIP_Label_59bfe634-5369-40ae-a17a-0ffc3537e7cd_SiteId">
    <vt:lpwstr>05764a73-8c6f-4538-83cd-413f1e1b5665</vt:lpwstr>
  </property>
  <property fmtid="{D5CDD505-2E9C-101B-9397-08002B2CF9AE}" pid="15" name="MSIP_Label_59bfe634-5369-40ae-a17a-0ffc3537e7cd_ActionId">
    <vt:lpwstr>cb21e8e2-f2b1-4912-8ffe-b2b1c9122a27</vt:lpwstr>
  </property>
  <property fmtid="{D5CDD505-2E9C-101B-9397-08002B2CF9AE}" pid="16" name="MSIP_Label_59bfe634-5369-40ae-a17a-0ffc3537e7cd_ContentBits">
    <vt:lpwstr>0</vt:lpwstr>
  </property>
  <property fmtid="{D5CDD505-2E9C-101B-9397-08002B2CF9AE}" pid="17" name="MSIP_Label_59bfe634-5369-40ae-a17a-0ffc3537e7cd_Tag">
    <vt:lpwstr>10, 3, 0, 1</vt:lpwstr>
  </property>
</Properties>
</file>